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6256000" cy="9144000"/>
  <p:notesSz cx="9144000" cy="16256000"/>
  <p:embeddedFontLst>
    <p:embeddedFont>
      <p:font typeface="Liter" panose="02000503030000020004" pitchFamily="34" charset="0"/>
      <p:regular r:id="rId24"/>
    </p:embeddedFont>
    <p:embeddedFont>
      <p:font typeface="Liter" panose="02000503030000020004" pitchFamily="34" charset="-122"/>
      <p:regular r:id="rId25"/>
    </p:embeddedFont>
    <p:embeddedFont>
      <p:font typeface="Liter" panose="02000503030000020004" pitchFamily="34" charset="-120"/>
      <p:regular r:id="rId26"/>
    </p:embeddedFont>
    <p:embeddedFont>
      <p:font typeface="MiSans" pitchFamily="34" charset="-122"/>
      <p:regular r:id="rId27"/>
    </p:embeddedFont>
    <p:embeddedFont>
      <p:font typeface="MiSans" pitchFamily="34" charset="-120"/>
      <p:regular r:id="rId28"/>
    </p:embeddedFont>
    <p:embeddedFont>
      <p:font typeface="得意黑" pitchFamily="34" charset="-122"/>
      <p:italic r:id="rId29"/>
    </p:embeddedFont>
    <p:embeddedFont>
      <p:font typeface="得意黑" pitchFamily="34" charset="-120"/>
      <p:italic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vs.gsfc.nasa.gov/1f074e9412779a7e49376ed37a7e79a40672db7a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12517" b="1251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080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C6E9E">
                  <a:alpha val="2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14350" y="514350"/>
            <a:ext cx="3530600" cy="469900"/>
          </a:xfrm>
          <a:custGeom>
            <a:avLst/>
            <a:gdLst/>
            <a:ahLst/>
            <a:cxnLst/>
            <a:rect l="l" t="t" r="r" b="b"/>
            <a:pathLst>
              <a:path w="3530600" h="469900">
                <a:moveTo>
                  <a:pt x="234950" y="0"/>
                </a:moveTo>
                <a:lnTo>
                  <a:pt x="3295650" y="0"/>
                </a:lnTo>
                <a:cubicBezTo>
                  <a:pt x="3425322" y="0"/>
                  <a:pt x="3530600" y="105278"/>
                  <a:pt x="3530600" y="234950"/>
                </a:cubicBezTo>
                <a:lnTo>
                  <a:pt x="3530600" y="234950"/>
                </a:lnTo>
                <a:cubicBezTo>
                  <a:pt x="3530600" y="364622"/>
                  <a:pt x="3425322" y="469900"/>
                  <a:pt x="3295650" y="469900"/>
                </a:cubicBezTo>
                <a:lnTo>
                  <a:pt x="234950" y="469900"/>
                </a:lnTo>
                <a:cubicBezTo>
                  <a:pt x="105278" y="469900"/>
                  <a:pt x="0" y="364622"/>
                  <a:pt x="0" y="234950"/>
                </a:cubicBezTo>
                <a:lnTo>
                  <a:pt x="0" y="234950"/>
                </a:lnTo>
                <a:cubicBezTo>
                  <a:pt x="0" y="105278"/>
                  <a:pt x="105278" y="0"/>
                  <a:pt x="234950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 w="12700">
            <a:solidFill>
              <a:srgbClr val="3C6E9E">
                <a:alpha val="6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700" y="622300"/>
            <a:ext cx="309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演示文稿</a:t>
            </a:r>
            <a:r>
              <a:rPr lang="en-US" altLang="zh-CN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 </a:t>
            </a:r>
            <a:r>
              <a:rPr 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2025/12/19</a:t>
            </a:r>
            <a:endParaRPr lang="zh-CN" altLang="en-US" sz="1400" b="1" kern="0" spc="420" dirty="0">
              <a:solidFill>
                <a:srgbClr val="8FBC8F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92273" y="2667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2025/12/19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809280"/>
            <a:ext cx="15798800" cy="246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天气预报的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"游戏规则"变了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57272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508000" y="60553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65163" y="61950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11" name="Text 8"/>
          <p:cNvSpPr/>
          <p:nvPr/>
        </p:nvSpPr>
        <p:spPr>
          <a:xfrm>
            <a:off x="1168400" y="6131520"/>
            <a:ext cx="2286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邢雨碟 25120803014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43945" y="60553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101108" y="61950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14" name="Text 11"/>
          <p:cNvSpPr/>
          <p:nvPr/>
        </p:nvSpPr>
        <p:spPr>
          <a:xfrm>
            <a:off x="4604345" y="613152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陈玉 25120803015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004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人工智能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020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气象预测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36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科技创新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524000" y="482600"/>
            <a:ext cx="142875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35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621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190750"/>
            <a:ext cx="7454900" cy="2921000"/>
          </a:xfrm>
          <a:custGeom>
            <a:avLst/>
            <a:gdLst/>
            <a:ahLst/>
            <a:cxnLst/>
            <a:rect l="l" t="t" r="r" b="b"/>
            <a:pathLst>
              <a:path w="7454900" h="2921000">
                <a:moveTo>
                  <a:pt x="203214" y="0"/>
                </a:moveTo>
                <a:lnTo>
                  <a:pt x="7251686" y="0"/>
                </a:lnTo>
                <a:cubicBezTo>
                  <a:pt x="7363918" y="0"/>
                  <a:pt x="7454900" y="90982"/>
                  <a:pt x="7454900" y="203214"/>
                </a:cubicBezTo>
                <a:lnTo>
                  <a:pt x="7454900" y="2717786"/>
                </a:lnTo>
                <a:cubicBezTo>
                  <a:pt x="7454900" y="2830018"/>
                  <a:pt x="7363918" y="2921000"/>
                  <a:pt x="7251686" y="2921000"/>
                </a:cubicBezTo>
                <a:lnTo>
                  <a:pt x="203214" y="2921000"/>
                </a:lnTo>
                <a:cubicBezTo>
                  <a:pt x="90982" y="2921000"/>
                  <a:pt x="0" y="2830018"/>
                  <a:pt x="0" y="2717786"/>
                </a:cubicBezTo>
                <a:lnTo>
                  <a:pt x="0" y="203214"/>
                </a:lnTo>
                <a:cubicBezTo>
                  <a:pt x="0" y="91057"/>
                  <a:pt x="91057" y="0"/>
                  <a:pt x="203214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7100" y="2603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5F8CA3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57697" y="2857500"/>
            <a:ext cx="58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7100" y="2603500"/>
            <a:ext cx="5549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开篇设问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7100" y="3213100"/>
            <a:ext cx="5461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探索AI天气预测的核心问题与实现路径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86750" y="2190750"/>
            <a:ext cx="7454900" cy="2921000"/>
          </a:xfrm>
          <a:custGeom>
            <a:avLst/>
            <a:gdLst/>
            <a:ahLst/>
            <a:cxnLst/>
            <a:rect l="l" t="t" r="r" b="b"/>
            <a:pathLst>
              <a:path w="7454900" h="2921000">
                <a:moveTo>
                  <a:pt x="203214" y="0"/>
                </a:moveTo>
                <a:lnTo>
                  <a:pt x="7251686" y="0"/>
                </a:lnTo>
                <a:cubicBezTo>
                  <a:pt x="7363918" y="0"/>
                  <a:pt x="7454900" y="90982"/>
                  <a:pt x="7454900" y="203214"/>
                </a:cubicBezTo>
                <a:lnTo>
                  <a:pt x="7454900" y="2717786"/>
                </a:lnTo>
                <a:cubicBezTo>
                  <a:pt x="7454900" y="2830018"/>
                  <a:pt x="7363918" y="2921000"/>
                  <a:pt x="7251686" y="2921000"/>
                </a:cubicBezTo>
                <a:lnTo>
                  <a:pt x="203214" y="2921000"/>
                </a:lnTo>
                <a:cubicBezTo>
                  <a:pt x="90982" y="2921000"/>
                  <a:pt x="0" y="2830018"/>
                  <a:pt x="0" y="2717786"/>
                </a:cubicBezTo>
                <a:lnTo>
                  <a:pt x="0" y="203214"/>
                </a:lnTo>
                <a:cubicBezTo>
                  <a:pt x="0" y="91057"/>
                  <a:pt x="91057" y="0"/>
                  <a:pt x="20321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99500" y="2603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3C6E9E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00331" y="2857500"/>
            <a:ext cx="647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9500" y="2603500"/>
            <a:ext cx="55499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传统天气预测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VS AI天气预测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9500" y="3670300"/>
            <a:ext cx="5461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对比两种方法的核心原理与技术路径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350" y="5429250"/>
            <a:ext cx="7454900" cy="2540000"/>
          </a:xfrm>
          <a:custGeom>
            <a:avLst/>
            <a:gdLst/>
            <a:ahLst/>
            <a:cxnLst/>
            <a:rect l="l" t="t" r="r" b="b"/>
            <a:pathLst>
              <a:path w="7454900" h="2540000">
                <a:moveTo>
                  <a:pt x="203200" y="0"/>
                </a:moveTo>
                <a:lnTo>
                  <a:pt x="7251700" y="0"/>
                </a:lnTo>
                <a:cubicBezTo>
                  <a:pt x="7363849" y="0"/>
                  <a:pt x="7454900" y="91051"/>
                  <a:pt x="7454900" y="203200"/>
                </a:cubicBezTo>
                <a:lnTo>
                  <a:pt x="7454900" y="2336800"/>
                </a:lnTo>
                <a:cubicBezTo>
                  <a:pt x="7454900" y="2448949"/>
                  <a:pt x="7363849" y="2540000"/>
                  <a:pt x="7251700" y="2540000"/>
                </a:cubicBezTo>
                <a:lnTo>
                  <a:pt x="203200" y="2540000"/>
                </a:lnTo>
                <a:cubicBezTo>
                  <a:pt x="91051" y="2540000"/>
                  <a:pt x="0" y="2448949"/>
                  <a:pt x="0" y="2336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100" y="584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5F8CA3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24161" y="6096000"/>
            <a:ext cx="647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97100" y="5842000"/>
            <a:ext cx="5549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AI天气预测的优点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7100" y="6451600"/>
            <a:ext cx="5461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展示AI技术在气象预测领域的突破性优势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86750" y="5429250"/>
            <a:ext cx="7454900" cy="2540000"/>
          </a:xfrm>
          <a:custGeom>
            <a:avLst/>
            <a:gdLst/>
            <a:ahLst/>
            <a:cxnLst/>
            <a:rect l="l" t="t" r="r" b="b"/>
            <a:pathLst>
              <a:path w="7454900" h="2540000">
                <a:moveTo>
                  <a:pt x="203200" y="0"/>
                </a:moveTo>
                <a:lnTo>
                  <a:pt x="7251700" y="0"/>
                </a:lnTo>
                <a:cubicBezTo>
                  <a:pt x="7363849" y="0"/>
                  <a:pt x="7454900" y="91051"/>
                  <a:pt x="7454900" y="203200"/>
                </a:cubicBezTo>
                <a:lnTo>
                  <a:pt x="7454900" y="2336800"/>
                </a:lnTo>
                <a:cubicBezTo>
                  <a:pt x="7454900" y="2448949"/>
                  <a:pt x="7363849" y="2540000"/>
                  <a:pt x="7251700" y="2540000"/>
                </a:cubicBezTo>
                <a:lnTo>
                  <a:pt x="203200" y="2540000"/>
                </a:lnTo>
                <a:cubicBezTo>
                  <a:pt x="91051" y="2540000"/>
                  <a:pt x="0" y="2448949"/>
                  <a:pt x="0" y="2336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9500" y="584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93981" y="6096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9500" y="5842000"/>
            <a:ext cx="5549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展望与结语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9500" y="6451600"/>
            <a:ext cx="5461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探讨未来发展趋势与AI技术的温度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8559" y="855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6" name="Text 24"/>
          <p:cNvSpPr/>
          <p:nvPr/>
        </p:nvSpPr>
        <p:spPr>
          <a:xfrm>
            <a:off x="7747159" y="8470900"/>
            <a:ext cx="3975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E0E0E0">
                    <a:alpha val="40000"/>
                  </a:srgbClr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共四章篇幅</a:t>
            </a:r>
            <a:endParaRPr lang="zh-CN" altLang="en-US" sz="1400" dirty="0">
              <a:solidFill>
                <a:srgbClr val="E0E0E0">
                  <a:alpha val="40000"/>
                </a:srgbClr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61373" y="855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C8F"/>
          </a:solid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5321ffcd35d9b4f8a85276deeefa11328d9c0c1d.jpg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6E9E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5F8CA3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23528" y="3086100"/>
            <a:ext cx="9779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0">
                <a:srgbClr val="FFFFFF"/>
              </a:gs>
              <a:gs pos="100000">
                <a:srgbClr val="8FBC8F"/>
              </a:gs>
            </a:gsLst>
            <a:lin ang="5400000" scaled="1"/>
          </a:gradFill>
        </p:spPr>
      </p:sp>
      <p:sp>
        <p:nvSpPr>
          <p:cNvPr id="7" name="Text 4"/>
          <p:cNvSpPr/>
          <p:nvPr/>
        </p:nvSpPr>
        <p:spPr>
          <a:xfrm>
            <a:off x="2616200" y="2717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16200" y="3073400"/>
            <a:ext cx="3378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开篇设问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6800" y="4724400"/>
            <a:ext cx="62103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当AI能够以分钟级的速度完成全球天气预报，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这背后究竟隐藏着怎样的技术革命？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6800" y="612140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探索人工智能气象预测的核心奥秘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752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这是如何做到的？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936750"/>
            <a:ext cx="7404100" cy="6134100"/>
          </a:xfrm>
          <a:custGeom>
            <a:avLst/>
            <a:gdLst/>
            <a:ahLst/>
            <a:cxnLst/>
            <a:rect l="l" t="t" r="r" b="b"/>
            <a:pathLst>
              <a:path w="7404100" h="6134100">
                <a:moveTo>
                  <a:pt x="304803" y="0"/>
                </a:moveTo>
                <a:lnTo>
                  <a:pt x="7099297" y="0"/>
                </a:lnTo>
                <a:cubicBezTo>
                  <a:pt x="7267522" y="0"/>
                  <a:pt x="7404100" y="136578"/>
                  <a:pt x="7404100" y="304803"/>
                </a:cubicBezTo>
                <a:lnTo>
                  <a:pt x="7404100" y="5829297"/>
                </a:lnTo>
                <a:cubicBezTo>
                  <a:pt x="7404100" y="5997522"/>
                  <a:pt x="7267522" y="6134100"/>
                  <a:pt x="7099297" y="6134100"/>
                </a:cubicBezTo>
                <a:lnTo>
                  <a:pt x="304803" y="6134100"/>
                </a:lnTo>
                <a:cubicBezTo>
                  <a:pt x="136578" y="6134100"/>
                  <a:pt x="0" y="5997522"/>
                  <a:pt x="0" y="5829297"/>
                </a:cubicBezTo>
                <a:lnTo>
                  <a:pt x="0" y="304803"/>
                </a:lnTo>
                <a:cubicBezTo>
                  <a:pt x="0" y="136578"/>
                  <a:pt x="136578" y="0"/>
                  <a:pt x="3048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0900" y="1943100"/>
            <a:ext cx="3251200" cy="3251200"/>
          </a:xfrm>
          <a:custGeom>
            <a:avLst/>
            <a:gdLst/>
            <a:ahLst/>
            <a:cxnLst/>
            <a:rect l="l" t="t" r="r" b="b"/>
            <a:pathLst>
              <a:path w="3251200" h="3251200">
                <a:moveTo>
                  <a:pt x="1625600" y="0"/>
                </a:moveTo>
                <a:lnTo>
                  <a:pt x="1625600" y="0"/>
                </a:lnTo>
                <a:cubicBezTo>
                  <a:pt x="2522793" y="0"/>
                  <a:pt x="3251200" y="728407"/>
                  <a:pt x="3251200" y="1625600"/>
                </a:cubicBezTo>
                <a:lnTo>
                  <a:pt x="3251200" y="1625600"/>
                </a:lnTo>
                <a:cubicBezTo>
                  <a:pt x="3251200" y="2522793"/>
                  <a:pt x="2522793" y="3251200"/>
                  <a:pt x="1625600" y="3251200"/>
                </a:cubicBezTo>
                <a:lnTo>
                  <a:pt x="1625600" y="3251200"/>
                </a:lnTo>
                <a:cubicBezTo>
                  <a:pt x="728407" y="3251200"/>
                  <a:pt x="0" y="2522793"/>
                  <a:pt x="0" y="1625600"/>
                </a:cubicBezTo>
                <a:lnTo>
                  <a:pt x="0" y="1625600"/>
                </a:lnTo>
                <a:cubicBezTo>
                  <a:pt x="0" y="728407"/>
                  <a:pt x="728407" y="0"/>
                  <a:pt x="1625600" y="0"/>
                </a:cubicBezTo>
                <a:close/>
              </a:path>
            </a:pathLst>
          </a:custGeom>
          <a:solidFill>
            <a:srgbClr val="5F8CA3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337550" y="1936750"/>
            <a:ext cx="7404100" cy="6134100"/>
          </a:xfrm>
          <a:custGeom>
            <a:avLst/>
            <a:gdLst/>
            <a:ahLst/>
            <a:cxnLst/>
            <a:rect l="l" t="t" r="r" b="b"/>
            <a:pathLst>
              <a:path w="7404100" h="6134100">
                <a:moveTo>
                  <a:pt x="304803" y="0"/>
                </a:moveTo>
                <a:lnTo>
                  <a:pt x="7099297" y="0"/>
                </a:lnTo>
                <a:cubicBezTo>
                  <a:pt x="7267522" y="0"/>
                  <a:pt x="7404100" y="136578"/>
                  <a:pt x="7404100" y="304803"/>
                </a:cubicBezTo>
                <a:lnTo>
                  <a:pt x="7404100" y="5829297"/>
                </a:lnTo>
                <a:cubicBezTo>
                  <a:pt x="7404100" y="5997522"/>
                  <a:pt x="7267522" y="6134100"/>
                  <a:pt x="7099297" y="6134100"/>
                </a:cubicBezTo>
                <a:lnTo>
                  <a:pt x="304803" y="6134100"/>
                </a:lnTo>
                <a:cubicBezTo>
                  <a:pt x="136578" y="6134100"/>
                  <a:pt x="0" y="5997522"/>
                  <a:pt x="0" y="5829297"/>
                </a:cubicBezTo>
                <a:lnTo>
                  <a:pt x="0" y="304803"/>
                </a:lnTo>
                <a:cubicBezTo>
                  <a:pt x="0" y="136578"/>
                  <a:pt x="136578" y="0"/>
                  <a:pt x="3048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84100" y="1943100"/>
            <a:ext cx="3251200" cy="3251200"/>
          </a:xfrm>
          <a:custGeom>
            <a:avLst/>
            <a:gdLst/>
            <a:ahLst/>
            <a:cxnLst/>
            <a:rect l="l" t="t" r="r" b="b"/>
            <a:pathLst>
              <a:path w="3251200" h="3251200">
                <a:moveTo>
                  <a:pt x="1625600" y="0"/>
                </a:moveTo>
                <a:lnTo>
                  <a:pt x="1625600" y="0"/>
                </a:lnTo>
                <a:cubicBezTo>
                  <a:pt x="2522793" y="0"/>
                  <a:pt x="3251200" y="728407"/>
                  <a:pt x="3251200" y="1625600"/>
                </a:cubicBezTo>
                <a:lnTo>
                  <a:pt x="3251200" y="1625600"/>
                </a:lnTo>
                <a:cubicBezTo>
                  <a:pt x="3251200" y="2522793"/>
                  <a:pt x="2522793" y="3251200"/>
                  <a:pt x="1625600" y="3251200"/>
                </a:cubicBezTo>
                <a:lnTo>
                  <a:pt x="1625600" y="3251200"/>
                </a:lnTo>
                <a:cubicBezTo>
                  <a:pt x="728407" y="3251200"/>
                  <a:pt x="0" y="2522793"/>
                  <a:pt x="0" y="1625600"/>
                </a:cubicBezTo>
                <a:lnTo>
                  <a:pt x="0" y="1625600"/>
                </a:lnTo>
                <a:cubicBezTo>
                  <a:pt x="0" y="728407"/>
                  <a:pt x="728407" y="0"/>
                  <a:pt x="1625600" y="0"/>
                </a:cubicBezTo>
                <a:close/>
              </a:path>
            </a:pathLst>
          </a:custGeom>
          <a:solidFill>
            <a:srgbClr val="8FBC8F">
              <a:alpha val="14902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337300" y="845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0" name="Text 8"/>
          <p:cNvSpPr/>
          <p:nvPr/>
        </p:nvSpPr>
        <p:spPr>
          <a:xfrm>
            <a:off x="65405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4900" y="84074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2700" h="203200">
                <a:moveTo>
                  <a:pt x="0" y="0"/>
                </a:moveTo>
                <a:lnTo>
                  <a:pt x="12700" y="0"/>
                </a:lnTo>
                <a:lnTo>
                  <a:pt x="127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670800" y="845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3" name="Text 11"/>
          <p:cNvSpPr/>
          <p:nvPr/>
        </p:nvSpPr>
        <p:spPr>
          <a:xfrm>
            <a:off x="78740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精度优化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88400" y="84074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2700" h="203200">
                <a:moveTo>
                  <a:pt x="0" y="0"/>
                </a:moveTo>
                <a:lnTo>
                  <a:pt x="12700" y="0"/>
                </a:lnTo>
                <a:lnTo>
                  <a:pt x="127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9004300" y="845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6" name="Text 14"/>
          <p:cNvSpPr/>
          <p:nvPr/>
        </p:nvSpPr>
        <p:spPr>
          <a:xfrm>
            <a:off x="92075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技术革新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7100" y="2349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203200" y="0"/>
                </a:moveTo>
                <a:lnTo>
                  <a:pt x="609600" y="0"/>
                </a:lnTo>
                <a:cubicBezTo>
                  <a:pt x="721749" y="0"/>
                  <a:pt x="812800" y="91051"/>
                  <a:pt x="812800" y="203200"/>
                </a:cubicBezTo>
                <a:lnTo>
                  <a:pt x="812800" y="609600"/>
                </a:lnTo>
                <a:cubicBezTo>
                  <a:pt x="812800" y="721749"/>
                  <a:pt x="721749" y="812800"/>
                  <a:pt x="609600" y="812800"/>
                </a:cubicBezTo>
                <a:lnTo>
                  <a:pt x="203200" y="812800"/>
                </a:lnTo>
                <a:cubicBezTo>
                  <a:pt x="91051" y="812800"/>
                  <a:pt x="0" y="721749"/>
                  <a:pt x="0" y="6096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8CA3">
              <a:alpha val="3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193800" y="25654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3812" y="0"/>
                </a:moveTo>
                <a:cubicBezTo>
                  <a:pt x="10641" y="0"/>
                  <a:pt x="0" y="10641"/>
                  <a:pt x="0" y="23812"/>
                </a:cubicBezTo>
                <a:cubicBezTo>
                  <a:pt x="0" y="36984"/>
                  <a:pt x="10641" y="47625"/>
                  <a:pt x="23812" y="47625"/>
                </a:cubicBezTo>
                <a:lnTo>
                  <a:pt x="23812" y="55811"/>
                </a:lnTo>
                <a:cubicBezTo>
                  <a:pt x="23812" y="87362"/>
                  <a:pt x="36388" y="117649"/>
                  <a:pt x="58713" y="139973"/>
                </a:cubicBezTo>
                <a:lnTo>
                  <a:pt x="109240" y="190500"/>
                </a:lnTo>
                <a:lnTo>
                  <a:pt x="58713" y="241027"/>
                </a:lnTo>
                <a:cubicBezTo>
                  <a:pt x="36388" y="263351"/>
                  <a:pt x="23812" y="293638"/>
                  <a:pt x="23812" y="325189"/>
                </a:cubicBezTo>
                <a:lnTo>
                  <a:pt x="23812" y="333375"/>
                </a:lnTo>
                <a:cubicBezTo>
                  <a:pt x="10641" y="333375"/>
                  <a:pt x="0" y="344016"/>
                  <a:pt x="0" y="357188"/>
                </a:cubicBezTo>
                <a:cubicBezTo>
                  <a:pt x="0" y="370359"/>
                  <a:pt x="10641" y="381000"/>
                  <a:pt x="23812" y="381000"/>
                </a:cubicBezTo>
                <a:lnTo>
                  <a:pt x="261938" y="381000"/>
                </a:lnTo>
                <a:cubicBezTo>
                  <a:pt x="275109" y="381000"/>
                  <a:pt x="285750" y="370359"/>
                  <a:pt x="285750" y="357188"/>
                </a:cubicBezTo>
                <a:cubicBezTo>
                  <a:pt x="285750" y="344016"/>
                  <a:pt x="275109" y="333375"/>
                  <a:pt x="261938" y="333375"/>
                </a:cubicBezTo>
                <a:lnTo>
                  <a:pt x="261938" y="325189"/>
                </a:lnTo>
                <a:cubicBezTo>
                  <a:pt x="261938" y="293638"/>
                  <a:pt x="249362" y="263351"/>
                  <a:pt x="227037" y="241027"/>
                </a:cubicBezTo>
                <a:lnTo>
                  <a:pt x="176510" y="190500"/>
                </a:lnTo>
                <a:lnTo>
                  <a:pt x="227037" y="139973"/>
                </a:lnTo>
                <a:cubicBezTo>
                  <a:pt x="249362" y="117649"/>
                  <a:pt x="261938" y="87362"/>
                  <a:pt x="261938" y="55811"/>
                </a:cubicBezTo>
                <a:lnTo>
                  <a:pt x="261938" y="47625"/>
                </a:lnTo>
                <a:cubicBezTo>
                  <a:pt x="275109" y="47625"/>
                  <a:pt x="285750" y="36984"/>
                  <a:pt x="285750" y="23812"/>
                </a:cubicBezTo>
                <a:cubicBezTo>
                  <a:pt x="285750" y="10641"/>
                  <a:pt x="275109" y="0"/>
                  <a:pt x="261938" y="0"/>
                </a:cubicBezTo>
                <a:lnTo>
                  <a:pt x="23812" y="0"/>
                </a:lnTo>
                <a:close/>
                <a:moveTo>
                  <a:pt x="71438" y="55811"/>
                </a:moveTo>
                <a:lnTo>
                  <a:pt x="71438" y="47625"/>
                </a:lnTo>
                <a:lnTo>
                  <a:pt x="214313" y="47625"/>
                </a:lnTo>
                <a:lnTo>
                  <a:pt x="214313" y="55811"/>
                </a:lnTo>
                <a:cubicBezTo>
                  <a:pt x="214313" y="69949"/>
                  <a:pt x="210145" y="83641"/>
                  <a:pt x="202406" y="95250"/>
                </a:cubicBezTo>
                <a:lnTo>
                  <a:pt x="83344" y="95250"/>
                </a:lnTo>
                <a:cubicBezTo>
                  <a:pt x="75679" y="83641"/>
                  <a:pt x="71438" y="69949"/>
                  <a:pt x="71438" y="55811"/>
                </a:cubicBezTo>
                <a:close/>
                <a:moveTo>
                  <a:pt x="83344" y="285750"/>
                </a:moveTo>
                <a:cubicBezTo>
                  <a:pt x="85948" y="281806"/>
                  <a:pt x="88999" y="278085"/>
                  <a:pt x="92348" y="274662"/>
                </a:cubicBezTo>
                <a:lnTo>
                  <a:pt x="142875" y="224135"/>
                </a:lnTo>
                <a:lnTo>
                  <a:pt x="193402" y="274662"/>
                </a:lnTo>
                <a:cubicBezTo>
                  <a:pt x="196825" y="278085"/>
                  <a:pt x="199802" y="281806"/>
                  <a:pt x="202481" y="285750"/>
                </a:cubicBezTo>
                <a:lnTo>
                  <a:pt x="83344" y="28575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19" name="Text 17"/>
          <p:cNvSpPr/>
          <p:nvPr/>
        </p:nvSpPr>
        <p:spPr>
          <a:xfrm>
            <a:off x="1943100" y="2400300"/>
            <a:ext cx="1854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传统天气预测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43100" y="2806700"/>
            <a:ext cx="1803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Traditional Method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7100" y="3517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3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130300" y="372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23" name="Text 21"/>
          <p:cNvSpPr/>
          <p:nvPr/>
        </p:nvSpPr>
        <p:spPr>
          <a:xfrm>
            <a:off x="1841500" y="3467100"/>
            <a:ext cx="576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全球一周测试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41500" y="3822700"/>
            <a:ext cx="5854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数小时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7100" y="4540250"/>
            <a:ext cx="6578600" cy="12700"/>
          </a:xfrm>
          <a:custGeom>
            <a:avLst/>
            <a:gdLst/>
            <a:ahLst/>
            <a:cxnLst/>
            <a:rect l="l" t="t" r="r" b="b"/>
            <a:pathLst>
              <a:path w="6578600" h="12700">
                <a:moveTo>
                  <a:pt x="0" y="0"/>
                </a:moveTo>
                <a:lnTo>
                  <a:pt x="6578600" y="0"/>
                </a:lnTo>
                <a:lnTo>
                  <a:pt x="6578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F8CA3">
              <a:alpha val="3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927100" y="4800600"/>
            <a:ext cx="6680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依赖超级计算机进行复杂的数值模拟与方程求解，计算资源消耗巨大，时间成本高昂。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50300" y="2349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203200" y="0"/>
                </a:moveTo>
                <a:lnTo>
                  <a:pt x="609600" y="0"/>
                </a:lnTo>
                <a:cubicBezTo>
                  <a:pt x="721749" y="0"/>
                  <a:pt x="812800" y="91051"/>
                  <a:pt x="812800" y="203200"/>
                </a:cubicBezTo>
                <a:lnTo>
                  <a:pt x="812800" y="609600"/>
                </a:lnTo>
                <a:cubicBezTo>
                  <a:pt x="812800" y="721749"/>
                  <a:pt x="721749" y="812800"/>
                  <a:pt x="609600" y="812800"/>
                </a:cubicBezTo>
                <a:lnTo>
                  <a:pt x="203200" y="812800"/>
                </a:lnTo>
                <a:cubicBezTo>
                  <a:pt x="91051" y="812800"/>
                  <a:pt x="0" y="721749"/>
                  <a:pt x="0" y="6096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969375" y="256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9" name="Text 27"/>
          <p:cNvSpPr/>
          <p:nvPr/>
        </p:nvSpPr>
        <p:spPr>
          <a:xfrm>
            <a:off x="9766300" y="2400300"/>
            <a:ext cx="1346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AI天气预测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66300" y="2806700"/>
            <a:ext cx="1295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 Forecast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50300" y="3517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972550" y="3721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3" name="Text 31"/>
          <p:cNvSpPr/>
          <p:nvPr/>
        </p:nvSpPr>
        <p:spPr>
          <a:xfrm>
            <a:off x="9664700" y="3467100"/>
            <a:ext cx="576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同等精度预测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64700" y="3822700"/>
            <a:ext cx="5854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仅需几分钟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750300" y="4540250"/>
            <a:ext cx="6578600" cy="12700"/>
          </a:xfrm>
          <a:custGeom>
            <a:avLst/>
            <a:gdLst/>
            <a:ahLst/>
            <a:cxnLst/>
            <a:rect l="l" t="t" r="r" b="b"/>
            <a:pathLst>
              <a:path w="6578600" h="12700">
                <a:moveTo>
                  <a:pt x="0" y="0"/>
                </a:moveTo>
                <a:lnTo>
                  <a:pt x="6578600" y="0"/>
                </a:lnTo>
                <a:lnTo>
                  <a:pt x="6578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8FBC8F">
              <a:alpha val="3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750300" y="4800600"/>
            <a:ext cx="6680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基于机器学习模型进行模式识别与规律挖掘，实现指数级计算效率提升，响应速度实现质的飞跃。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f85f6081092a99a11a738ea486321aa405b718a.jpg"/>
          <p:cNvPicPr>
            <a:picLocks noChangeAspect="1"/>
          </p:cNvPicPr>
          <p:nvPr/>
        </p:nvPicPr>
        <p:blipFill>
          <a:blip r:embed="rId1">
            <a:alphaModFix amt="25000"/>
          </a:blip>
          <a:srcRect t="3125" b="312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5F8CA3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3C6E9E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73919" y="3086100"/>
            <a:ext cx="10668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0">
                <a:srgbClr val="FFFFFF"/>
              </a:gs>
              <a:gs pos="100000">
                <a:srgbClr val="8FBC8F"/>
              </a:gs>
            </a:gsLst>
            <a:lin ang="5400000" scaled="1"/>
          </a:gradFill>
        </p:spPr>
      </p:sp>
      <p:sp>
        <p:nvSpPr>
          <p:cNvPr id="7" name="Text 4"/>
          <p:cNvSpPr/>
          <p:nvPr/>
        </p:nvSpPr>
        <p:spPr>
          <a:xfrm>
            <a:off x="2616200" y="2336800"/>
            <a:ext cx="3924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16200" y="2692400"/>
            <a:ext cx="4216400" cy="190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传统天气预测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VS AI天气预测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6800" y="5105400"/>
            <a:ext cx="44196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从"解方程"到"找规律"，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两种截然不同的技术哲学碰撞。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6800" y="6502400"/>
            <a:ext cx="2336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探索方法论的演进与革新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2654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TRADITIONAL METHOD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传统天气预测方法——"解方程"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990600" y="2400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8" name="Text 6"/>
          <p:cNvSpPr/>
          <p:nvPr/>
        </p:nvSpPr>
        <p:spPr>
          <a:xfrm>
            <a:off x="1689100" y="22479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天气图分析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89100" y="2603500"/>
            <a:ext cx="1231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Weather Chart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依据天气动力学原理，对气象观测数据进行操作与推断的技术过程，为天气预报提供物理依据。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8884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0034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193234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113" y="0"/>
                </a:moveTo>
                <a:cubicBezTo>
                  <a:pt x="230148" y="0"/>
                  <a:pt x="304800" y="74652"/>
                  <a:pt x="304800" y="166688"/>
                </a:cubicBezTo>
                <a:cubicBezTo>
                  <a:pt x="304800" y="174605"/>
                  <a:pt x="298430" y="180975"/>
                  <a:pt x="290513" y="180975"/>
                </a:cubicBezTo>
                <a:cubicBezTo>
                  <a:pt x="282595" y="180975"/>
                  <a:pt x="276225" y="174605"/>
                  <a:pt x="276225" y="166688"/>
                </a:cubicBezTo>
                <a:cubicBezTo>
                  <a:pt x="276225" y="90428"/>
                  <a:pt x="214372" y="28575"/>
                  <a:pt x="138113" y="28575"/>
                </a:cubicBezTo>
                <a:cubicBezTo>
                  <a:pt x="130195" y="28575"/>
                  <a:pt x="123825" y="22205"/>
                  <a:pt x="123825" y="14288"/>
                </a:cubicBezTo>
                <a:cubicBezTo>
                  <a:pt x="123825" y="6370"/>
                  <a:pt x="130195" y="0"/>
                  <a:pt x="138113" y="0"/>
                </a:cubicBezTo>
                <a:close/>
                <a:moveTo>
                  <a:pt x="123825" y="71438"/>
                </a:moveTo>
                <a:cubicBezTo>
                  <a:pt x="123825" y="63520"/>
                  <a:pt x="130195" y="57150"/>
                  <a:pt x="138113" y="57150"/>
                </a:cubicBezTo>
                <a:cubicBezTo>
                  <a:pt x="198596" y="57150"/>
                  <a:pt x="247650" y="106204"/>
                  <a:pt x="247650" y="166688"/>
                </a:cubicBezTo>
                <a:cubicBezTo>
                  <a:pt x="247650" y="174605"/>
                  <a:pt x="241280" y="180975"/>
                  <a:pt x="233363" y="180975"/>
                </a:cubicBezTo>
                <a:cubicBezTo>
                  <a:pt x="225445" y="180975"/>
                  <a:pt x="219075" y="174605"/>
                  <a:pt x="219075" y="166688"/>
                </a:cubicBezTo>
                <a:cubicBezTo>
                  <a:pt x="219075" y="121980"/>
                  <a:pt x="182820" y="85725"/>
                  <a:pt x="138113" y="85725"/>
                </a:cubicBezTo>
                <a:cubicBezTo>
                  <a:pt x="130195" y="85725"/>
                  <a:pt x="123825" y="79355"/>
                  <a:pt x="123825" y="71438"/>
                </a:cubicBezTo>
                <a:close/>
                <a:moveTo>
                  <a:pt x="15716" y="84951"/>
                </a:moveTo>
                <a:cubicBezTo>
                  <a:pt x="20955" y="74295"/>
                  <a:pt x="35004" y="73104"/>
                  <a:pt x="43398" y="81498"/>
                </a:cubicBezTo>
                <a:lnTo>
                  <a:pt x="119896" y="157996"/>
                </a:lnTo>
                <a:lnTo>
                  <a:pt x="138946" y="138946"/>
                </a:lnTo>
                <a:cubicBezTo>
                  <a:pt x="146387" y="131505"/>
                  <a:pt x="158472" y="131505"/>
                  <a:pt x="165914" y="138946"/>
                </a:cubicBezTo>
                <a:cubicBezTo>
                  <a:pt x="173355" y="146387"/>
                  <a:pt x="173355" y="158472"/>
                  <a:pt x="165914" y="165914"/>
                </a:cubicBezTo>
                <a:lnTo>
                  <a:pt x="146864" y="184964"/>
                </a:lnTo>
                <a:lnTo>
                  <a:pt x="223361" y="261461"/>
                </a:lnTo>
                <a:cubicBezTo>
                  <a:pt x="231755" y="269855"/>
                  <a:pt x="230505" y="283845"/>
                  <a:pt x="219908" y="289143"/>
                </a:cubicBezTo>
                <a:cubicBezTo>
                  <a:pt x="199549" y="299204"/>
                  <a:pt x="176689" y="304860"/>
                  <a:pt x="152460" y="304860"/>
                </a:cubicBezTo>
                <a:cubicBezTo>
                  <a:pt x="68282" y="304860"/>
                  <a:pt x="60" y="236637"/>
                  <a:pt x="60" y="152460"/>
                </a:cubicBezTo>
                <a:cubicBezTo>
                  <a:pt x="60" y="128230"/>
                  <a:pt x="5715" y="105311"/>
                  <a:pt x="15776" y="85011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14" name="Text 12"/>
          <p:cNvSpPr/>
          <p:nvPr/>
        </p:nvSpPr>
        <p:spPr>
          <a:xfrm>
            <a:off x="6853634" y="2247900"/>
            <a:ext cx="1320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3634" y="2603500"/>
            <a:ext cx="1282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90034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通过百叶箱、雨量计、风向风标等方式收集。按场景分为地面、高空及卫星三类。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43617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4767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377017" y="2400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0" name="Text 18"/>
          <p:cNvSpPr/>
          <p:nvPr/>
        </p:nvSpPr>
        <p:spPr>
          <a:xfrm>
            <a:off x="12018367" y="2247900"/>
            <a:ext cx="93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数值预报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18367" y="2603500"/>
            <a:ext cx="901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NWP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4767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基于数学模型和超级计算的气象数据可视化，为精准、定量的天气预报提供科学支撑。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4350" y="43497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700" y="47117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8100" y="0"/>
                </a:moveTo>
                <a:cubicBezTo>
                  <a:pt x="17085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90500" y="304800"/>
                </a:lnTo>
                <a:cubicBezTo>
                  <a:pt x="211515" y="304800"/>
                  <a:pt x="228600" y="287715"/>
                  <a:pt x="228600" y="266700"/>
                </a:cubicBezTo>
                <a:lnTo>
                  <a:pt x="228600" y="38100"/>
                </a:lnTo>
                <a:cubicBezTo>
                  <a:pt x="228600" y="17085"/>
                  <a:pt x="211515" y="0"/>
                  <a:pt x="190500" y="0"/>
                </a:cubicBezTo>
                <a:lnTo>
                  <a:pt x="38100" y="0"/>
                </a:lnTo>
                <a:close/>
                <a:moveTo>
                  <a:pt x="57150" y="38100"/>
                </a:moveTo>
                <a:lnTo>
                  <a:pt x="171450" y="38100"/>
                </a:lnTo>
                <a:cubicBezTo>
                  <a:pt x="181987" y="38100"/>
                  <a:pt x="190500" y="46613"/>
                  <a:pt x="190500" y="5715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57150" y="95250"/>
                </a:lnTo>
                <a:cubicBezTo>
                  <a:pt x="46613" y="95250"/>
                  <a:pt x="38100" y="86737"/>
                  <a:pt x="38100" y="76200"/>
                </a:cubicBezTo>
                <a:lnTo>
                  <a:pt x="38100" y="57150"/>
                </a:lnTo>
                <a:cubicBezTo>
                  <a:pt x="38100" y="46613"/>
                  <a:pt x="46613" y="38100"/>
                  <a:pt x="57150" y="38100"/>
                </a:cubicBezTo>
                <a:close/>
                <a:moveTo>
                  <a:pt x="66675" y="138113"/>
                </a:moveTo>
                <a:cubicBezTo>
                  <a:pt x="66675" y="145998"/>
                  <a:pt x="60273" y="152400"/>
                  <a:pt x="52388" y="152400"/>
                </a:cubicBezTo>
                <a:cubicBezTo>
                  <a:pt x="44502" y="152400"/>
                  <a:pt x="38100" y="145998"/>
                  <a:pt x="38100" y="138113"/>
                </a:cubicBezTo>
                <a:cubicBezTo>
                  <a:pt x="38100" y="130227"/>
                  <a:pt x="44502" y="123825"/>
                  <a:pt x="52388" y="123825"/>
                </a:cubicBezTo>
                <a:cubicBezTo>
                  <a:pt x="60273" y="123825"/>
                  <a:pt x="66675" y="130227"/>
                  <a:pt x="66675" y="138113"/>
                </a:cubicBezTo>
                <a:close/>
                <a:moveTo>
                  <a:pt x="114300" y="152400"/>
                </a:moveTo>
                <a:cubicBezTo>
                  <a:pt x="106415" y="152400"/>
                  <a:pt x="100013" y="145998"/>
                  <a:pt x="100013" y="138113"/>
                </a:cubicBezTo>
                <a:cubicBezTo>
                  <a:pt x="100013" y="130227"/>
                  <a:pt x="106415" y="123825"/>
                  <a:pt x="114300" y="123825"/>
                </a:cubicBezTo>
                <a:cubicBezTo>
                  <a:pt x="122185" y="123825"/>
                  <a:pt x="128588" y="130227"/>
                  <a:pt x="128588" y="138113"/>
                </a:cubicBezTo>
                <a:cubicBezTo>
                  <a:pt x="128588" y="145998"/>
                  <a:pt x="122185" y="152400"/>
                  <a:pt x="114300" y="152400"/>
                </a:cubicBezTo>
                <a:close/>
                <a:moveTo>
                  <a:pt x="190500" y="138113"/>
                </a:moveTo>
                <a:cubicBezTo>
                  <a:pt x="190500" y="145998"/>
                  <a:pt x="184098" y="152400"/>
                  <a:pt x="176212" y="152400"/>
                </a:cubicBezTo>
                <a:cubicBezTo>
                  <a:pt x="168327" y="152400"/>
                  <a:pt x="161925" y="145998"/>
                  <a:pt x="161925" y="138113"/>
                </a:cubicBezTo>
                <a:cubicBezTo>
                  <a:pt x="161925" y="130227"/>
                  <a:pt x="168327" y="123825"/>
                  <a:pt x="176212" y="123825"/>
                </a:cubicBezTo>
                <a:cubicBezTo>
                  <a:pt x="184098" y="123825"/>
                  <a:pt x="190500" y="130227"/>
                  <a:pt x="190500" y="138113"/>
                </a:cubicBezTo>
                <a:close/>
                <a:moveTo>
                  <a:pt x="52388" y="209550"/>
                </a:moveTo>
                <a:cubicBezTo>
                  <a:pt x="44502" y="209550"/>
                  <a:pt x="38100" y="203148"/>
                  <a:pt x="38100" y="195263"/>
                </a:cubicBezTo>
                <a:cubicBezTo>
                  <a:pt x="38100" y="187377"/>
                  <a:pt x="44502" y="180975"/>
                  <a:pt x="52388" y="180975"/>
                </a:cubicBezTo>
                <a:cubicBezTo>
                  <a:pt x="60273" y="180975"/>
                  <a:pt x="66675" y="187377"/>
                  <a:pt x="66675" y="195263"/>
                </a:cubicBezTo>
                <a:cubicBezTo>
                  <a:pt x="66675" y="203148"/>
                  <a:pt x="60273" y="209550"/>
                  <a:pt x="52388" y="209550"/>
                </a:cubicBezTo>
                <a:close/>
                <a:moveTo>
                  <a:pt x="128588" y="195263"/>
                </a:moveTo>
                <a:cubicBezTo>
                  <a:pt x="128588" y="203148"/>
                  <a:pt x="122185" y="209550"/>
                  <a:pt x="114300" y="209550"/>
                </a:cubicBezTo>
                <a:cubicBezTo>
                  <a:pt x="106415" y="209550"/>
                  <a:pt x="100013" y="203148"/>
                  <a:pt x="100013" y="195263"/>
                </a:cubicBezTo>
                <a:cubicBezTo>
                  <a:pt x="100013" y="187377"/>
                  <a:pt x="106415" y="180975"/>
                  <a:pt x="114300" y="180975"/>
                </a:cubicBezTo>
                <a:cubicBezTo>
                  <a:pt x="122185" y="180975"/>
                  <a:pt x="128588" y="187377"/>
                  <a:pt x="128588" y="195263"/>
                </a:cubicBezTo>
                <a:close/>
                <a:moveTo>
                  <a:pt x="176212" y="209550"/>
                </a:moveTo>
                <a:cubicBezTo>
                  <a:pt x="168327" y="209550"/>
                  <a:pt x="161925" y="203148"/>
                  <a:pt x="161925" y="195263"/>
                </a:cubicBezTo>
                <a:cubicBezTo>
                  <a:pt x="161925" y="187377"/>
                  <a:pt x="168327" y="180975"/>
                  <a:pt x="176212" y="180975"/>
                </a:cubicBezTo>
                <a:cubicBezTo>
                  <a:pt x="184098" y="180975"/>
                  <a:pt x="190500" y="187377"/>
                  <a:pt x="190500" y="195263"/>
                </a:cubicBezTo>
                <a:cubicBezTo>
                  <a:pt x="190500" y="203148"/>
                  <a:pt x="184098" y="209550"/>
                  <a:pt x="176212" y="209550"/>
                </a:cubicBezTo>
                <a:close/>
                <a:moveTo>
                  <a:pt x="38100" y="252413"/>
                </a:moveTo>
                <a:cubicBezTo>
                  <a:pt x="38100" y="244495"/>
                  <a:pt x="44470" y="238125"/>
                  <a:pt x="52388" y="238125"/>
                </a:cubicBezTo>
                <a:lnTo>
                  <a:pt x="119062" y="238125"/>
                </a:lnTo>
                <a:cubicBezTo>
                  <a:pt x="126980" y="238125"/>
                  <a:pt x="133350" y="244495"/>
                  <a:pt x="133350" y="252413"/>
                </a:cubicBezTo>
                <a:cubicBezTo>
                  <a:pt x="133350" y="260330"/>
                  <a:pt x="126980" y="266700"/>
                  <a:pt x="119062" y="266700"/>
                </a:cubicBezTo>
                <a:lnTo>
                  <a:pt x="52388" y="266700"/>
                </a:lnTo>
                <a:cubicBezTo>
                  <a:pt x="44470" y="266700"/>
                  <a:pt x="38100" y="260330"/>
                  <a:pt x="38100" y="252413"/>
                </a:cubicBezTo>
                <a:close/>
                <a:moveTo>
                  <a:pt x="176212" y="238125"/>
                </a:moveTo>
                <a:cubicBezTo>
                  <a:pt x="184130" y="238125"/>
                  <a:pt x="190500" y="244495"/>
                  <a:pt x="190500" y="252413"/>
                </a:cubicBezTo>
                <a:cubicBezTo>
                  <a:pt x="190500" y="260330"/>
                  <a:pt x="184130" y="266700"/>
                  <a:pt x="176212" y="266700"/>
                </a:cubicBezTo>
                <a:cubicBezTo>
                  <a:pt x="168295" y="266700"/>
                  <a:pt x="161925" y="260330"/>
                  <a:pt x="161925" y="252413"/>
                </a:cubicBezTo>
                <a:cubicBezTo>
                  <a:pt x="161925" y="244495"/>
                  <a:pt x="168295" y="238125"/>
                  <a:pt x="176212" y="238125"/>
                </a:cubicBezTo>
                <a:close/>
              </a:path>
            </a:pathLst>
          </a:custGeom>
          <a:solidFill>
            <a:srgbClr val="5F8CA3"/>
          </a:solidFill>
        </p:spPr>
      </p:sp>
      <p:sp>
        <p:nvSpPr>
          <p:cNvPr id="25" name="Text 23"/>
          <p:cNvSpPr/>
          <p:nvPr/>
        </p:nvSpPr>
        <p:spPr>
          <a:xfrm>
            <a:off x="1206500" y="46609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计算密集型方法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5500" y="52705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传统天气预测基于流体力学和热力学方程组，通过超级计算机求解偏微分方程来模拟大气运动。这种方法需要消耗大量计算资源，且对初始条件极为敏感。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6750" y="43497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7900" y="4940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9" name="Text 27"/>
          <p:cNvSpPr/>
          <p:nvPr/>
        </p:nvSpPr>
        <p:spPr>
          <a:xfrm>
            <a:off x="8978900" y="48895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物理模型驱动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7900" y="5499100"/>
            <a:ext cx="69469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依赖于对大气物理过程的数学描述，包括动量守恒、质量守恒和能量守恒等基本原理。模型精度直接取决于物理参数化的准确性。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3400" y="8420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32" name="Text 30"/>
          <p:cNvSpPr/>
          <p:nvPr/>
        </p:nvSpPr>
        <p:spPr>
          <a:xfrm>
            <a:off x="831850" y="8382000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基于数学物理方程的确定性预测方法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460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数值模拟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604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7414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方程求解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558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036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超级计算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58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传统方法的局限与挑战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065337"/>
            <a:ext cx="7442200" cy="2286000"/>
          </a:xfrm>
          <a:custGeom>
            <a:avLst/>
            <a:gdLst/>
            <a:ahLst/>
            <a:cxnLst/>
            <a:rect l="l" t="t" r="r" b="b"/>
            <a:pathLst>
              <a:path w="7442200" h="2286000">
                <a:moveTo>
                  <a:pt x="50800" y="0"/>
                </a:moveTo>
                <a:lnTo>
                  <a:pt x="7238997" y="0"/>
                </a:lnTo>
                <a:cubicBezTo>
                  <a:pt x="7351223" y="0"/>
                  <a:pt x="7442200" y="90977"/>
                  <a:pt x="7442200" y="203203"/>
                </a:cubicBezTo>
                <a:lnTo>
                  <a:pt x="7442200" y="2082797"/>
                </a:lnTo>
                <a:cubicBezTo>
                  <a:pt x="7442200" y="2195023"/>
                  <a:pt x="7351223" y="2286000"/>
                  <a:pt x="7238997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6" name="Shape 4"/>
          <p:cNvSpPr/>
          <p:nvPr/>
        </p:nvSpPr>
        <p:spPr>
          <a:xfrm>
            <a:off x="533400" y="2065337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6E9E"/>
          </a:solidFill>
        </p:spPr>
      </p:sp>
      <p:sp>
        <p:nvSpPr>
          <p:cNvPr id="7" name="Shape 5"/>
          <p:cNvSpPr/>
          <p:nvPr/>
        </p:nvSpPr>
        <p:spPr>
          <a:xfrm>
            <a:off x="863600" y="237013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122164" y="2547938"/>
            <a:ext cx="482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2370138"/>
            <a:ext cx="594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混沌效应与确定性极限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9600" y="2928938"/>
            <a:ext cx="59055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无论初始场多么精确，微小的误差都会随着时间数级增长。洛伦兹发现的"蝴蝶效应"揭示了确定性混沌系统的内在局限性，使得长期预报变得极为困难。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05800" y="2065337"/>
            <a:ext cx="7442200" cy="2286000"/>
          </a:xfrm>
          <a:custGeom>
            <a:avLst/>
            <a:gdLst/>
            <a:ahLst/>
            <a:cxnLst/>
            <a:rect l="l" t="t" r="r" b="b"/>
            <a:pathLst>
              <a:path w="7442200" h="2286000">
                <a:moveTo>
                  <a:pt x="50800" y="0"/>
                </a:moveTo>
                <a:lnTo>
                  <a:pt x="7238997" y="0"/>
                </a:lnTo>
                <a:cubicBezTo>
                  <a:pt x="7351223" y="0"/>
                  <a:pt x="7442200" y="90977"/>
                  <a:pt x="7442200" y="203203"/>
                </a:cubicBezTo>
                <a:lnTo>
                  <a:pt x="7442200" y="2082797"/>
                </a:lnTo>
                <a:cubicBezTo>
                  <a:pt x="7442200" y="2195023"/>
                  <a:pt x="7351223" y="2286000"/>
                  <a:pt x="7238997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12" name="Shape 10"/>
          <p:cNvSpPr/>
          <p:nvPr/>
        </p:nvSpPr>
        <p:spPr>
          <a:xfrm>
            <a:off x="8305800" y="2065337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CA3"/>
          </a:solidFill>
        </p:spPr>
      </p:sp>
      <p:sp>
        <p:nvSpPr>
          <p:cNvPr id="13" name="Shape 11"/>
          <p:cNvSpPr/>
          <p:nvPr/>
        </p:nvSpPr>
        <p:spPr>
          <a:xfrm>
            <a:off x="8636000" y="237013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F8CA3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8869759" y="2547938"/>
            <a:ext cx="53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2370138"/>
            <a:ext cx="594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观测网络的不完备性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2000" y="2928938"/>
            <a:ext cx="59055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气象观测站分布不均，在海洋、高原、极地等关键区域存在大量"盲点"。这种空间覆盖的不完整性导致初始场误差，直接影响预报精度。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719638"/>
            <a:ext cx="15214600" cy="1917700"/>
          </a:xfrm>
          <a:custGeom>
            <a:avLst/>
            <a:gdLst/>
            <a:ahLst/>
            <a:cxnLst/>
            <a:rect l="l" t="t" r="r" b="b"/>
            <a:pathLst>
              <a:path w="15214600" h="1917700">
                <a:moveTo>
                  <a:pt x="50800" y="0"/>
                </a:moveTo>
                <a:lnTo>
                  <a:pt x="15011401" y="0"/>
                </a:lnTo>
                <a:cubicBezTo>
                  <a:pt x="15123624" y="0"/>
                  <a:pt x="15214600" y="90976"/>
                  <a:pt x="15214600" y="203199"/>
                </a:cubicBezTo>
                <a:lnTo>
                  <a:pt x="15214600" y="1714501"/>
                </a:lnTo>
                <a:cubicBezTo>
                  <a:pt x="15214600" y="1826724"/>
                  <a:pt x="15123624" y="1917700"/>
                  <a:pt x="15011401" y="1917700"/>
                </a:cubicBezTo>
                <a:lnTo>
                  <a:pt x="50800" y="1917700"/>
                </a:lnTo>
                <a:cubicBezTo>
                  <a:pt x="22744" y="1917700"/>
                  <a:pt x="0" y="1894956"/>
                  <a:pt x="0" y="1866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18" name="Shape 16"/>
          <p:cNvSpPr/>
          <p:nvPr/>
        </p:nvSpPr>
        <p:spPr>
          <a:xfrm>
            <a:off x="533400" y="4719638"/>
            <a:ext cx="50800" cy="1917700"/>
          </a:xfrm>
          <a:custGeom>
            <a:avLst/>
            <a:gdLst/>
            <a:ahLst/>
            <a:cxnLst/>
            <a:rect l="l" t="t" r="r" b="b"/>
            <a:pathLst>
              <a:path w="50800" h="1917700">
                <a:moveTo>
                  <a:pt x="50800" y="0"/>
                </a:moveTo>
                <a:lnTo>
                  <a:pt x="50800" y="0"/>
                </a:lnTo>
                <a:lnTo>
                  <a:pt x="50800" y="1917700"/>
                </a:lnTo>
                <a:lnTo>
                  <a:pt x="50800" y="1917700"/>
                </a:lnTo>
                <a:cubicBezTo>
                  <a:pt x="22763" y="1917700"/>
                  <a:pt x="0" y="1894937"/>
                  <a:pt x="0" y="1866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9" name="Shape 17"/>
          <p:cNvSpPr/>
          <p:nvPr/>
        </p:nvSpPr>
        <p:spPr>
          <a:xfrm>
            <a:off x="863600" y="502443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3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94184" y="5202238"/>
            <a:ext cx="54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9600" y="5024438"/>
            <a:ext cx="1371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预报员主观性的双刃剑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9600" y="5583238"/>
            <a:ext cx="136779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人类预报员的经验和直觉在预报过程中扮演重要角色，但过度依赖个人经验可能导致重大失误。主观判断的不确定性成为影响预报一致性和可靠性的关键因素。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4350" y="7008813"/>
            <a:ext cx="4902200" cy="1435100"/>
          </a:xfrm>
          <a:custGeom>
            <a:avLst/>
            <a:gdLst/>
            <a:ahLst/>
            <a:cxnLst/>
            <a:rect l="l" t="t" r="r" b="b"/>
            <a:pathLst>
              <a:path w="4902200" h="1435100">
                <a:moveTo>
                  <a:pt x="152393" y="0"/>
                </a:moveTo>
                <a:lnTo>
                  <a:pt x="4749807" y="0"/>
                </a:lnTo>
                <a:cubicBezTo>
                  <a:pt x="4833971" y="0"/>
                  <a:pt x="4902200" y="68229"/>
                  <a:pt x="4902200" y="152393"/>
                </a:cubicBezTo>
                <a:lnTo>
                  <a:pt x="4902200" y="1282707"/>
                </a:lnTo>
                <a:cubicBezTo>
                  <a:pt x="4902200" y="1366871"/>
                  <a:pt x="4833971" y="1435100"/>
                  <a:pt x="47498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3C6E9E">
              <a:alpha val="10196"/>
            </a:srgbClr>
          </a:soli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400" y="7269163"/>
            <a:ext cx="4610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±10%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3900" y="7878763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初始误差率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78884" y="7008813"/>
            <a:ext cx="4902200" cy="1435100"/>
          </a:xfrm>
          <a:custGeom>
            <a:avLst/>
            <a:gdLst/>
            <a:ahLst/>
            <a:cxnLst/>
            <a:rect l="l" t="t" r="r" b="b"/>
            <a:pathLst>
              <a:path w="4902200" h="1435100">
                <a:moveTo>
                  <a:pt x="152393" y="0"/>
                </a:moveTo>
                <a:lnTo>
                  <a:pt x="4749807" y="0"/>
                </a:lnTo>
                <a:cubicBezTo>
                  <a:pt x="4833971" y="0"/>
                  <a:pt x="4902200" y="68229"/>
                  <a:pt x="4902200" y="152393"/>
                </a:cubicBezTo>
                <a:lnTo>
                  <a:pt x="4902200" y="1282707"/>
                </a:lnTo>
                <a:cubicBezTo>
                  <a:pt x="4902200" y="1366871"/>
                  <a:pt x="4833971" y="1435100"/>
                  <a:pt x="47498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5F8CA3">
              <a:alpha val="10196"/>
            </a:srgbClr>
          </a:soli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24934" y="7269163"/>
            <a:ext cx="4610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72小时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88434" y="7878763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有效预报窗口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43617" y="7008813"/>
            <a:ext cx="4902200" cy="1435100"/>
          </a:xfrm>
          <a:custGeom>
            <a:avLst/>
            <a:gdLst/>
            <a:ahLst/>
            <a:cxnLst/>
            <a:rect l="l" t="t" r="r" b="b"/>
            <a:pathLst>
              <a:path w="4902200" h="1435100">
                <a:moveTo>
                  <a:pt x="152393" y="0"/>
                </a:moveTo>
                <a:lnTo>
                  <a:pt x="4749807" y="0"/>
                </a:lnTo>
                <a:cubicBezTo>
                  <a:pt x="4833971" y="0"/>
                  <a:pt x="4902200" y="68229"/>
                  <a:pt x="4902200" y="152393"/>
                </a:cubicBezTo>
                <a:lnTo>
                  <a:pt x="4902200" y="1282707"/>
                </a:lnTo>
                <a:cubicBezTo>
                  <a:pt x="4902200" y="1366871"/>
                  <a:pt x="4833971" y="1435100"/>
                  <a:pt x="4749807" y="1435100"/>
                </a:cubicBezTo>
                <a:lnTo>
                  <a:pt x="152393" y="1435100"/>
                </a:lnTo>
                <a:cubicBezTo>
                  <a:pt x="68285" y="1435100"/>
                  <a:pt x="0" y="1366815"/>
                  <a:pt x="0" y="128270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8FBC8F">
              <a:alpha val="10196"/>
            </a:srgbClr>
          </a:soli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89667" y="7269163"/>
            <a:ext cx="4610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30%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53167" y="7878763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主观判断占比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58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 PRINCIPLE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AI天气预测原理——"找规律"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864100" cy="2527300"/>
          </a:xfrm>
          <a:custGeom>
            <a:avLst/>
            <a:gdLst/>
            <a:ahLst/>
            <a:cxnLst/>
            <a:rect l="l" t="t" r="r" b="b"/>
            <a:pathLst>
              <a:path w="4864100" h="2527300">
                <a:moveTo>
                  <a:pt x="203195" y="0"/>
                </a:moveTo>
                <a:lnTo>
                  <a:pt x="4660905" y="0"/>
                </a:lnTo>
                <a:cubicBezTo>
                  <a:pt x="4773127" y="0"/>
                  <a:pt x="4864100" y="90973"/>
                  <a:pt x="4864100" y="203195"/>
                </a:cubicBezTo>
                <a:lnTo>
                  <a:pt x="4864100" y="2324105"/>
                </a:lnTo>
                <a:cubicBezTo>
                  <a:pt x="4864100" y="2436327"/>
                  <a:pt x="4773127" y="2527300"/>
                  <a:pt x="4660905" y="2527300"/>
                </a:cubicBezTo>
                <a:lnTo>
                  <a:pt x="203195" y="2527300"/>
                </a:lnTo>
                <a:cubicBezTo>
                  <a:pt x="90973" y="2527300"/>
                  <a:pt x="0" y="2436327"/>
                  <a:pt x="0" y="23241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062831" y="2349500"/>
            <a:ext cx="393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89100" y="2247900"/>
            <a:ext cx="1752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数据采集与预处理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89100" y="2603500"/>
            <a:ext cx="171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3111500"/>
            <a:ext cx="4343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将过去40年的全球天气数据变成一本厚厚的"天气变化连环册"。通过数据清洗、归一化和特征工程，构建高质量的训练数据集。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5950" y="1885950"/>
            <a:ext cx="4864100" cy="2527300"/>
          </a:xfrm>
          <a:custGeom>
            <a:avLst/>
            <a:gdLst/>
            <a:ahLst/>
            <a:cxnLst/>
            <a:rect l="l" t="t" r="r" b="b"/>
            <a:pathLst>
              <a:path w="4864100" h="2527300">
                <a:moveTo>
                  <a:pt x="203195" y="0"/>
                </a:moveTo>
                <a:lnTo>
                  <a:pt x="4660905" y="0"/>
                </a:lnTo>
                <a:cubicBezTo>
                  <a:pt x="4773127" y="0"/>
                  <a:pt x="4864100" y="90973"/>
                  <a:pt x="4864100" y="203195"/>
                </a:cubicBezTo>
                <a:lnTo>
                  <a:pt x="4864100" y="2324105"/>
                </a:lnTo>
                <a:cubicBezTo>
                  <a:pt x="4864100" y="2436327"/>
                  <a:pt x="4773127" y="2527300"/>
                  <a:pt x="4660905" y="2527300"/>
                </a:cubicBezTo>
                <a:lnTo>
                  <a:pt x="203195" y="2527300"/>
                </a:lnTo>
                <a:cubicBezTo>
                  <a:pt x="90973" y="2527300"/>
                  <a:pt x="0" y="2436327"/>
                  <a:pt x="0" y="23241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71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224588" y="2349500"/>
            <a:ext cx="431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0700" y="2247900"/>
            <a:ext cx="1752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机器学习模型训练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0700" y="2603500"/>
            <a:ext cx="171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07100" y="3111500"/>
            <a:ext cx="4343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AI的任务不是解方程而是刷题，学习画面与画面之间变化的规律。通过深度学习网络提取时空特征，建立预测模型。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77550" y="1885950"/>
            <a:ext cx="4864100" cy="2527300"/>
          </a:xfrm>
          <a:custGeom>
            <a:avLst/>
            <a:gdLst/>
            <a:ahLst/>
            <a:cxnLst/>
            <a:rect l="l" t="t" r="r" b="b"/>
            <a:pathLst>
              <a:path w="4864100" h="2527300">
                <a:moveTo>
                  <a:pt x="203195" y="0"/>
                </a:moveTo>
                <a:lnTo>
                  <a:pt x="4660905" y="0"/>
                </a:lnTo>
                <a:cubicBezTo>
                  <a:pt x="4773127" y="0"/>
                  <a:pt x="4864100" y="90973"/>
                  <a:pt x="4864100" y="203195"/>
                </a:cubicBezTo>
                <a:lnTo>
                  <a:pt x="4864100" y="2324105"/>
                </a:lnTo>
                <a:cubicBezTo>
                  <a:pt x="4864100" y="2436327"/>
                  <a:pt x="4773127" y="2527300"/>
                  <a:pt x="4660905" y="2527300"/>
                </a:cubicBezTo>
                <a:lnTo>
                  <a:pt x="203195" y="2527300"/>
                </a:lnTo>
                <a:cubicBezTo>
                  <a:pt x="90973" y="2527300"/>
                  <a:pt x="0" y="2436327"/>
                  <a:pt x="0" y="23241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887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11403608" y="2349500"/>
            <a:ext cx="431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52300" y="2247900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预测结果生成与优化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52300" y="2603500"/>
            <a:ext cx="191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88700" y="3111500"/>
            <a:ext cx="4343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将数据输入给已经训练好的AI模型，调动内化知识，比对画面并计算生成天气预报。通过集成学习和后处理技术进一步提升精度。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4350" y="47307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600" y="5092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5" name="Text 23"/>
          <p:cNvSpPr/>
          <p:nvPr/>
        </p:nvSpPr>
        <p:spPr>
          <a:xfrm>
            <a:off x="1206500" y="50419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数据驱动方法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5500" y="56515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AI天气预测不依赖于对物理过程的显式建模，而是从历史数据中学习大气运动的隐含规律。这种方法能够捕捉到难以用数学方程描述的复杂非线性关系。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6750" y="47307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16950" y="50927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3C6E9E"/>
          </a:solidFill>
        </p:spPr>
      </p:sp>
      <p:sp>
        <p:nvSpPr>
          <p:cNvPr id="29" name="Text 27"/>
          <p:cNvSpPr/>
          <p:nvPr/>
        </p:nvSpPr>
        <p:spPr>
          <a:xfrm>
            <a:off x="8978900" y="50419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端到端学习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7900" y="56515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从原始气象数据直接输出预报结果，中间特征提取和模式识别全部由神经网络自动完成。这种端到端的架构大大简化了预报流程，提高了系统的整体效率。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5625" y="84201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01714" y="133350"/>
                </a:moveTo>
                <a:cubicBezTo>
                  <a:pt x="104249" y="125606"/>
                  <a:pt x="109319" y="118591"/>
                  <a:pt x="115049" y="112549"/>
                </a:cubicBezTo>
                <a:cubicBezTo>
                  <a:pt x="126405" y="100603"/>
                  <a:pt x="133350" y="84455"/>
                  <a:pt x="133350" y="66675"/>
                </a:cubicBezTo>
                <a:cubicBezTo>
                  <a:pt x="133350" y="29865"/>
                  <a:pt x="103485" y="0"/>
                  <a:pt x="66675" y="0"/>
                </a:cubicBezTo>
                <a:cubicBezTo>
                  <a:pt x="29865" y="0"/>
                  <a:pt x="0" y="29865"/>
                  <a:pt x="0" y="66675"/>
                </a:cubicBezTo>
                <a:cubicBezTo>
                  <a:pt x="0" y="84455"/>
                  <a:pt x="6945" y="100603"/>
                  <a:pt x="18301" y="112549"/>
                </a:cubicBezTo>
                <a:cubicBezTo>
                  <a:pt x="24031" y="118591"/>
                  <a:pt x="29136" y="125606"/>
                  <a:pt x="31636" y="133350"/>
                </a:cubicBezTo>
                <a:lnTo>
                  <a:pt x="101679" y="133350"/>
                </a:lnTo>
                <a:close/>
                <a:moveTo>
                  <a:pt x="100013" y="150019"/>
                </a:moveTo>
                <a:lnTo>
                  <a:pt x="33337" y="150019"/>
                </a:lnTo>
                <a:lnTo>
                  <a:pt x="33337" y="155575"/>
                </a:lnTo>
                <a:cubicBezTo>
                  <a:pt x="33337" y="170924"/>
                  <a:pt x="45770" y="183356"/>
                  <a:pt x="61119" y="183356"/>
                </a:cubicBezTo>
                <a:lnTo>
                  <a:pt x="72231" y="183356"/>
                </a:lnTo>
                <a:cubicBezTo>
                  <a:pt x="87580" y="183356"/>
                  <a:pt x="100013" y="170924"/>
                  <a:pt x="100013" y="155575"/>
                </a:cubicBezTo>
                <a:lnTo>
                  <a:pt x="100013" y="150019"/>
                </a:lnTo>
                <a:close/>
                <a:moveTo>
                  <a:pt x="63897" y="38894"/>
                </a:moveTo>
                <a:cubicBezTo>
                  <a:pt x="50076" y="38894"/>
                  <a:pt x="38894" y="50076"/>
                  <a:pt x="38894" y="63897"/>
                </a:cubicBezTo>
                <a:cubicBezTo>
                  <a:pt x="38894" y="68516"/>
                  <a:pt x="35178" y="72231"/>
                  <a:pt x="30559" y="72231"/>
                </a:cubicBezTo>
                <a:cubicBezTo>
                  <a:pt x="25941" y="72231"/>
                  <a:pt x="22225" y="68516"/>
                  <a:pt x="22225" y="63897"/>
                </a:cubicBezTo>
                <a:cubicBezTo>
                  <a:pt x="22225" y="40873"/>
                  <a:pt x="40873" y="22225"/>
                  <a:pt x="63897" y="22225"/>
                </a:cubicBezTo>
                <a:cubicBezTo>
                  <a:pt x="68516" y="22225"/>
                  <a:pt x="72231" y="25941"/>
                  <a:pt x="72231" y="30559"/>
                </a:cubicBezTo>
                <a:cubicBezTo>
                  <a:pt x="72231" y="35178"/>
                  <a:pt x="68516" y="38894"/>
                  <a:pt x="63897" y="38894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32" name="Text 30"/>
          <p:cNvSpPr/>
          <p:nvPr/>
        </p:nvSpPr>
        <p:spPr>
          <a:xfrm>
            <a:off x="831850" y="8382000"/>
            <a:ext cx="257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基于模式识别的智能化预测范式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623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5382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9192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8336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214600" y="8382000"/>
            <a:ext cx="62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74074/Downloads/Gemini_Generated_Image_olykweolykweolyk.pngGemini_Generated_Image_olykweolykweolyk"/>
          <p:cNvPicPr>
            <a:picLocks noChangeAspect="1"/>
          </p:cNvPicPr>
          <p:nvPr/>
        </p:nvPicPr>
        <p:blipFill>
          <a:blip r:embed="rId1">
            <a:alphaModFix amt="25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635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8FBC8F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5F8CA3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7767" y="3086100"/>
            <a:ext cx="1079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0">
                <a:srgbClr val="FFFFFF"/>
              </a:gs>
              <a:gs pos="100000">
                <a:srgbClr val="3C6E9E"/>
              </a:gs>
            </a:gsLst>
            <a:lin ang="5400000" scaled="1"/>
          </a:gradFill>
        </p:spPr>
      </p:sp>
      <p:sp>
        <p:nvSpPr>
          <p:cNvPr id="8" name="Text 5"/>
          <p:cNvSpPr/>
          <p:nvPr/>
        </p:nvSpPr>
        <p:spPr>
          <a:xfrm>
            <a:off x="2616200" y="2501900"/>
            <a:ext cx="40259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AI天气预测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的优点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6800" y="5295900"/>
            <a:ext cx="52959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精度、速度、可及性，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AI技术正在重新定义天气预报的边界。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6800" y="6692900"/>
            <a:ext cx="2311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探索AI带来的突破性优势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803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预测精准度提升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9131300" cy="7175500"/>
          </a:xfrm>
          <a:custGeom>
            <a:avLst/>
            <a:gdLst/>
            <a:ahLst/>
            <a:cxnLst/>
            <a:rect l="l" t="t" r="r" b="b"/>
            <a:pathLst>
              <a:path w="9131300" h="7175500">
                <a:moveTo>
                  <a:pt x="304815" y="0"/>
                </a:moveTo>
                <a:lnTo>
                  <a:pt x="8826485" y="0"/>
                </a:lnTo>
                <a:cubicBezTo>
                  <a:pt x="8994830" y="0"/>
                  <a:pt x="9131300" y="136470"/>
                  <a:pt x="9131300" y="304815"/>
                </a:cubicBezTo>
                <a:lnTo>
                  <a:pt x="9131300" y="6870685"/>
                </a:lnTo>
                <a:cubicBezTo>
                  <a:pt x="9131300" y="7039030"/>
                  <a:pt x="8994830" y="7175500"/>
                  <a:pt x="8826485" y="7175500"/>
                </a:cubicBezTo>
                <a:lnTo>
                  <a:pt x="304815" y="7175500"/>
                </a:lnTo>
                <a:cubicBezTo>
                  <a:pt x="136470" y="7175500"/>
                  <a:pt x="0" y="7039030"/>
                  <a:pt x="0" y="6870685"/>
                </a:cubicBezTo>
                <a:lnTo>
                  <a:pt x="0" y="304815"/>
                </a:lnTo>
                <a:cubicBezTo>
                  <a:pt x="0" y="136583"/>
                  <a:pt x="136583" y="0"/>
                  <a:pt x="304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8950" y="3281363"/>
            <a:ext cx="1562100" cy="1397000"/>
          </a:xfrm>
          <a:custGeom>
            <a:avLst/>
            <a:gdLst/>
            <a:ahLst/>
            <a:cxnLst/>
            <a:rect l="l" t="t" r="r" b="b"/>
            <a:pathLst>
              <a:path w="1562100" h="1397000">
                <a:moveTo>
                  <a:pt x="203194" y="0"/>
                </a:moveTo>
                <a:lnTo>
                  <a:pt x="1358906" y="0"/>
                </a:lnTo>
                <a:cubicBezTo>
                  <a:pt x="1471052" y="0"/>
                  <a:pt x="1562100" y="91048"/>
                  <a:pt x="1562100" y="203194"/>
                </a:cubicBezTo>
                <a:lnTo>
                  <a:pt x="1562100" y="1193806"/>
                </a:lnTo>
                <a:cubicBezTo>
                  <a:pt x="1562100" y="1306027"/>
                  <a:pt x="1471127" y="1397000"/>
                  <a:pt x="1358906" y="1397000"/>
                </a:cubicBezTo>
                <a:lnTo>
                  <a:pt x="203194" y="1397000"/>
                </a:lnTo>
                <a:cubicBezTo>
                  <a:pt x="91048" y="1397000"/>
                  <a:pt x="0" y="1305952"/>
                  <a:pt x="0" y="1193806"/>
                </a:cubicBezTo>
                <a:lnTo>
                  <a:pt x="0" y="203194"/>
                </a:lnTo>
                <a:cubicBezTo>
                  <a:pt x="0" y="90973"/>
                  <a:pt x="90973" y="0"/>
                  <a:pt x="203194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699000" y="35861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66750" y="381000"/>
                </a:moveTo>
                <a:cubicBezTo>
                  <a:pt x="666750" y="223290"/>
                  <a:pt x="538710" y="95250"/>
                  <a:pt x="381000" y="95250"/>
                </a:cubicBezTo>
                <a:cubicBezTo>
                  <a:pt x="223290" y="95250"/>
                  <a:pt x="95250" y="223290"/>
                  <a:pt x="95250" y="381000"/>
                </a:cubicBezTo>
                <a:cubicBezTo>
                  <a:pt x="95250" y="538710"/>
                  <a:pt x="223290" y="666750"/>
                  <a:pt x="381000" y="666750"/>
                </a:cubicBezTo>
                <a:cubicBezTo>
                  <a:pt x="538710" y="666750"/>
                  <a:pt x="666750" y="538710"/>
                  <a:pt x="666750" y="381000"/>
                </a:cubicBezTo>
                <a:close/>
                <a:moveTo>
                  <a:pt x="0" y="381000"/>
                </a:moveTo>
                <a:cubicBezTo>
                  <a:pt x="0" y="170720"/>
                  <a:pt x="170720" y="0"/>
                  <a:pt x="381000" y="0"/>
                </a:cubicBez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lose/>
                <a:moveTo>
                  <a:pt x="381000" y="500063"/>
                </a:moveTo>
                <a:cubicBezTo>
                  <a:pt x="446712" y="500063"/>
                  <a:pt x="500063" y="446712"/>
                  <a:pt x="500063" y="381000"/>
                </a:cubicBezTo>
                <a:cubicBezTo>
                  <a:pt x="500063" y="315288"/>
                  <a:pt x="446712" y="261938"/>
                  <a:pt x="381000" y="261938"/>
                </a:cubicBezTo>
                <a:cubicBezTo>
                  <a:pt x="315288" y="261938"/>
                  <a:pt x="261938" y="315288"/>
                  <a:pt x="261938" y="381000"/>
                </a:cubicBezTo>
                <a:cubicBezTo>
                  <a:pt x="261938" y="446712"/>
                  <a:pt x="315288" y="500063"/>
                  <a:pt x="381000" y="500063"/>
                </a:cubicBezTo>
                <a:close/>
                <a:moveTo>
                  <a:pt x="381000" y="166688"/>
                </a:moveTo>
                <a:cubicBezTo>
                  <a:pt x="499282" y="166688"/>
                  <a:pt x="595313" y="262718"/>
                  <a:pt x="595313" y="381000"/>
                </a:cubicBezTo>
                <a:cubicBezTo>
                  <a:pt x="595313" y="499282"/>
                  <a:pt x="499282" y="595313"/>
                  <a:pt x="381000" y="595313"/>
                </a:cubicBezTo>
                <a:cubicBezTo>
                  <a:pt x="262718" y="595313"/>
                  <a:pt x="166688" y="499282"/>
                  <a:pt x="166688" y="381000"/>
                </a:cubicBezTo>
                <a:cubicBezTo>
                  <a:pt x="166688" y="262718"/>
                  <a:pt x="262718" y="166688"/>
                  <a:pt x="381000" y="166688"/>
                </a:cubicBezTo>
                <a:close/>
                <a:moveTo>
                  <a:pt x="333375" y="381000"/>
                </a:moveTo>
                <a:cubicBezTo>
                  <a:pt x="333375" y="354715"/>
                  <a:pt x="354715" y="333375"/>
                  <a:pt x="381000" y="333375"/>
                </a:cubicBezTo>
                <a:cubicBezTo>
                  <a:pt x="407285" y="333375"/>
                  <a:pt x="428625" y="354715"/>
                  <a:pt x="428625" y="381000"/>
                </a:cubicBezTo>
                <a:cubicBezTo>
                  <a:pt x="428625" y="407285"/>
                  <a:pt x="407285" y="428625"/>
                  <a:pt x="381000" y="428625"/>
                </a:cubicBezTo>
                <a:cubicBezTo>
                  <a:pt x="354715" y="428625"/>
                  <a:pt x="333375" y="407285"/>
                  <a:pt x="333375" y="38100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8" name="Text 6"/>
          <p:cNvSpPr/>
          <p:nvPr/>
        </p:nvSpPr>
        <p:spPr>
          <a:xfrm>
            <a:off x="622300" y="4983163"/>
            <a:ext cx="89154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20%+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900" y="6303963"/>
            <a:ext cx="8458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全球7天预测误差降低幅度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200" y="6913563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11" name="Text 9"/>
          <p:cNvSpPr/>
          <p:nvPr/>
        </p:nvSpPr>
        <p:spPr>
          <a:xfrm>
            <a:off x="1771650" y="7294563"/>
            <a:ext cx="661670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相较于最先进的传统预报系统，AI模型实现了全面超越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63150" y="1885950"/>
            <a:ext cx="5778500" cy="3340100"/>
          </a:xfrm>
          <a:custGeom>
            <a:avLst/>
            <a:gdLst/>
            <a:ahLst/>
            <a:cxnLst/>
            <a:rect l="l" t="t" r="r" b="b"/>
            <a:pathLst>
              <a:path w="5778500" h="3340100">
                <a:moveTo>
                  <a:pt x="203212" y="0"/>
                </a:moveTo>
                <a:lnTo>
                  <a:pt x="5575288" y="0"/>
                </a:lnTo>
                <a:cubicBezTo>
                  <a:pt x="5687519" y="0"/>
                  <a:pt x="5778500" y="90981"/>
                  <a:pt x="5778500" y="203212"/>
                </a:cubicBezTo>
                <a:lnTo>
                  <a:pt x="5778500" y="3136888"/>
                </a:lnTo>
                <a:cubicBezTo>
                  <a:pt x="5778500" y="3249119"/>
                  <a:pt x="5687519" y="3340100"/>
                  <a:pt x="5575288" y="3340100"/>
                </a:cubicBezTo>
                <a:lnTo>
                  <a:pt x="203212" y="3340100"/>
                </a:lnTo>
                <a:cubicBezTo>
                  <a:pt x="90981" y="3340100"/>
                  <a:pt x="0" y="3249119"/>
                  <a:pt x="0" y="3136888"/>
                </a:cubicBezTo>
                <a:lnTo>
                  <a:pt x="0" y="203212"/>
                </a:lnTo>
                <a:cubicBezTo>
                  <a:pt x="0" y="91056"/>
                  <a:pt x="91056" y="0"/>
                  <a:pt x="203212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2400" y="224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14" name="Text 12"/>
          <p:cNvSpPr/>
          <p:nvPr/>
        </p:nvSpPr>
        <p:spPr>
          <a:xfrm>
            <a:off x="10655300" y="2197100"/>
            <a:ext cx="4927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数据驱动优势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74300" y="2806700"/>
            <a:ext cx="5257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AI是数据驱动的，通过学习海量历史气象数据中的模式和规律，AI能够识别出传统方法难以捕捉的复杂非线性关系。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74300" y="4000500"/>
            <a:ext cx="2501900" cy="914400"/>
          </a:xfrm>
          <a:custGeom>
            <a:avLst/>
            <a:gdLst/>
            <a:ahLst/>
            <a:cxnLst/>
            <a:rect l="l" t="t" r="r" b="b"/>
            <a:pathLst>
              <a:path w="2501900" h="914400">
                <a:moveTo>
                  <a:pt x="101599" y="0"/>
                </a:moveTo>
                <a:lnTo>
                  <a:pt x="2400301" y="0"/>
                </a:lnTo>
                <a:cubicBezTo>
                  <a:pt x="2456413" y="0"/>
                  <a:pt x="2501900" y="45487"/>
                  <a:pt x="2501900" y="101599"/>
                </a:cubicBezTo>
                <a:lnTo>
                  <a:pt x="2501900" y="812801"/>
                </a:lnTo>
                <a:cubicBezTo>
                  <a:pt x="2501900" y="868913"/>
                  <a:pt x="2456413" y="914400"/>
                  <a:pt x="2400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10363200" y="4152900"/>
            <a:ext cx="2324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40年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82250" y="45085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历史数据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928600" y="4000500"/>
            <a:ext cx="2501900" cy="914400"/>
          </a:xfrm>
          <a:custGeom>
            <a:avLst/>
            <a:gdLst/>
            <a:ahLst/>
            <a:cxnLst/>
            <a:rect l="l" t="t" r="r" b="b"/>
            <a:pathLst>
              <a:path w="2501900" h="914400">
                <a:moveTo>
                  <a:pt x="101599" y="0"/>
                </a:moveTo>
                <a:lnTo>
                  <a:pt x="2400301" y="0"/>
                </a:lnTo>
                <a:cubicBezTo>
                  <a:pt x="2456413" y="0"/>
                  <a:pt x="2501900" y="45487"/>
                  <a:pt x="2501900" y="101599"/>
                </a:cubicBezTo>
                <a:lnTo>
                  <a:pt x="2501900" y="812801"/>
                </a:lnTo>
                <a:cubicBezTo>
                  <a:pt x="2501900" y="868913"/>
                  <a:pt x="2456413" y="914400"/>
                  <a:pt x="2400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3017500" y="4152900"/>
            <a:ext cx="2324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PB级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36550" y="45085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63150" y="5543550"/>
            <a:ext cx="5778500" cy="2222500"/>
          </a:xfrm>
          <a:custGeom>
            <a:avLst/>
            <a:gdLst/>
            <a:ahLst/>
            <a:cxnLst/>
            <a:rect l="l" t="t" r="r" b="b"/>
            <a:pathLst>
              <a:path w="5778500" h="2222500">
                <a:moveTo>
                  <a:pt x="203203" y="0"/>
                </a:moveTo>
                <a:lnTo>
                  <a:pt x="5575297" y="0"/>
                </a:lnTo>
                <a:cubicBezTo>
                  <a:pt x="5687523" y="0"/>
                  <a:pt x="5778500" y="90977"/>
                  <a:pt x="5778500" y="203203"/>
                </a:cubicBezTo>
                <a:lnTo>
                  <a:pt x="5778500" y="2019297"/>
                </a:lnTo>
                <a:cubicBezTo>
                  <a:pt x="5778500" y="2131523"/>
                  <a:pt x="5687523" y="2222500"/>
                  <a:pt x="5575297" y="2222500"/>
                </a:cubicBezTo>
                <a:lnTo>
                  <a:pt x="203203" y="2222500"/>
                </a:lnTo>
                <a:cubicBezTo>
                  <a:pt x="90977" y="2222500"/>
                  <a:pt x="0" y="2131523"/>
                  <a:pt x="0" y="2019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3350" y="5905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5F8CA3"/>
          </a:solidFill>
        </p:spPr>
      </p:sp>
      <p:sp>
        <p:nvSpPr>
          <p:cNvPr id="24" name="Text 22"/>
          <p:cNvSpPr/>
          <p:nvPr/>
        </p:nvSpPr>
        <p:spPr>
          <a:xfrm>
            <a:off x="10655300" y="5854700"/>
            <a:ext cx="4927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全局优化能力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74300" y="6464300"/>
            <a:ext cx="5257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深度学习网络能够在高维参数空间中寻找最优解，避免了传统方法中简化和近似带来的误差积累。这种端到端的学习方式使得预测结果更加精确可靠。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63150" y="8083550"/>
            <a:ext cx="5778500" cy="977900"/>
          </a:xfrm>
          <a:custGeom>
            <a:avLst/>
            <a:gdLst/>
            <a:ahLst/>
            <a:cxnLst/>
            <a:rect l="l" t="t" r="r" b="b"/>
            <a:pathLst>
              <a:path w="5778500" h="977900">
                <a:moveTo>
                  <a:pt x="152396" y="0"/>
                </a:moveTo>
                <a:lnTo>
                  <a:pt x="5626104" y="0"/>
                </a:lnTo>
                <a:cubicBezTo>
                  <a:pt x="5710270" y="0"/>
                  <a:pt x="5778500" y="68230"/>
                  <a:pt x="5778500" y="152396"/>
                </a:cubicBezTo>
                <a:lnTo>
                  <a:pt x="5778500" y="825504"/>
                </a:lnTo>
                <a:cubicBezTo>
                  <a:pt x="5778500" y="909670"/>
                  <a:pt x="5710270" y="977900"/>
                  <a:pt x="5626104" y="977900"/>
                </a:cubicBezTo>
                <a:lnTo>
                  <a:pt x="152396" y="977900"/>
                </a:lnTo>
                <a:cubicBezTo>
                  <a:pt x="68286" y="977900"/>
                  <a:pt x="0" y="909614"/>
                  <a:pt x="0" y="8255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8FBC8F">
              <a:alpha val="10196"/>
            </a:srgbClr>
          </a:soli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20325" y="8445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1989" y="-12849"/>
                </a:moveTo>
                <a:cubicBezTo>
                  <a:pt x="115342" y="-16917"/>
                  <a:pt x="106958" y="-16917"/>
                  <a:pt x="100310" y="-12849"/>
                </a:cubicBezTo>
                <a:cubicBezTo>
                  <a:pt x="88205" y="-5457"/>
                  <a:pt x="80714" y="-3473"/>
                  <a:pt x="66526" y="-3770"/>
                </a:cubicBezTo>
                <a:cubicBezTo>
                  <a:pt x="58737" y="-3969"/>
                  <a:pt x="51495" y="248"/>
                  <a:pt x="47724" y="7094"/>
                </a:cubicBezTo>
                <a:cubicBezTo>
                  <a:pt x="40928" y="19546"/>
                  <a:pt x="35421" y="25053"/>
                  <a:pt x="22969" y="31849"/>
                </a:cubicBezTo>
                <a:cubicBezTo>
                  <a:pt x="16123" y="35570"/>
                  <a:pt x="11956" y="42863"/>
                  <a:pt x="12105" y="50651"/>
                </a:cubicBezTo>
                <a:cubicBezTo>
                  <a:pt x="12452" y="64839"/>
                  <a:pt x="10418" y="72330"/>
                  <a:pt x="3026" y="84435"/>
                </a:cubicBezTo>
                <a:cubicBezTo>
                  <a:pt x="-1042" y="91083"/>
                  <a:pt x="-1042" y="99467"/>
                  <a:pt x="3026" y="106114"/>
                </a:cubicBezTo>
                <a:cubicBezTo>
                  <a:pt x="10418" y="118219"/>
                  <a:pt x="12402" y="125710"/>
                  <a:pt x="12105" y="139898"/>
                </a:cubicBezTo>
                <a:cubicBezTo>
                  <a:pt x="11906" y="147687"/>
                  <a:pt x="16123" y="154930"/>
                  <a:pt x="22969" y="158700"/>
                </a:cubicBezTo>
                <a:cubicBezTo>
                  <a:pt x="33933" y="164703"/>
                  <a:pt x="39489" y="169664"/>
                  <a:pt x="45343" y="179288"/>
                </a:cubicBezTo>
                <a:lnTo>
                  <a:pt x="21183" y="227459"/>
                </a:lnTo>
                <a:cubicBezTo>
                  <a:pt x="18256" y="233362"/>
                  <a:pt x="20638" y="240506"/>
                  <a:pt x="26491" y="243433"/>
                </a:cubicBezTo>
                <a:lnTo>
                  <a:pt x="69155" y="264765"/>
                </a:lnTo>
                <a:cubicBezTo>
                  <a:pt x="74861" y="267593"/>
                  <a:pt x="81806" y="265460"/>
                  <a:pt x="84882" y="259904"/>
                </a:cubicBezTo>
                <a:lnTo>
                  <a:pt x="111075" y="212725"/>
                </a:lnTo>
                <a:lnTo>
                  <a:pt x="137269" y="259904"/>
                </a:lnTo>
                <a:cubicBezTo>
                  <a:pt x="140345" y="265460"/>
                  <a:pt x="147290" y="267643"/>
                  <a:pt x="152995" y="264765"/>
                </a:cubicBezTo>
                <a:lnTo>
                  <a:pt x="195659" y="243433"/>
                </a:lnTo>
                <a:cubicBezTo>
                  <a:pt x="201563" y="240506"/>
                  <a:pt x="203944" y="233363"/>
                  <a:pt x="200968" y="227459"/>
                </a:cubicBezTo>
                <a:lnTo>
                  <a:pt x="176857" y="179239"/>
                </a:lnTo>
                <a:cubicBezTo>
                  <a:pt x="182662" y="169614"/>
                  <a:pt x="188268" y="164654"/>
                  <a:pt x="199231" y="158651"/>
                </a:cubicBezTo>
                <a:cubicBezTo>
                  <a:pt x="206077" y="154930"/>
                  <a:pt x="210245" y="147638"/>
                  <a:pt x="210096" y="139849"/>
                </a:cubicBezTo>
                <a:cubicBezTo>
                  <a:pt x="209748" y="125661"/>
                  <a:pt x="211782" y="118170"/>
                  <a:pt x="219174" y="106065"/>
                </a:cubicBezTo>
                <a:cubicBezTo>
                  <a:pt x="223242" y="99417"/>
                  <a:pt x="223242" y="91033"/>
                  <a:pt x="219174" y="84386"/>
                </a:cubicBezTo>
                <a:cubicBezTo>
                  <a:pt x="211782" y="72281"/>
                  <a:pt x="209798" y="64790"/>
                  <a:pt x="210096" y="50602"/>
                </a:cubicBezTo>
                <a:cubicBezTo>
                  <a:pt x="210294" y="42813"/>
                  <a:pt x="206077" y="35570"/>
                  <a:pt x="199231" y="31800"/>
                </a:cubicBezTo>
                <a:cubicBezTo>
                  <a:pt x="186779" y="25003"/>
                  <a:pt x="181273" y="19496"/>
                  <a:pt x="174476" y="7045"/>
                </a:cubicBezTo>
                <a:cubicBezTo>
                  <a:pt x="170755" y="198"/>
                  <a:pt x="163463" y="-3969"/>
                  <a:pt x="155674" y="-3820"/>
                </a:cubicBezTo>
                <a:cubicBezTo>
                  <a:pt x="141486" y="-3473"/>
                  <a:pt x="133995" y="-5507"/>
                  <a:pt x="121890" y="-12898"/>
                </a:cubicBezTo>
                <a:close/>
                <a:moveTo>
                  <a:pt x="111125" y="47625"/>
                </a:moveTo>
                <a:cubicBezTo>
                  <a:pt x="137410" y="47625"/>
                  <a:pt x="158750" y="68965"/>
                  <a:pt x="158750" y="95250"/>
                </a:cubicBezTo>
                <a:cubicBezTo>
                  <a:pt x="158750" y="121535"/>
                  <a:pt x="137410" y="142875"/>
                  <a:pt x="111125" y="142875"/>
                </a:cubicBezTo>
                <a:cubicBezTo>
                  <a:pt x="84840" y="142875"/>
                  <a:pt x="63500" y="121535"/>
                  <a:pt x="63500" y="95250"/>
                </a:cubicBezTo>
                <a:cubicBezTo>
                  <a:pt x="63500" y="68965"/>
                  <a:pt x="84840" y="47625"/>
                  <a:pt x="111125" y="47625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8" name="Text 26"/>
          <p:cNvSpPr/>
          <p:nvPr/>
        </p:nvSpPr>
        <p:spPr>
          <a:xfrm>
            <a:off x="10642600" y="8293100"/>
            <a:ext cx="259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国际权威评估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42600" y="8597900"/>
            <a:ext cx="257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欧洲中期天气预报中心验证结果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响应速度更快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7454900" cy="3441700"/>
          </a:xfrm>
          <a:custGeom>
            <a:avLst/>
            <a:gdLst/>
            <a:ahLst/>
            <a:cxnLst/>
            <a:rect l="l" t="t" r="r" b="b"/>
            <a:pathLst>
              <a:path w="7454900" h="3441700">
                <a:moveTo>
                  <a:pt x="203198" y="0"/>
                </a:moveTo>
                <a:lnTo>
                  <a:pt x="7251702" y="0"/>
                </a:lnTo>
                <a:cubicBezTo>
                  <a:pt x="7363925" y="0"/>
                  <a:pt x="7454900" y="90975"/>
                  <a:pt x="7454900" y="203198"/>
                </a:cubicBezTo>
                <a:lnTo>
                  <a:pt x="7454900" y="3238502"/>
                </a:lnTo>
                <a:cubicBezTo>
                  <a:pt x="7454900" y="3350725"/>
                  <a:pt x="7363925" y="3441700"/>
                  <a:pt x="7251702" y="3441700"/>
                </a:cubicBezTo>
                <a:lnTo>
                  <a:pt x="203198" y="3441700"/>
                </a:lnTo>
                <a:cubicBezTo>
                  <a:pt x="90975" y="3441700"/>
                  <a:pt x="0" y="3350725"/>
                  <a:pt x="0" y="32385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68388" y="2413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841500" y="2273300"/>
            <a:ext cx="2108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实时数据处理能力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41500" y="29337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3263900"/>
            <a:ext cx="6934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AI模型一旦训练完成，就可以实现"分钟级"更新的全球预报。这种近乎实时的响应能力彻底改变了天气预报的时效性 paradigm。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1850" y="4133850"/>
            <a:ext cx="6819900" cy="876300"/>
          </a:xfrm>
          <a:custGeom>
            <a:avLst/>
            <a:gdLst/>
            <a:ahLst/>
            <a:cxnLst/>
            <a:rect l="l" t="t" r="r" b="b"/>
            <a:pathLst>
              <a:path w="6819900" h="876300">
                <a:moveTo>
                  <a:pt x="152397" y="0"/>
                </a:moveTo>
                <a:lnTo>
                  <a:pt x="6667503" y="0"/>
                </a:lnTo>
                <a:cubicBezTo>
                  <a:pt x="6751669" y="0"/>
                  <a:pt x="6819900" y="68231"/>
                  <a:pt x="6819900" y="152397"/>
                </a:cubicBezTo>
                <a:lnTo>
                  <a:pt x="6819900" y="723903"/>
                </a:lnTo>
                <a:cubicBezTo>
                  <a:pt x="6819900" y="808069"/>
                  <a:pt x="6751669" y="876300"/>
                  <a:pt x="66675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8FBC8F">
              <a:alpha val="10196"/>
            </a:srgbClr>
          </a:soli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1400" y="44196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更新频率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87720" y="4343400"/>
            <a:ext cx="17449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6750" y="1885950"/>
            <a:ext cx="7454900" cy="3441700"/>
          </a:xfrm>
          <a:custGeom>
            <a:avLst/>
            <a:gdLst/>
            <a:ahLst/>
            <a:cxnLst/>
            <a:rect l="l" t="t" r="r" b="b"/>
            <a:pathLst>
              <a:path w="7454900" h="3441700">
                <a:moveTo>
                  <a:pt x="203198" y="0"/>
                </a:moveTo>
                <a:lnTo>
                  <a:pt x="7251702" y="0"/>
                </a:lnTo>
                <a:cubicBezTo>
                  <a:pt x="7363925" y="0"/>
                  <a:pt x="7454900" y="90975"/>
                  <a:pt x="7454900" y="203198"/>
                </a:cubicBezTo>
                <a:lnTo>
                  <a:pt x="7454900" y="3238502"/>
                </a:lnTo>
                <a:cubicBezTo>
                  <a:pt x="7454900" y="3350725"/>
                  <a:pt x="7363925" y="3441700"/>
                  <a:pt x="7251702" y="3441700"/>
                </a:cubicBezTo>
                <a:lnTo>
                  <a:pt x="203198" y="3441700"/>
                </a:lnTo>
                <a:cubicBezTo>
                  <a:pt x="90975" y="3441700"/>
                  <a:pt x="0" y="3350725"/>
                  <a:pt x="0" y="32385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79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840788" y="2413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17" name="Text 15"/>
          <p:cNvSpPr/>
          <p:nvPr/>
        </p:nvSpPr>
        <p:spPr>
          <a:xfrm>
            <a:off x="9613900" y="2273300"/>
            <a:ext cx="1943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分布式计算架构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77400" y="2925445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Distributed Computing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7900" y="3263900"/>
            <a:ext cx="6934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中国气象局AI预报系统采用分布式GPU集群，单小时可完成10万次模式运算，比超级计算机提速3倍以上。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04250" y="4133850"/>
            <a:ext cx="6819900" cy="876300"/>
          </a:xfrm>
          <a:custGeom>
            <a:avLst/>
            <a:gdLst/>
            <a:ahLst/>
            <a:cxnLst/>
            <a:rect l="l" t="t" r="r" b="b"/>
            <a:pathLst>
              <a:path w="6819900" h="876300">
                <a:moveTo>
                  <a:pt x="152397" y="0"/>
                </a:moveTo>
                <a:lnTo>
                  <a:pt x="6667503" y="0"/>
                </a:lnTo>
                <a:cubicBezTo>
                  <a:pt x="6751669" y="0"/>
                  <a:pt x="6819900" y="68231"/>
                  <a:pt x="6819900" y="152397"/>
                </a:cubicBezTo>
                <a:lnTo>
                  <a:pt x="6819900" y="723903"/>
                </a:lnTo>
                <a:cubicBezTo>
                  <a:pt x="6819900" y="808069"/>
                  <a:pt x="6751669" y="876300"/>
                  <a:pt x="66675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3C6E9E">
              <a:alpha val="10196"/>
            </a:srgbClr>
          </a:soli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13800" y="44196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计算提速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721483" y="43434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C6E9E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3x+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4350" y="5645150"/>
            <a:ext cx="4902200" cy="1993900"/>
          </a:xfrm>
          <a:custGeom>
            <a:avLst/>
            <a:gdLst/>
            <a:ahLst/>
            <a:cxnLst/>
            <a:rect l="l" t="t" r="r" b="b"/>
            <a:pathLst>
              <a:path w="4902200" h="1993900">
                <a:moveTo>
                  <a:pt x="152394" y="0"/>
                </a:moveTo>
                <a:lnTo>
                  <a:pt x="4749806" y="0"/>
                </a:lnTo>
                <a:cubicBezTo>
                  <a:pt x="4833971" y="0"/>
                  <a:pt x="4902200" y="68229"/>
                  <a:pt x="4902200" y="152394"/>
                </a:cubicBezTo>
                <a:lnTo>
                  <a:pt x="4902200" y="1841506"/>
                </a:lnTo>
                <a:cubicBezTo>
                  <a:pt x="4902200" y="1925671"/>
                  <a:pt x="4833971" y="1993900"/>
                  <a:pt x="4749806" y="1993900"/>
                </a:cubicBezTo>
                <a:lnTo>
                  <a:pt x="152394" y="1993900"/>
                </a:lnTo>
                <a:cubicBezTo>
                  <a:pt x="68229" y="1993900"/>
                  <a:pt x="0" y="1925671"/>
                  <a:pt x="0" y="1841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4667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5" name="Text 23"/>
          <p:cNvSpPr/>
          <p:nvPr/>
        </p:nvSpPr>
        <p:spPr>
          <a:xfrm>
            <a:off x="679450" y="65151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1小时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" y="7073900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10万次模式运算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78884" y="5645150"/>
            <a:ext cx="4902200" cy="1993900"/>
          </a:xfrm>
          <a:custGeom>
            <a:avLst/>
            <a:gdLst/>
            <a:ahLst/>
            <a:cxnLst/>
            <a:rect l="l" t="t" r="r" b="b"/>
            <a:pathLst>
              <a:path w="4902200" h="1993900">
                <a:moveTo>
                  <a:pt x="152394" y="0"/>
                </a:moveTo>
                <a:lnTo>
                  <a:pt x="4749806" y="0"/>
                </a:lnTo>
                <a:cubicBezTo>
                  <a:pt x="4833971" y="0"/>
                  <a:pt x="4902200" y="68229"/>
                  <a:pt x="4902200" y="152394"/>
                </a:cubicBezTo>
                <a:lnTo>
                  <a:pt x="4902200" y="1841506"/>
                </a:lnTo>
                <a:cubicBezTo>
                  <a:pt x="4902200" y="1925671"/>
                  <a:pt x="4833971" y="1993900"/>
                  <a:pt x="4749806" y="1993900"/>
                </a:cubicBezTo>
                <a:lnTo>
                  <a:pt x="152394" y="1993900"/>
                </a:lnTo>
                <a:cubicBezTo>
                  <a:pt x="68229" y="1993900"/>
                  <a:pt x="0" y="1925671"/>
                  <a:pt x="0" y="1841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99202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3C6E9E"/>
          </a:solidFill>
        </p:spPr>
      </p:sp>
      <p:sp>
        <p:nvSpPr>
          <p:cNvPr id="29" name="Text 27"/>
          <p:cNvSpPr/>
          <p:nvPr/>
        </p:nvSpPr>
        <p:spPr>
          <a:xfrm>
            <a:off x="5843984" y="65151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GPU集群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88434" y="7073900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分布式并行计算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43617" y="5645150"/>
            <a:ext cx="4902200" cy="1993900"/>
          </a:xfrm>
          <a:custGeom>
            <a:avLst/>
            <a:gdLst/>
            <a:ahLst/>
            <a:cxnLst/>
            <a:rect l="l" t="t" r="r" b="b"/>
            <a:pathLst>
              <a:path w="4902200" h="1993900">
                <a:moveTo>
                  <a:pt x="152394" y="0"/>
                </a:moveTo>
                <a:lnTo>
                  <a:pt x="4749806" y="0"/>
                </a:lnTo>
                <a:cubicBezTo>
                  <a:pt x="4833971" y="0"/>
                  <a:pt x="4902200" y="68229"/>
                  <a:pt x="4902200" y="152394"/>
                </a:cubicBezTo>
                <a:lnTo>
                  <a:pt x="4902200" y="1841506"/>
                </a:lnTo>
                <a:cubicBezTo>
                  <a:pt x="4902200" y="1925671"/>
                  <a:pt x="4833971" y="1993900"/>
                  <a:pt x="4749806" y="1993900"/>
                </a:cubicBezTo>
                <a:lnTo>
                  <a:pt x="152394" y="1993900"/>
                </a:lnTo>
                <a:cubicBezTo>
                  <a:pt x="68229" y="1993900"/>
                  <a:pt x="0" y="1925671"/>
                  <a:pt x="0" y="1841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063934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5F8CA3"/>
          </a:solidFill>
        </p:spPr>
      </p:sp>
      <p:sp>
        <p:nvSpPr>
          <p:cNvPr id="33" name="Text 31"/>
          <p:cNvSpPr/>
          <p:nvPr/>
        </p:nvSpPr>
        <p:spPr>
          <a:xfrm>
            <a:off x="11008717" y="65151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指数级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53167" y="7073900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广泛的可及性与应用潜力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287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19050"/>
                </a:moveTo>
                <a:cubicBezTo>
                  <a:pt x="171450" y="29587"/>
                  <a:pt x="179963" y="38100"/>
                  <a:pt x="190500" y="38100"/>
                </a:cubicBezTo>
                <a:lnTo>
                  <a:pt x="214313" y="38100"/>
                </a:lnTo>
                <a:cubicBezTo>
                  <a:pt x="222230" y="38100"/>
                  <a:pt x="228600" y="44470"/>
                  <a:pt x="228600" y="52388"/>
                </a:cubicBezTo>
                <a:cubicBezTo>
                  <a:pt x="228600" y="60305"/>
                  <a:pt x="222230" y="66675"/>
                  <a:pt x="214313" y="66675"/>
                </a:cubicBezTo>
                <a:lnTo>
                  <a:pt x="19050" y="66675"/>
                </a:lnTo>
                <a:cubicBezTo>
                  <a:pt x="8513" y="66675"/>
                  <a:pt x="0" y="75188"/>
                  <a:pt x="0" y="85725"/>
                </a:cubicBezTo>
                <a:cubicBezTo>
                  <a:pt x="0" y="96262"/>
                  <a:pt x="8513" y="104775"/>
                  <a:pt x="19050" y="104775"/>
                </a:cubicBezTo>
                <a:lnTo>
                  <a:pt x="214313" y="104775"/>
                </a:lnTo>
                <a:cubicBezTo>
                  <a:pt x="243245" y="104775"/>
                  <a:pt x="266700" y="81320"/>
                  <a:pt x="266700" y="52388"/>
                </a:cubicBezTo>
                <a:cubicBezTo>
                  <a:pt x="266700" y="23455"/>
                  <a:pt x="243245" y="0"/>
                  <a:pt x="214313" y="0"/>
                </a:cubicBezTo>
                <a:lnTo>
                  <a:pt x="190500" y="0"/>
                </a:lnTo>
                <a:cubicBezTo>
                  <a:pt x="179963" y="0"/>
                  <a:pt x="171450" y="8513"/>
                  <a:pt x="171450" y="19050"/>
                </a:cubicBezTo>
                <a:close/>
                <a:moveTo>
                  <a:pt x="209550" y="228600"/>
                </a:moveTo>
                <a:cubicBezTo>
                  <a:pt x="209550" y="239137"/>
                  <a:pt x="218063" y="247650"/>
                  <a:pt x="228600" y="247650"/>
                </a:cubicBezTo>
                <a:lnTo>
                  <a:pt x="247650" y="247650"/>
                </a:lnTo>
                <a:cubicBezTo>
                  <a:pt x="279202" y="247650"/>
                  <a:pt x="304800" y="222052"/>
                  <a:pt x="304800" y="190500"/>
                </a:cubicBezTo>
                <a:cubicBezTo>
                  <a:pt x="304800" y="158948"/>
                  <a:pt x="279202" y="133350"/>
                  <a:pt x="247650" y="133350"/>
                </a:cubicBez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228600" y="209550"/>
                </a:lnTo>
                <a:cubicBezTo>
                  <a:pt x="218063" y="209550"/>
                  <a:pt x="209550" y="218063"/>
                  <a:pt x="209550" y="228600"/>
                </a:cubicBezTo>
                <a:close/>
                <a:moveTo>
                  <a:pt x="76200" y="304800"/>
                </a:moveTo>
                <a:lnTo>
                  <a:pt x="100013" y="304800"/>
                </a:lnTo>
                <a:cubicBezTo>
                  <a:pt x="128945" y="304800"/>
                  <a:pt x="152400" y="281345"/>
                  <a:pt x="152400" y="252413"/>
                </a:cubicBezTo>
                <a:cubicBezTo>
                  <a:pt x="152400" y="223480"/>
                  <a:pt x="128945" y="200025"/>
                  <a:pt x="100013" y="200025"/>
                </a:cubicBezTo>
                <a:lnTo>
                  <a:pt x="19050" y="200025"/>
                </a:lnTo>
                <a:cubicBezTo>
                  <a:pt x="8513" y="200025"/>
                  <a:pt x="0" y="208538"/>
                  <a:pt x="0" y="219075"/>
                </a:cubicBezTo>
                <a:cubicBezTo>
                  <a:pt x="0" y="229612"/>
                  <a:pt x="8513" y="238125"/>
                  <a:pt x="19050" y="238125"/>
                </a:cubicBezTo>
                <a:lnTo>
                  <a:pt x="100013" y="238125"/>
                </a:lnTo>
                <a:cubicBezTo>
                  <a:pt x="107930" y="238125"/>
                  <a:pt x="114300" y="244495"/>
                  <a:pt x="114300" y="252413"/>
                </a:cubicBezTo>
                <a:cubicBezTo>
                  <a:pt x="114300" y="260330"/>
                  <a:pt x="107930" y="266700"/>
                  <a:pt x="100013" y="266700"/>
                </a:cubicBezTo>
                <a:lnTo>
                  <a:pt x="76200" y="266700"/>
                </a:lnTo>
                <a:cubicBezTo>
                  <a:pt x="65663" y="266700"/>
                  <a:pt x="57150" y="275213"/>
                  <a:pt x="57150" y="285750"/>
                </a:cubicBezTo>
                <a:cubicBezTo>
                  <a:pt x="57150" y="296287"/>
                  <a:pt x="65663" y="304800"/>
                  <a:pt x="76200" y="30480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689100" y="2374900"/>
            <a:ext cx="93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风电预测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为风电场提供精准的发电量预测，优化电网调度，提高可再生能源利用率，降低能源浪费。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78884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90034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193234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9050"/>
                </a:moveTo>
                <a:cubicBezTo>
                  <a:pt x="304800" y="83403"/>
                  <a:pt x="259199" y="137100"/>
                  <a:pt x="198596" y="149662"/>
                </a:cubicBezTo>
                <a:cubicBezTo>
                  <a:pt x="193893" y="115074"/>
                  <a:pt x="178356" y="83939"/>
                  <a:pt x="155436" y="59829"/>
                </a:cubicBezTo>
                <a:cubicBezTo>
                  <a:pt x="179308" y="23813"/>
                  <a:pt x="220206" y="0"/>
                  <a:pt x="266700" y="0"/>
                </a:cubicBezTo>
                <a:lnTo>
                  <a:pt x="285750" y="0"/>
                </a:lnTo>
                <a:cubicBezTo>
                  <a:pt x="296287" y="0"/>
                  <a:pt x="304800" y="8513"/>
                  <a:pt x="304800" y="19050"/>
                </a:cubicBezTo>
                <a:close/>
                <a:moveTo>
                  <a:pt x="0" y="57150"/>
                </a:moveTo>
                <a:cubicBezTo>
                  <a:pt x="0" y="46613"/>
                  <a:pt x="8513" y="38100"/>
                  <a:pt x="19050" y="38100"/>
                </a:cubicBezTo>
                <a:lnTo>
                  <a:pt x="38100" y="38100"/>
                </a:lnTo>
                <a:cubicBezTo>
                  <a:pt x="111740" y="38100"/>
                  <a:pt x="171450" y="97810"/>
                  <a:pt x="171450" y="171450"/>
                </a:cubicBezTo>
                <a:lnTo>
                  <a:pt x="171450" y="285750"/>
                </a:lnTo>
                <a:cubicBezTo>
                  <a:pt x="171450" y="296287"/>
                  <a:pt x="162937" y="304800"/>
                  <a:pt x="152400" y="304800"/>
                </a:cubicBezTo>
                <a:cubicBezTo>
                  <a:pt x="141863" y="304800"/>
                  <a:pt x="133350" y="296287"/>
                  <a:pt x="133350" y="285750"/>
                </a:cubicBezTo>
                <a:lnTo>
                  <a:pt x="133350" y="190500"/>
                </a:lnTo>
                <a:cubicBezTo>
                  <a:pt x="59710" y="190500"/>
                  <a:pt x="0" y="130790"/>
                  <a:pt x="0" y="5715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13" name="Text 11"/>
          <p:cNvSpPr/>
          <p:nvPr/>
        </p:nvSpPr>
        <p:spPr>
          <a:xfrm>
            <a:off x="6853634" y="2374900"/>
            <a:ext cx="93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农业预警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90034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为农业生产提供灾害预警，包括霜冻、干旱、暴雨等极端天气，帮助农民提前采取防护措施。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843617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4767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1338917" y="2400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1456" y="85665"/>
                </a:moveTo>
                <a:lnTo>
                  <a:pt x="102810" y="23932"/>
                </a:lnTo>
                <a:cubicBezTo>
                  <a:pt x="98048" y="21491"/>
                  <a:pt x="92512" y="21074"/>
                  <a:pt x="87511" y="22920"/>
                </a:cubicBezTo>
                <a:lnTo>
                  <a:pt x="63044" y="31849"/>
                </a:lnTo>
                <a:cubicBezTo>
                  <a:pt x="56912" y="34052"/>
                  <a:pt x="54828" y="41612"/>
                  <a:pt x="58817" y="46732"/>
                </a:cubicBezTo>
                <a:lnTo>
                  <a:pt x="119241" y="122873"/>
                </a:lnTo>
                <a:lnTo>
                  <a:pt x="59591" y="144542"/>
                </a:lnTo>
                <a:lnTo>
                  <a:pt x="23813" y="122753"/>
                </a:lnTo>
                <a:cubicBezTo>
                  <a:pt x="20122" y="120491"/>
                  <a:pt x="15597" y="120075"/>
                  <a:pt x="11490" y="121503"/>
                </a:cubicBezTo>
                <a:lnTo>
                  <a:pt x="1786" y="125075"/>
                </a:lnTo>
                <a:cubicBezTo>
                  <a:pt x="-3810" y="127099"/>
                  <a:pt x="-6191" y="133707"/>
                  <a:pt x="-3155" y="138827"/>
                </a:cubicBezTo>
                <a:lnTo>
                  <a:pt x="28754" y="193477"/>
                </a:lnTo>
                <a:cubicBezTo>
                  <a:pt x="38040" y="209371"/>
                  <a:pt x="57388" y="216337"/>
                  <a:pt x="74652" y="210026"/>
                </a:cubicBezTo>
                <a:lnTo>
                  <a:pt x="82332" y="207228"/>
                </a:lnTo>
                <a:lnTo>
                  <a:pt x="82332" y="207228"/>
                </a:lnTo>
                <a:lnTo>
                  <a:pt x="319504" y="120908"/>
                </a:lnTo>
                <a:cubicBezTo>
                  <a:pt x="336828" y="114598"/>
                  <a:pt x="345698" y="95488"/>
                  <a:pt x="339447" y="78165"/>
                </a:cubicBezTo>
                <a:cubicBezTo>
                  <a:pt x="333196" y="60841"/>
                  <a:pt x="314027" y="51971"/>
                  <a:pt x="296704" y="58222"/>
                </a:cubicBezTo>
                <a:lnTo>
                  <a:pt x="221456" y="85665"/>
                </a:lnTo>
                <a:close/>
                <a:moveTo>
                  <a:pt x="19169" y="266700"/>
                </a:moveTo>
                <a:cubicBezTo>
                  <a:pt x="8632" y="266700"/>
                  <a:pt x="119" y="275213"/>
                  <a:pt x="119" y="285750"/>
                </a:cubicBezTo>
                <a:cubicBezTo>
                  <a:pt x="119" y="296287"/>
                  <a:pt x="8632" y="304800"/>
                  <a:pt x="19169" y="304800"/>
                </a:cubicBezTo>
                <a:lnTo>
                  <a:pt x="323969" y="304800"/>
                </a:lnTo>
                <a:cubicBezTo>
                  <a:pt x="334506" y="304800"/>
                  <a:pt x="343019" y="296287"/>
                  <a:pt x="343019" y="285750"/>
                </a:cubicBezTo>
                <a:cubicBezTo>
                  <a:pt x="343019" y="275213"/>
                  <a:pt x="334506" y="266700"/>
                  <a:pt x="323969" y="266700"/>
                </a:cubicBezTo>
                <a:lnTo>
                  <a:pt x="19169" y="26670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18" name="Text 16"/>
          <p:cNvSpPr/>
          <p:nvPr/>
        </p:nvSpPr>
        <p:spPr>
          <a:xfrm>
            <a:off x="12018367" y="2374900"/>
            <a:ext cx="93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物流优化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4767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为航空、航海、公路运输提供航线优化预报，降低延误风险，提高物流效率和安全性。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4350" y="44005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750" y="47625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80962" y="14288"/>
                </a:moveTo>
                <a:cubicBezTo>
                  <a:pt x="80962" y="6370"/>
                  <a:pt x="87332" y="0"/>
                  <a:pt x="95250" y="0"/>
                </a:cubicBezTo>
                <a:cubicBezTo>
                  <a:pt x="103168" y="0"/>
                  <a:pt x="109537" y="6370"/>
                  <a:pt x="109537" y="14288"/>
                </a:cubicBezTo>
                <a:lnTo>
                  <a:pt x="109537" y="38100"/>
                </a:lnTo>
                <a:lnTo>
                  <a:pt x="142875" y="38100"/>
                </a:lnTo>
                <a:cubicBezTo>
                  <a:pt x="153412" y="38100"/>
                  <a:pt x="161925" y="46613"/>
                  <a:pt x="161925" y="57150"/>
                </a:cubicBezTo>
                <a:cubicBezTo>
                  <a:pt x="161925" y="67687"/>
                  <a:pt x="153412" y="76200"/>
                  <a:pt x="142875" y="76200"/>
                </a:cubicBezTo>
                <a:lnTo>
                  <a:pt x="74474" y="76200"/>
                </a:lnTo>
                <a:cubicBezTo>
                  <a:pt x="59650" y="76200"/>
                  <a:pt x="47625" y="88225"/>
                  <a:pt x="47625" y="103049"/>
                </a:cubicBezTo>
                <a:cubicBezTo>
                  <a:pt x="47625" y="116443"/>
                  <a:pt x="57448" y="127754"/>
                  <a:pt x="70664" y="129659"/>
                </a:cubicBezTo>
                <a:lnTo>
                  <a:pt x="125194" y="137458"/>
                </a:lnTo>
                <a:cubicBezTo>
                  <a:pt x="157222" y="142042"/>
                  <a:pt x="180975" y="169426"/>
                  <a:pt x="180975" y="201751"/>
                </a:cubicBezTo>
                <a:cubicBezTo>
                  <a:pt x="180975" y="237649"/>
                  <a:pt x="151864" y="266700"/>
                  <a:pt x="116026" y="266700"/>
                </a:cubicBezTo>
                <a:lnTo>
                  <a:pt x="109537" y="266700"/>
                </a:lnTo>
                <a:lnTo>
                  <a:pt x="109537" y="290513"/>
                </a:lnTo>
                <a:cubicBezTo>
                  <a:pt x="109537" y="298430"/>
                  <a:pt x="103168" y="304800"/>
                  <a:pt x="95250" y="304800"/>
                </a:cubicBezTo>
                <a:cubicBezTo>
                  <a:pt x="87332" y="304800"/>
                  <a:pt x="80962" y="298430"/>
                  <a:pt x="80962" y="290513"/>
                </a:cubicBezTo>
                <a:lnTo>
                  <a:pt x="80962" y="266700"/>
                </a:lnTo>
                <a:lnTo>
                  <a:pt x="38100" y="266700"/>
                </a:lnTo>
                <a:cubicBezTo>
                  <a:pt x="27563" y="266700"/>
                  <a:pt x="19050" y="258187"/>
                  <a:pt x="19050" y="247650"/>
                </a:cubicBezTo>
                <a:cubicBezTo>
                  <a:pt x="19050" y="237113"/>
                  <a:pt x="27563" y="228600"/>
                  <a:pt x="38100" y="228600"/>
                </a:cubicBezTo>
                <a:lnTo>
                  <a:pt x="116026" y="228600"/>
                </a:lnTo>
                <a:cubicBezTo>
                  <a:pt x="130850" y="228600"/>
                  <a:pt x="142875" y="216575"/>
                  <a:pt x="142875" y="201751"/>
                </a:cubicBezTo>
                <a:cubicBezTo>
                  <a:pt x="142875" y="188357"/>
                  <a:pt x="133052" y="177046"/>
                  <a:pt x="119836" y="175141"/>
                </a:cubicBezTo>
                <a:lnTo>
                  <a:pt x="65306" y="167342"/>
                </a:lnTo>
                <a:cubicBezTo>
                  <a:pt x="33278" y="162818"/>
                  <a:pt x="9525" y="135374"/>
                  <a:pt x="9525" y="103049"/>
                </a:cubicBezTo>
                <a:cubicBezTo>
                  <a:pt x="9525" y="67211"/>
                  <a:pt x="38636" y="38100"/>
                  <a:pt x="74474" y="38100"/>
                </a:cubicBezTo>
                <a:lnTo>
                  <a:pt x="80962" y="38100"/>
                </a:lnTo>
                <a:lnTo>
                  <a:pt x="80962" y="14288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22" name="Text 20"/>
          <p:cNvSpPr/>
          <p:nvPr/>
        </p:nvSpPr>
        <p:spPr>
          <a:xfrm>
            <a:off x="1206500" y="47117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大幅度降低成本和消耗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5500" y="53213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AI天气预测系统相比传统超级计算机集群，在硬件投入、能耗和维护成本方面具有显著优势。GPU集群的能效比远超CPU超算，使得大规模预报服务的门槛大幅降低。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86750" y="44005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6000" y="476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3C6E9E"/>
          </a:solidFill>
        </p:spPr>
      </p:sp>
      <p:sp>
        <p:nvSpPr>
          <p:cNvPr id="26" name="Text 24"/>
          <p:cNvSpPr/>
          <p:nvPr/>
        </p:nvSpPr>
        <p:spPr>
          <a:xfrm>
            <a:off x="8978900" y="47117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加速科学发现与模式改进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7900" y="53213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AI模型的可解释性分析帮助科学家发现新的气象规律和物理过程，反过来促进气象科学的进步。这种良性循环加速了预测技术的迭代优化。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511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美国AR可视化天气技术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8318500" cy="2197100"/>
          </a:xfrm>
          <a:custGeom>
            <a:avLst/>
            <a:gdLst/>
            <a:ahLst/>
            <a:cxnLst/>
            <a:rect l="l" t="t" r="r" b="b"/>
            <a:pathLst>
              <a:path w="8318500" h="2197100">
                <a:moveTo>
                  <a:pt x="203210" y="0"/>
                </a:moveTo>
                <a:lnTo>
                  <a:pt x="8115290" y="0"/>
                </a:lnTo>
                <a:cubicBezTo>
                  <a:pt x="8227520" y="0"/>
                  <a:pt x="8318500" y="90980"/>
                  <a:pt x="8318500" y="203210"/>
                </a:cubicBezTo>
                <a:lnTo>
                  <a:pt x="8318500" y="1993890"/>
                </a:lnTo>
                <a:cubicBezTo>
                  <a:pt x="8318500" y="2106120"/>
                  <a:pt x="8227520" y="2197100"/>
                  <a:pt x="81152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09650" y="2400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4800" y="57150"/>
                </a:move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08049" y="247650"/>
                </a:lnTo>
                <a:cubicBezTo>
                  <a:pt x="118170" y="247650"/>
                  <a:pt x="127873" y="243661"/>
                  <a:pt x="135017" y="236518"/>
                </a:cubicBezTo>
                <a:lnTo>
                  <a:pt x="155198" y="216337"/>
                </a:lnTo>
                <a:cubicBezTo>
                  <a:pt x="159484" y="212050"/>
                  <a:pt x="165378" y="209610"/>
                  <a:pt x="171450" y="209610"/>
                </a:cubicBezTo>
                <a:cubicBezTo>
                  <a:pt x="177522" y="209610"/>
                  <a:pt x="183416" y="212050"/>
                  <a:pt x="187702" y="216337"/>
                </a:cubicBezTo>
                <a:lnTo>
                  <a:pt x="207883" y="236518"/>
                </a:lnTo>
                <a:cubicBezTo>
                  <a:pt x="215027" y="243661"/>
                  <a:pt x="224730" y="247650"/>
                  <a:pt x="234851" y="247650"/>
                </a:cubicBezTo>
                <a:lnTo>
                  <a:pt x="304800" y="247650"/>
                </a:lnTo>
                <a:cubicBezTo>
                  <a:pt x="325815" y="247650"/>
                  <a:pt x="342900" y="230565"/>
                  <a:pt x="342900" y="209550"/>
                </a:cubicBezTo>
                <a:lnTo>
                  <a:pt x="342900" y="95250"/>
                </a:lnTo>
                <a:cubicBezTo>
                  <a:pt x="342900" y="74235"/>
                  <a:pt x="325815" y="57150"/>
                  <a:pt x="304800" y="57150"/>
                </a:cubicBezTo>
                <a:close/>
                <a:moveTo>
                  <a:pt x="47625" y="142875"/>
                </a:moveTo>
                <a:cubicBezTo>
                  <a:pt x="47625" y="121847"/>
                  <a:pt x="64697" y="104775"/>
                  <a:pt x="85725" y="104775"/>
                </a:cubicBezTo>
                <a:cubicBezTo>
                  <a:pt x="106753" y="104775"/>
                  <a:pt x="123825" y="121847"/>
                  <a:pt x="123825" y="142875"/>
                </a:cubicBezTo>
                <a:cubicBezTo>
                  <a:pt x="123825" y="163903"/>
                  <a:pt x="106753" y="180975"/>
                  <a:pt x="85725" y="180975"/>
                </a:cubicBezTo>
                <a:cubicBezTo>
                  <a:pt x="64697" y="180975"/>
                  <a:pt x="47625" y="163903"/>
                  <a:pt x="47625" y="142875"/>
                </a:cubicBezTo>
                <a:close/>
                <a:moveTo>
                  <a:pt x="257175" y="104775"/>
                </a:moveTo>
                <a:cubicBezTo>
                  <a:pt x="278203" y="104775"/>
                  <a:pt x="295275" y="121847"/>
                  <a:pt x="295275" y="142875"/>
                </a:cubicBezTo>
                <a:cubicBezTo>
                  <a:pt x="295275" y="163903"/>
                  <a:pt x="278203" y="180975"/>
                  <a:pt x="257175" y="180975"/>
                </a:cubicBezTo>
                <a:cubicBezTo>
                  <a:pt x="236147" y="180975"/>
                  <a:pt x="219075" y="163903"/>
                  <a:pt x="219075" y="142875"/>
                </a:cubicBezTo>
                <a:cubicBezTo>
                  <a:pt x="219075" y="121847"/>
                  <a:pt x="236147" y="104775"/>
                  <a:pt x="257175" y="104775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8" name="Text 6"/>
          <p:cNvSpPr/>
          <p:nvPr/>
        </p:nvSpPr>
        <p:spPr>
          <a:xfrm>
            <a:off x="1689100" y="2349500"/>
            <a:ext cx="1130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31115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增强现实（AR）技术将抽象的气象数据转化为直观、沉浸式的视觉体验。观众可以通过AR设备"看到"风暴的形成过程，感受极端天气的破坏力。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4349750"/>
            <a:ext cx="8318500" cy="2197100"/>
          </a:xfrm>
          <a:custGeom>
            <a:avLst/>
            <a:gdLst/>
            <a:ahLst/>
            <a:cxnLst/>
            <a:rect l="l" t="t" r="r" b="b"/>
            <a:pathLst>
              <a:path w="8318500" h="2197100">
                <a:moveTo>
                  <a:pt x="203210" y="0"/>
                </a:moveTo>
                <a:lnTo>
                  <a:pt x="8115290" y="0"/>
                </a:lnTo>
                <a:cubicBezTo>
                  <a:pt x="8227520" y="0"/>
                  <a:pt x="8318500" y="90980"/>
                  <a:pt x="8318500" y="203210"/>
                </a:cubicBezTo>
                <a:lnTo>
                  <a:pt x="8318500" y="1993890"/>
                </a:lnTo>
                <a:cubicBezTo>
                  <a:pt x="8318500" y="2106120"/>
                  <a:pt x="8227520" y="2197100"/>
                  <a:pt x="81152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5500" y="4660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990600" y="4864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3" name="Text 11"/>
          <p:cNvSpPr/>
          <p:nvPr/>
        </p:nvSpPr>
        <p:spPr>
          <a:xfrm>
            <a:off x="1689100" y="4813300"/>
            <a:ext cx="1130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应用价值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500" y="55753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将抽象的天气预报数据转变为融入日常的智慧伴侣，大幅降低理解门槛，提升公众的防灾意识和应对能力。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50350" y="1885950"/>
            <a:ext cx="6591300" cy="5702300"/>
          </a:xfrm>
          <a:custGeom>
            <a:avLst/>
            <a:gdLst/>
            <a:ahLst/>
            <a:cxnLst/>
            <a:rect l="l" t="t" r="r" b="b"/>
            <a:pathLst>
              <a:path w="6591300" h="5702300">
                <a:moveTo>
                  <a:pt x="304788" y="0"/>
                </a:moveTo>
                <a:lnTo>
                  <a:pt x="6286512" y="0"/>
                </a:lnTo>
                <a:cubicBezTo>
                  <a:pt x="6454842" y="0"/>
                  <a:pt x="6591300" y="136458"/>
                  <a:pt x="6591300" y="304788"/>
                </a:cubicBezTo>
                <a:lnTo>
                  <a:pt x="6591300" y="5397512"/>
                </a:lnTo>
                <a:cubicBezTo>
                  <a:pt x="6591300" y="5565842"/>
                  <a:pt x="6454842" y="5702300"/>
                  <a:pt x="6286512" y="5702300"/>
                </a:cubicBezTo>
                <a:lnTo>
                  <a:pt x="304788" y="5702300"/>
                </a:lnTo>
                <a:cubicBezTo>
                  <a:pt x="136458" y="5702300"/>
                  <a:pt x="0" y="5565842"/>
                  <a:pt x="0" y="5397512"/>
                </a:cubicBezTo>
                <a:lnTo>
                  <a:pt x="0" y="304788"/>
                </a:lnTo>
                <a:cubicBezTo>
                  <a:pt x="0" y="136571"/>
                  <a:pt x="136571" y="0"/>
                  <a:pt x="30478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64950" y="2633663"/>
            <a:ext cx="1562100" cy="1397000"/>
          </a:xfrm>
          <a:custGeom>
            <a:avLst/>
            <a:gdLst/>
            <a:ahLst/>
            <a:cxnLst/>
            <a:rect l="l" t="t" r="r" b="b"/>
            <a:pathLst>
              <a:path w="1562100" h="1397000">
                <a:moveTo>
                  <a:pt x="203194" y="0"/>
                </a:moveTo>
                <a:lnTo>
                  <a:pt x="1358906" y="0"/>
                </a:lnTo>
                <a:cubicBezTo>
                  <a:pt x="1471052" y="0"/>
                  <a:pt x="1562100" y="91048"/>
                  <a:pt x="1562100" y="203194"/>
                </a:cubicBezTo>
                <a:lnTo>
                  <a:pt x="1562100" y="1193806"/>
                </a:lnTo>
                <a:cubicBezTo>
                  <a:pt x="1562100" y="1306027"/>
                  <a:pt x="1471127" y="1397000"/>
                  <a:pt x="1358906" y="1397000"/>
                </a:cubicBezTo>
                <a:lnTo>
                  <a:pt x="203194" y="1397000"/>
                </a:lnTo>
                <a:cubicBezTo>
                  <a:pt x="91048" y="1397000"/>
                  <a:pt x="0" y="1305952"/>
                  <a:pt x="0" y="1193806"/>
                </a:cubicBezTo>
                <a:lnTo>
                  <a:pt x="0" y="203194"/>
                </a:lnTo>
                <a:cubicBezTo>
                  <a:pt x="0" y="90973"/>
                  <a:pt x="90973" y="0"/>
                  <a:pt x="203194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2017375" y="2938463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428625" y="47625"/>
                </a:moveTo>
                <a:cubicBezTo>
                  <a:pt x="308372" y="47625"/>
                  <a:pt x="212080" y="102394"/>
                  <a:pt x="141982" y="167580"/>
                </a:cubicBezTo>
                <a:cubicBezTo>
                  <a:pt x="72330" y="232321"/>
                  <a:pt x="25747" y="309563"/>
                  <a:pt x="3572" y="362694"/>
                </a:cubicBezTo>
                <a:cubicBezTo>
                  <a:pt x="-1339" y="374452"/>
                  <a:pt x="-1339" y="387548"/>
                  <a:pt x="3572" y="399306"/>
                </a:cubicBezTo>
                <a:cubicBezTo>
                  <a:pt x="25747" y="452438"/>
                  <a:pt x="72330" y="529828"/>
                  <a:pt x="141982" y="594420"/>
                </a:cubicBezTo>
                <a:cubicBezTo>
                  <a:pt x="212080" y="659457"/>
                  <a:pt x="308372" y="714375"/>
                  <a:pt x="428625" y="714375"/>
                </a:cubicBezTo>
                <a:cubicBezTo>
                  <a:pt x="548878" y="714375"/>
                  <a:pt x="645170" y="659606"/>
                  <a:pt x="715268" y="594420"/>
                </a:cubicBezTo>
                <a:cubicBezTo>
                  <a:pt x="784920" y="529679"/>
                  <a:pt x="831503" y="452438"/>
                  <a:pt x="853678" y="399306"/>
                </a:cubicBezTo>
                <a:cubicBezTo>
                  <a:pt x="858589" y="387548"/>
                  <a:pt x="858589" y="374452"/>
                  <a:pt x="853678" y="362694"/>
                </a:cubicBezTo>
                <a:cubicBezTo>
                  <a:pt x="831503" y="309562"/>
                  <a:pt x="784920" y="232172"/>
                  <a:pt x="715268" y="167580"/>
                </a:cubicBezTo>
                <a:cubicBezTo>
                  <a:pt x="645170" y="102543"/>
                  <a:pt x="548878" y="47625"/>
                  <a:pt x="428625" y="47625"/>
                </a:cubicBezTo>
                <a:close/>
                <a:moveTo>
                  <a:pt x="214313" y="381000"/>
                </a:moveTo>
                <a:cubicBezTo>
                  <a:pt x="214313" y="262718"/>
                  <a:pt x="310343" y="166688"/>
                  <a:pt x="428625" y="166688"/>
                </a:cubicBezTo>
                <a:cubicBezTo>
                  <a:pt x="546907" y="166688"/>
                  <a:pt x="642938" y="262718"/>
                  <a:pt x="642938" y="381000"/>
                </a:cubicBezTo>
                <a:cubicBezTo>
                  <a:pt x="642938" y="499282"/>
                  <a:pt x="546907" y="595313"/>
                  <a:pt x="428625" y="595313"/>
                </a:cubicBezTo>
                <a:cubicBezTo>
                  <a:pt x="310343" y="595313"/>
                  <a:pt x="214313" y="499282"/>
                  <a:pt x="214313" y="381000"/>
                </a:cubicBezTo>
                <a:close/>
                <a:moveTo>
                  <a:pt x="428625" y="285750"/>
                </a:moveTo>
                <a:cubicBezTo>
                  <a:pt x="428625" y="338286"/>
                  <a:pt x="385911" y="381000"/>
                  <a:pt x="333375" y="381000"/>
                </a:cubicBezTo>
                <a:cubicBezTo>
                  <a:pt x="316260" y="381000"/>
                  <a:pt x="300186" y="376535"/>
                  <a:pt x="286196" y="368498"/>
                </a:cubicBezTo>
                <a:cubicBezTo>
                  <a:pt x="284708" y="384721"/>
                  <a:pt x="286048" y="401389"/>
                  <a:pt x="290513" y="417909"/>
                </a:cubicBezTo>
                <a:cubicBezTo>
                  <a:pt x="310902" y="494109"/>
                  <a:pt x="389334" y="539353"/>
                  <a:pt x="465534" y="518964"/>
                </a:cubicBezTo>
                <a:cubicBezTo>
                  <a:pt x="541734" y="498574"/>
                  <a:pt x="586978" y="420142"/>
                  <a:pt x="566589" y="343942"/>
                </a:cubicBezTo>
                <a:cubicBezTo>
                  <a:pt x="548432" y="275927"/>
                  <a:pt x="483989" y="232618"/>
                  <a:pt x="416123" y="238571"/>
                </a:cubicBezTo>
                <a:cubicBezTo>
                  <a:pt x="424011" y="252413"/>
                  <a:pt x="428625" y="268486"/>
                  <a:pt x="428625" y="285750"/>
                </a:cubicBezTo>
                <a:close/>
              </a:path>
            </a:pathLst>
          </a:custGeom>
          <a:solidFill>
            <a:srgbClr val="5F8CA3"/>
          </a:solidFill>
        </p:spPr>
      </p:sp>
      <p:sp>
        <p:nvSpPr>
          <p:cNvPr id="18" name="Text 16"/>
          <p:cNvSpPr/>
          <p:nvPr/>
        </p:nvSpPr>
        <p:spPr>
          <a:xfrm>
            <a:off x="9467850" y="4335463"/>
            <a:ext cx="5956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沉浸式体验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5950" y="4995863"/>
            <a:ext cx="588010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让天气播报从平面走向立体，从抽象数据走向生动场景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63100" y="5672138"/>
            <a:ext cx="2781300" cy="1168400"/>
          </a:xfrm>
          <a:custGeom>
            <a:avLst/>
            <a:gdLst/>
            <a:ahLst/>
            <a:cxnLst/>
            <a:rect l="l" t="t" r="r" b="b"/>
            <a:pathLst>
              <a:path w="2781300" h="1168400">
                <a:moveTo>
                  <a:pt x="152394" y="0"/>
                </a:moveTo>
                <a:lnTo>
                  <a:pt x="2628906" y="0"/>
                </a:lnTo>
                <a:cubicBezTo>
                  <a:pt x="2713014" y="0"/>
                  <a:pt x="2781300" y="68286"/>
                  <a:pt x="2781300" y="152394"/>
                </a:cubicBezTo>
                <a:lnTo>
                  <a:pt x="2781300" y="1016006"/>
                </a:lnTo>
                <a:cubicBezTo>
                  <a:pt x="2781300" y="1100171"/>
                  <a:pt x="2713071" y="1168400"/>
                  <a:pt x="26289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671050" y="5875338"/>
            <a:ext cx="2565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80%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21850" y="6383338"/>
            <a:ext cx="2463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理解度提升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547600" y="5672138"/>
            <a:ext cx="2781300" cy="1168400"/>
          </a:xfrm>
          <a:custGeom>
            <a:avLst/>
            <a:gdLst/>
            <a:ahLst/>
            <a:cxnLst/>
            <a:rect l="l" t="t" r="r" b="b"/>
            <a:pathLst>
              <a:path w="2781300" h="1168400">
                <a:moveTo>
                  <a:pt x="152394" y="0"/>
                </a:moveTo>
                <a:lnTo>
                  <a:pt x="2628906" y="0"/>
                </a:lnTo>
                <a:cubicBezTo>
                  <a:pt x="2713014" y="0"/>
                  <a:pt x="2781300" y="68286"/>
                  <a:pt x="2781300" y="152394"/>
                </a:cubicBezTo>
                <a:lnTo>
                  <a:pt x="2781300" y="1016006"/>
                </a:lnTo>
                <a:cubicBezTo>
                  <a:pt x="2781300" y="1100171"/>
                  <a:pt x="2713071" y="1168400"/>
                  <a:pt x="26289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2655550" y="5875338"/>
            <a:ext cx="2565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10倍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6350" y="6383338"/>
            <a:ext cx="2463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传播效果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350" y="79057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152403" y="0"/>
                </a:moveTo>
                <a:lnTo>
                  <a:pt x="15074897" y="0"/>
                </a:lnTo>
                <a:cubicBezTo>
                  <a:pt x="15159067" y="0"/>
                  <a:pt x="15227300" y="68233"/>
                  <a:pt x="15227300" y="152403"/>
                </a:cubicBezTo>
                <a:lnTo>
                  <a:pt x="15227300" y="571497"/>
                </a:lnTo>
                <a:cubicBezTo>
                  <a:pt x="15227300" y="655667"/>
                  <a:pt x="15159067" y="723900"/>
                  <a:pt x="150748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8FBC8F">
              <a:alpha val="10196"/>
            </a:srgbClr>
          </a:soli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4550" y="8140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8" name="Text 26"/>
          <p:cNvSpPr/>
          <p:nvPr/>
        </p:nvSpPr>
        <p:spPr>
          <a:xfrm>
            <a:off x="3790950" y="8115300"/>
            <a:ext cx="924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目的：</a:t>
            </a:r>
            <a:r>
              <a:rPr lang="en-US" sz="16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解决传统天气预报播报的乏味性，使之生动有趣，将抽象的预报数据转化为身临其境的视觉体验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287e8a42052d04327ece663fb415ab70b023f392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6" b="6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6E9E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3203" y="3086100"/>
            <a:ext cx="1092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0">
                <a:srgbClr val="FFFFFF"/>
              </a:gs>
              <a:gs pos="100000">
                <a:srgbClr val="8FBC8F"/>
              </a:gs>
            </a:gsLst>
            <a:lin ang="5400000" scaled="1"/>
          </a:gradFill>
        </p:spPr>
      </p:sp>
      <p:sp>
        <p:nvSpPr>
          <p:cNvPr id="8" name="Text 5"/>
          <p:cNvSpPr/>
          <p:nvPr/>
        </p:nvSpPr>
        <p:spPr>
          <a:xfrm>
            <a:off x="2616200" y="3073400"/>
            <a:ext cx="41148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展望与结语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6800" y="4724400"/>
            <a:ext cx="56007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从超本地精细化到全智能感知，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AI天气预测正在开启气象服务的新纪元。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6800" y="61214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探索未来发展趋势与技术的温度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943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TRENDS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未来发展趋势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902200" cy="3543300"/>
          </a:xfrm>
          <a:custGeom>
            <a:avLst/>
            <a:gdLst/>
            <a:ahLst/>
            <a:cxnLst/>
            <a:rect l="l" t="t" r="r" b="b"/>
            <a:pathLst>
              <a:path w="4902200" h="3543300">
                <a:moveTo>
                  <a:pt x="203208" y="0"/>
                </a:moveTo>
                <a:lnTo>
                  <a:pt x="4698992" y="0"/>
                </a:lnTo>
                <a:cubicBezTo>
                  <a:pt x="4811221" y="0"/>
                  <a:pt x="4902200" y="90979"/>
                  <a:pt x="4902200" y="203208"/>
                </a:cubicBezTo>
                <a:lnTo>
                  <a:pt x="4902200" y="3340092"/>
                </a:lnTo>
                <a:cubicBezTo>
                  <a:pt x="4902200" y="3452321"/>
                  <a:pt x="4811221" y="3543300"/>
                  <a:pt x="4698992" y="3543300"/>
                </a:cubicBezTo>
                <a:lnTo>
                  <a:pt x="203208" y="3543300"/>
                </a:lnTo>
                <a:cubicBezTo>
                  <a:pt x="90979" y="3543300"/>
                  <a:pt x="0" y="3452321"/>
                  <a:pt x="0" y="3340092"/>
                </a:cubicBezTo>
                <a:lnTo>
                  <a:pt x="0" y="203208"/>
                </a:lnTo>
                <a:cubicBezTo>
                  <a:pt x="0" y="91055"/>
                  <a:pt x="91055" y="0"/>
                  <a:pt x="203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41400" y="2451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790700" y="2298700"/>
            <a:ext cx="1346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超本地精细化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90700" y="2654300"/>
            <a:ext cx="130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Ultra-local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3213100"/>
            <a:ext cx="4381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如日本Weathernews公司，利用AI分析1平方公里内数据，可提前10分钟预警突发性暴雨，精度达90%以上。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500" y="4356100"/>
            <a:ext cx="2082800" cy="762000"/>
          </a:xfrm>
          <a:custGeom>
            <a:avLst/>
            <a:gdLst/>
            <a:ahLst/>
            <a:cxnLst/>
            <a:rect l="l" t="t" r="r" b="b"/>
            <a:pathLst>
              <a:path w="2082800" h="762000">
                <a:moveTo>
                  <a:pt x="101597" y="0"/>
                </a:moveTo>
                <a:lnTo>
                  <a:pt x="1981203" y="0"/>
                </a:lnTo>
                <a:cubicBezTo>
                  <a:pt x="2037313" y="0"/>
                  <a:pt x="2082800" y="45487"/>
                  <a:pt x="2082800" y="101597"/>
                </a:cubicBezTo>
                <a:lnTo>
                  <a:pt x="2082800" y="660403"/>
                </a:lnTo>
                <a:cubicBezTo>
                  <a:pt x="2082800" y="716513"/>
                  <a:pt x="2037313" y="762000"/>
                  <a:pt x="19812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69950" y="4457700"/>
            <a:ext cx="199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1km²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4813300"/>
            <a:ext cx="195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精度范围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4067" y="4356100"/>
            <a:ext cx="2082800" cy="762000"/>
          </a:xfrm>
          <a:custGeom>
            <a:avLst/>
            <a:gdLst/>
            <a:ahLst/>
            <a:cxnLst/>
            <a:rect l="l" t="t" r="r" b="b"/>
            <a:pathLst>
              <a:path w="2082800" h="762000">
                <a:moveTo>
                  <a:pt x="101597" y="0"/>
                </a:moveTo>
                <a:lnTo>
                  <a:pt x="1981203" y="0"/>
                </a:lnTo>
                <a:cubicBezTo>
                  <a:pt x="2037313" y="0"/>
                  <a:pt x="2082800" y="45487"/>
                  <a:pt x="2082800" y="101597"/>
                </a:cubicBezTo>
                <a:lnTo>
                  <a:pt x="2082800" y="660403"/>
                </a:lnTo>
                <a:cubicBezTo>
                  <a:pt x="2082800" y="716513"/>
                  <a:pt x="2037313" y="762000"/>
                  <a:pt x="19812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058517" y="4457700"/>
            <a:ext cx="199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10min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77567" y="4813300"/>
            <a:ext cx="195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提前预警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78884" y="1885950"/>
            <a:ext cx="4902200" cy="3543300"/>
          </a:xfrm>
          <a:custGeom>
            <a:avLst/>
            <a:gdLst/>
            <a:ahLst/>
            <a:cxnLst/>
            <a:rect l="l" t="t" r="r" b="b"/>
            <a:pathLst>
              <a:path w="4902200" h="3543300">
                <a:moveTo>
                  <a:pt x="203208" y="0"/>
                </a:moveTo>
                <a:lnTo>
                  <a:pt x="4698992" y="0"/>
                </a:lnTo>
                <a:cubicBezTo>
                  <a:pt x="4811221" y="0"/>
                  <a:pt x="4902200" y="90979"/>
                  <a:pt x="4902200" y="203208"/>
                </a:cubicBezTo>
                <a:lnTo>
                  <a:pt x="4902200" y="3340092"/>
                </a:lnTo>
                <a:cubicBezTo>
                  <a:pt x="4902200" y="3452321"/>
                  <a:pt x="4811221" y="3543300"/>
                  <a:pt x="4698992" y="3543300"/>
                </a:cubicBezTo>
                <a:lnTo>
                  <a:pt x="203208" y="3543300"/>
                </a:lnTo>
                <a:cubicBezTo>
                  <a:pt x="90979" y="3543300"/>
                  <a:pt x="0" y="3452321"/>
                  <a:pt x="0" y="3340092"/>
                </a:cubicBezTo>
                <a:lnTo>
                  <a:pt x="0" y="203208"/>
                </a:lnTo>
                <a:cubicBezTo>
                  <a:pt x="0" y="91055"/>
                  <a:pt x="91055" y="0"/>
                  <a:pt x="203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0034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244034" y="245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257175"/>
                </a:lnTo>
                <a:cubicBezTo>
                  <a:pt x="0" y="272951"/>
                  <a:pt x="12799" y="285750"/>
                  <a:pt x="285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90607"/>
                </a:lnTo>
                <a:cubicBezTo>
                  <a:pt x="304800" y="79772"/>
                  <a:pt x="293251" y="72926"/>
                  <a:pt x="283726" y="78045"/>
                </a:cubicBezTo>
                <a:lnTo>
                  <a:pt x="190500" y="128230"/>
                </a:lnTo>
                <a:lnTo>
                  <a:pt x="190500" y="90607"/>
                </a:lnTo>
                <a:cubicBezTo>
                  <a:pt x="190500" y="79772"/>
                  <a:pt x="178951" y="72926"/>
                  <a:pt x="169426" y="78045"/>
                </a:cubicBezTo>
                <a:lnTo>
                  <a:pt x="76200" y="128230"/>
                </a:lnTo>
                <a:lnTo>
                  <a:pt x="76200" y="38100"/>
                </a:lnTo>
                <a:cubicBezTo>
                  <a:pt x="76200" y="27563"/>
                  <a:pt x="67687" y="19050"/>
                  <a:pt x="57150" y="19050"/>
                </a:cubicBezTo>
                <a:lnTo>
                  <a:pt x="19050" y="1905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6955234" y="2298700"/>
            <a:ext cx="106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行业定制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55234" y="2654300"/>
            <a:ext cx="1028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Customized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90034" y="3213100"/>
            <a:ext cx="4381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农业、交通、能源等领域的专门AI气象模型将大规模应用，为不同行业提供个性化、专业化的气象服务。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90034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554391" y="4495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63500" y="38100"/>
                </a:moveTo>
                <a:lnTo>
                  <a:pt x="63500" y="76200"/>
                </a:lnTo>
                <a:lnTo>
                  <a:pt x="116443" y="76200"/>
                </a:lnTo>
                <a:lnTo>
                  <a:pt x="93583" y="38100"/>
                </a:lnTo>
                <a:lnTo>
                  <a:pt x="63500" y="38100"/>
                </a:lnTo>
                <a:close/>
                <a:moveTo>
                  <a:pt x="38100" y="88503"/>
                </a:moveTo>
                <a:lnTo>
                  <a:pt x="38100" y="25400"/>
                </a:lnTo>
                <a:cubicBezTo>
                  <a:pt x="38100" y="18375"/>
                  <a:pt x="43775" y="12700"/>
                  <a:pt x="50800" y="12700"/>
                </a:cubicBezTo>
                <a:lnTo>
                  <a:pt x="93583" y="12700"/>
                </a:lnTo>
                <a:cubicBezTo>
                  <a:pt x="102513" y="12700"/>
                  <a:pt x="110768" y="17383"/>
                  <a:pt x="115372" y="25043"/>
                </a:cubicBezTo>
                <a:lnTo>
                  <a:pt x="146090" y="76200"/>
                </a:lnTo>
                <a:lnTo>
                  <a:pt x="171490" y="76200"/>
                </a:lnTo>
                <a:lnTo>
                  <a:pt x="171490" y="47625"/>
                </a:lnTo>
                <a:cubicBezTo>
                  <a:pt x="171490" y="42347"/>
                  <a:pt x="175736" y="38100"/>
                  <a:pt x="181015" y="38100"/>
                </a:cubicBezTo>
                <a:cubicBezTo>
                  <a:pt x="186293" y="38100"/>
                  <a:pt x="190540" y="42347"/>
                  <a:pt x="190540" y="47625"/>
                </a:cubicBezTo>
                <a:lnTo>
                  <a:pt x="190540" y="76200"/>
                </a:lnTo>
                <a:lnTo>
                  <a:pt x="209590" y="76200"/>
                </a:lnTo>
                <a:cubicBezTo>
                  <a:pt x="220107" y="76200"/>
                  <a:pt x="228640" y="84733"/>
                  <a:pt x="228640" y="95250"/>
                </a:cubicBezTo>
                <a:lnTo>
                  <a:pt x="228640" y="111720"/>
                </a:lnTo>
                <a:cubicBezTo>
                  <a:pt x="228640" y="117356"/>
                  <a:pt x="226139" y="122753"/>
                  <a:pt x="221774" y="126365"/>
                </a:cubicBezTo>
                <a:lnTo>
                  <a:pt x="207883" y="137954"/>
                </a:lnTo>
                <a:cubicBezTo>
                  <a:pt x="218400" y="143986"/>
                  <a:pt x="225465" y="155297"/>
                  <a:pt x="225465" y="168275"/>
                </a:cubicBezTo>
                <a:cubicBezTo>
                  <a:pt x="225465" y="187563"/>
                  <a:pt x="209828" y="203200"/>
                  <a:pt x="190540" y="203200"/>
                </a:cubicBezTo>
                <a:cubicBezTo>
                  <a:pt x="171252" y="203200"/>
                  <a:pt x="155615" y="187563"/>
                  <a:pt x="155615" y="168275"/>
                </a:cubicBezTo>
                <a:cubicBezTo>
                  <a:pt x="155615" y="162560"/>
                  <a:pt x="157004" y="157163"/>
                  <a:pt x="159425" y="152400"/>
                </a:cubicBezTo>
                <a:lnTo>
                  <a:pt x="119261" y="152400"/>
                </a:lnTo>
                <a:cubicBezTo>
                  <a:pt x="118070" y="157718"/>
                  <a:pt x="116126" y="162719"/>
                  <a:pt x="113546" y="167362"/>
                </a:cubicBezTo>
                <a:cubicBezTo>
                  <a:pt x="116602" y="171093"/>
                  <a:pt x="116403" y="176649"/>
                  <a:pt x="112911" y="180142"/>
                </a:cubicBezTo>
                <a:lnTo>
                  <a:pt x="103942" y="189111"/>
                </a:lnTo>
                <a:cubicBezTo>
                  <a:pt x="100449" y="192603"/>
                  <a:pt x="94933" y="192802"/>
                  <a:pt x="91162" y="189746"/>
                </a:cubicBezTo>
                <a:cubicBezTo>
                  <a:pt x="87471" y="191810"/>
                  <a:pt x="83503" y="193437"/>
                  <a:pt x="79335" y="194628"/>
                </a:cubicBezTo>
                <a:cubicBezTo>
                  <a:pt x="78859" y="199430"/>
                  <a:pt x="74811" y="203200"/>
                  <a:pt x="69850" y="203200"/>
                </a:cubicBezTo>
                <a:lnTo>
                  <a:pt x="57150" y="203200"/>
                </a:lnTo>
                <a:cubicBezTo>
                  <a:pt x="52229" y="203200"/>
                  <a:pt x="48141" y="199430"/>
                  <a:pt x="47665" y="194628"/>
                </a:cubicBezTo>
                <a:cubicBezTo>
                  <a:pt x="43498" y="193437"/>
                  <a:pt x="39568" y="191770"/>
                  <a:pt x="35838" y="189746"/>
                </a:cubicBezTo>
                <a:cubicBezTo>
                  <a:pt x="32107" y="192802"/>
                  <a:pt x="26551" y="192603"/>
                  <a:pt x="23058" y="189111"/>
                </a:cubicBezTo>
                <a:lnTo>
                  <a:pt x="14089" y="180102"/>
                </a:lnTo>
                <a:cubicBezTo>
                  <a:pt x="10597" y="176609"/>
                  <a:pt x="10398" y="171093"/>
                  <a:pt x="13454" y="167323"/>
                </a:cubicBezTo>
                <a:cubicBezTo>
                  <a:pt x="11390" y="163632"/>
                  <a:pt x="9763" y="159663"/>
                  <a:pt x="8573" y="155496"/>
                </a:cubicBezTo>
                <a:cubicBezTo>
                  <a:pt x="3770" y="155019"/>
                  <a:pt x="0" y="150971"/>
                  <a:pt x="0" y="146010"/>
                </a:cubicBezTo>
                <a:lnTo>
                  <a:pt x="0" y="133310"/>
                </a:lnTo>
                <a:cubicBezTo>
                  <a:pt x="0" y="128389"/>
                  <a:pt x="3770" y="124301"/>
                  <a:pt x="8573" y="123825"/>
                </a:cubicBezTo>
                <a:cubicBezTo>
                  <a:pt x="9763" y="119658"/>
                  <a:pt x="11430" y="115729"/>
                  <a:pt x="13454" y="111998"/>
                </a:cubicBezTo>
                <a:cubicBezTo>
                  <a:pt x="10398" y="108268"/>
                  <a:pt x="10597" y="102711"/>
                  <a:pt x="14089" y="99219"/>
                </a:cubicBezTo>
                <a:lnTo>
                  <a:pt x="23058" y="90249"/>
                </a:lnTo>
                <a:cubicBezTo>
                  <a:pt x="26551" y="86757"/>
                  <a:pt x="32068" y="86558"/>
                  <a:pt x="35838" y="89614"/>
                </a:cubicBezTo>
                <a:cubicBezTo>
                  <a:pt x="36592" y="89218"/>
                  <a:pt x="37306" y="88821"/>
                  <a:pt x="38100" y="88424"/>
                </a:cubicBezTo>
                <a:close/>
                <a:moveTo>
                  <a:pt x="63500" y="114300"/>
                </a:moveTo>
                <a:cubicBezTo>
                  <a:pt x="49481" y="114300"/>
                  <a:pt x="38100" y="125681"/>
                  <a:pt x="38100" y="139700"/>
                </a:cubicBezTo>
                <a:cubicBezTo>
                  <a:pt x="38100" y="153719"/>
                  <a:pt x="49481" y="165100"/>
                  <a:pt x="63500" y="165100"/>
                </a:cubicBezTo>
                <a:cubicBezTo>
                  <a:pt x="77519" y="165100"/>
                  <a:pt x="88900" y="153719"/>
                  <a:pt x="88900" y="139700"/>
                </a:cubicBezTo>
                <a:cubicBezTo>
                  <a:pt x="88900" y="125681"/>
                  <a:pt x="77519" y="114300"/>
                  <a:pt x="63500" y="114300"/>
                </a:cubicBezTo>
                <a:close/>
                <a:moveTo>
                  <a:pt x="174625" y="168275"/>
                </a:moveTo>
                <a:cubicBezTo>
                  <a:pt x="174625" y="177037"/>
                  <a:pt x="181738" y="184150"/>
                  <a:pt x="190500" y="184150"/>
                </a:cubicBezTo>
                <a:cubicBezTo>
                  <a:pt x="199262" y="184150"/>
                  <a:pt x="206375" y="177037"/>
                  <a:pt x="206375" y="168275"/>
                </a:cubicBezTo>
                <a:cubicBezTo>
                  <a:pt x="206375" y="159513"/>
                  <a:pt x="199262" y="152400"/>
                  <a:pt x="190500" y="152400"/>
                </a:cubicBezTo>
                <a:cubicBezTo>
                  <a:pt x="181738" y="152400"/>
                  <a:pt x="174625" y="159513"/>
                  <a:pt x="174625" y="168275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25" name="Text 23"/>
          <p:cNvSpPr/>
          <p:nvPr/>
        </p:nvSpPr>
        <p:spPr>
          <a:xfrm>
            <a:off x="6053534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49145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026202" y="449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657" y="46593"/>
                </a:moveTo>
                <a:lnTo>
                  <a:pt x="43299" y="76200"/>
                </a:lnTo>
                <a:lnTo>
                  <a:pt x="159901" y="76200"/>
                </a:lnTo>
                <a:lnTo>
                  <a:pt x="149542" y="46593"/>
                </a:lnTo>
                <a:cubicBezTo>
                  <a:pt x="147757" y="41513"/>
                  <a:pt x="142954" y="38100"/>
                  <a:pt x="137557" y="38100"/>
                </a:cubicBezTo>
                <a:lnTo>
                  <a:pt x="65643" y="38100"/>
                </a:lnTo>
                <a:cubicBezTo>
                  <a:pt x="60246" y="38100"/>
                  <a:pt x="55443" y="41513"/>
                  <a:pt x="53658" y="46593"/>
                </a:cubicBezTo>
                <a:close/>
                <a:moveTo>
                  <a:pt x="15716" y="78105"/>
                </a:moveTo>
                <a:lnTo>
                  <a:pt x="29686" y="38219"/>
                </a:lnTo>
                <a:cubicBezTo>
                  <a:pt x="35044" y="22939"/>
                  <a:pt x="49451" y="12700"/>
                  <a:pt x="65643" y="12700"/>
                </a:cubicBezTo>
                <a:lnTo>
                  <a:pt x="137557" y="12700"/>
                </a:lnTo>
                <a:cubicBezTo>
                  <a:pt x="153749" y="12700"/>
                  <a:pt x="168156" y="22939"/>
                  <a:pt x="173514" y="38219"/>
                </a:cubicBezTo>
                <a:lnTo>
                  <a:pt x="187484" y="78105"/>
                </a:lnTo>
                <a:cubicBezTo>
                  <a:pt x="196691" y="81915"/>
                  <a:pt x="203200" y="91003"/>
                  <a:pt x="203200" y="1016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77800" y="190500"/>
                </a:lnTo>
                <a:cubicBezTo>
                  <a:pt x="170775" y="190500"/>
                  <a:pt x="165100" y="184825"/>
                  <a:pt x="165100" y="177800"/>
                </a:cubicBezTo>
                <a:lnTo>
                  <a:pt x="165100" y="165100"/>
                </a:lnTo>
                <a:lnTo>
                  <a:pt x="38100" y="165100"/>
                </a:lnTo>
                <a:lnTo>
                  <a:pt x="38100" y="177800"/>
                </a:lnTo>
                <a:cubicBezTo>
                  <a:pt x="38100" y="184825"/>
                  <a:pt x="32425" y="190500"/>
                  <a:pt x="254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01600"/>
                </a:lnTo>
                <a:cubicBezTo>
                  <a:pt x="0" y="91003"/>
                  <a:pt x="6509" y="81915"/>
                  <a:pt x="15716" y="78105"/>
                </a:cubicBezTo>
                <a:close/>
                <a:moveTo>
                  <a:pt x="50800" y="120650"/>
                </a:moveTo>
                <a:cubicBezTo>
                  <a:pt x="50800" y="113641"/>
                  <a:pt x="45109" y="107950"/>
                  <a:pt x="38100" y="107950"/>
                </a:cubicBezTo>
                <a:cubicBezTo>
                  <a:pt x="31091" y="107950"/>
                  <a:pt x="25400" y="113641"/>
                  <a:pt x="25400" y="120650"/>
                </a:cubicBezTo>
                <a:cubicBezTo>
                  <a:pt x="25400" y="127659"/>
                  <a:pt x="31091" y="133350"/>
                  <a:pt x="38100" y="133350"/>
                </a:cubicBezTo>
                <a:cubicBezTo>
                  <a:pt x="45109" y="133350"/>
                  <a:pt x="50800" y="127659"/>
                  <a:pt x="50800" y="120650"/>
                </a:cubicBezTo>
                <a:close/>
                <a:moveTo>
                  <a:pt x="165100" y="133350"/>
                </a:moveTo>
                <a:cubicBezTo>
                  <a:pt x="172109" y="133350"/>
                  <a:pt x="177800" y="127659"/>
                  <a:pt x="177800" y="120650"/>
                </a:cubicBezTo>
                <a:cubicBezTo>
                  <a:pt x="177800" y="113641"/>
                  <a:pt x="172109" y="107950"/>
                  <a:pt x="165100" y="107950"/>
                </a:cubicBezTo>
                <a:cubicBezTo>
                  <a:pt x="158091" y="107950"/>
                  <a:pt x="152400" y="113641"/>
                  <a:pt x="152400" y="120650"/>
                </a:cubicBezTo>
                <a:cubicBezTo>
                  <a:pt x="152400" y="127659"/>
                  <a:pt x="158091" y="133350"/>
                  <a:pt x="165100" y="13335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28" name="Text 26"/>
          <p:cNvSpPr/>
          <p:nvPr/>
        </p:nvSpPr>
        <p:spPr>
          <a:xfrm>
            <a:off x="7512645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交通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08256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9498013" y="4495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34461" y="-3929"/>
                </a:moveTo>
                <a:cubicBezTo>
                  <a:pt x="139184" y="-516"/>
                  <a:pt x="140930" y="5675"/>
                  <a:pt x="138787" y="11073"/>
                </a:cubicBezTo>
                <a:lnTo>
                  <a:pt x="107672" y="88900"/>
                </a:lnTo>
                <a:lnTo>
                  <a:pt x="165100" y="88900"/>
                </a:lnTo>
                <a:cubicBezTo>
                  <a:pt x="170458" y="88900"/>
                  <a:pt x="175220" y="92234"/>
                  <a:pt x="177046" y="97274"/>
                </a:cubicBezTo>
                <a:cubicBezTo>
                  <a:pt x="178872" y="102314"/>
                  <a:pt x="177324" y="107950"/>
                  <a:pt x="173236" y="111363"/>
                </a:cubicBezTo>
                <a:lnTo>
                  <a:pt x="58936" y="206613"/>
                </a:lnTo>
                <a:cubicBezTo>
                  <a:pt x="54451" y="210344"/>
                  <a:pt x="48062" y="210542"/>
                  <a:pt x="43339" y="207129"/>
                </a:cubicBezTo>
                <a:cubicBezTo>
                  <a:pt x="38616" y="203716"/>
                  <a:pt x="36870" y="197525"/>
                  <a:pt x="39013" y="192127"/>
                </a:cubicBezTo>
                <a:lnTo>
                  <a:pt x="70128" y="114300"/>
                </a:lnTo>
                <a:lnTo>
                  <a:pt x="12700" y="114300"/>
                </a:lnTo>
                <a:cubicBezTo>
                  <a:pt x="7342" y="114300"/>
                  <a:pt x="2580" y="110966"/>
                  <a:pt x="754" y="105926"/>
                </a:cubicBezTo>
                <a:cubicBezTo>
                  <a:pt x="-1072" y="100886"/>
                  <a:pt x="476" y="95250"/>
                  <a:pt x="4564" y="91837"/>
                </a:cubicBezTo>
                <a:lnTo>
                  <a:pt x="118864" y="-3413"/>
                </a:lnTo>
                <a:cubicBezTo>
                  <a:pt x="123349" y="-7144"/>
                  <a:pt x="129738" y="-7342"/>
                  <a:pt x="134461" y="-3929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31" name="Text 29"/>
          <p:cNvSpPr/>
          <p:nvPr/>
        </p:nvSpPr>
        <p:spPr>
          <a:xfrm>
            <a:off x="8971756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43617" y="1885950"/>
            <a:ext cx="4902200" cy="3543300"/>
          </a:xfrm>
          <a:custGeom>
            <a:avLst/>
            <a:gdLst/>
            <a:ahLst/>
            <a:cxnLst/>
            <a:rect l="l" t="t" r="r" b="b"/>
            <a:pathLst>
              <a:path w="4902200" h="3543300">
                <a:moveTo>
                  <a:pt x="203208" y="0"/>
                </a:moveTo>
                <a:lnTo>
                  <a:pt x="4698992" y="0"/>
                </a:lnTo>
                <a:cubicBezTo>
                  <a:pt x="4811221" y="0"/>
                  <a:pt x="4902200" y="90979"/>
                  <a:pt x="4902200" y="203208"/>
                </a:cubicBezTo>
                <a:lnTo>
                  <a:pt x="4902200" y="3340092"/>
                </a:lnTo>
                <a:cubicBezTo>
                  <a:pt x="4902200" y="3452321"/>
                  <a:pt x="4811221" y="3543300"/>
                  <a:pt x="4698992" y="3543300"/>
                </a:cubicBezTo>
                <a:lnTo>
                  <a:pt x="203208" y="3543300"/>
                </a:lnTo>
                <a:cubicBezTo>
                  <a:pt x="90979" y="3543300"/>
                  <a:pt x="0" y="3452321"/>
                  <a:pt x="0" y="3340092"/>
                </a:cubicBezTo>
                <a:lnTo>
                  <a:pt x="0" y="203208"/>
                </a:lnTo>
                <a:cubicBezTo>
                  <a:pt x="0" y="91055"/>
                  <a:pt x="91055" y="0"/>
                  <a:pt x="203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54767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1408767" y="245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35" name="Text 33"/>
          <p:cNvSpPr/>
          <p:nvPr/>
        </p:nvSpPr>
        <p:spPr>
          <a:xfrm>
            <a:off x="12119967" y="22987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全智能感知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19967" y="26543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Intelligent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54767" y="3213100"/>
            <a:ext cx="4381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数十亿物联网设备构成的天基-空基-地基一体化感知网，实现大气状态的秒级更新。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54767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1731823" y="449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8978" y="2778"/>
                </a:moveTo>
                <a:cubicBezTo>
                  <a:pt x="82709" y="-953"/>
                  <a:pt x="88741" y="-953"/>
                  <a:pt x="92432" y="2778"/>
                </a:cubicBezTo>
                <a:lnTo>
                  <a:pt x="127913" y="38259"/>
                </a:lnTo>
                <a:lnTo>
                  <a:pt x="149741" y="16431"/>
                </a:lnTo>
                <a:cubicBezTo>
                  <a:pt x="154702" y="11470"/>
                  <a:pt x="162758" y="11470"/>
                  <a:pt x="167719" y="16431"/>
                </a:cubicBezTo>
                <a:lnTo>
                  <a:pt x="186769" y="35481"/>
                </a:lnTo>
                <a:cubicBezTo>
                  <a:pt x="191730" y="40442"/>
                  <a:pt x="191730" y="48498"/>
                  <a:pt x="186769" y="53459"/>
                </a:cubicBezTo>
                <a:lnTo>
                  <a:pt x="164941" y="75287"/>
                </a:lnTo>
                <a:lnTo>
                  <a:pt x="200422" y="110768"/>
                </a:lnTo>
                <a:cubicBezTo>
                  <a:pt x="204152" y="114498"/>
                  <a:pt x="204152" y="120531"/>
                  <a:pt x="200422" y="124222"/>
                </a:cubicBezTo>
                <a:lnTo>
                  <a:pt x="162322" y="162322"/>
                </a:lnTo>
                <a:cubicBezTo>
                  <a:pt x="158591" y="166053"/>
                  <a:pt x="152559" y="166053"/>
                  <a:pt x="148868" y="162322"/>
                </a:cubicBezTo>
                <a:lnTo>
                  <a:pt x="113387" y="126841"/>
                </a:lnTo>
                <a:lnTo>
                  <a:pt x="107236" y="132993"/>
                </a:lnTo>
                <a:cubicBezTo>
                  <a:pt x="111760" y="142756"/>
                  <a:pt x="114300" y="153630"/>
                  <a:pt x="114300" y="165100"/>
                </a:cubicBezTo>
                <a:cubicBezTo>
                  <a:pt x="114300" y="177681"/>
                  <a:pt x="111244" y="189508"/>
                  <a:pt x="105886" y="199946"/>
                </a:cubicBezTo>
                <a:cubicBezTo>
                  <a:pt x="104021" y="203518"/>
                  <a:pt x="99258" y="204033"/>
                  <a:pt x="96441" y="201176"/>
                </a:cubicBezTo>
                <a:lnTo>
                  <a:pt x="58222" y="162957"/>
                </a:lnTo>
                <a:lnTo>
                  <a:pt x="34409" y="186769"/>
                </a:lnTo>
                <a:cubicBezTo>
                  <a:pt x="29448" y="191730"/>
                  <a:pt x="21392" y="191730"/>
                  <a:pt x="16431" y="186769"/>
                </a:cubicBezTo>
                <a:cubicBezTo>
                  <a:pt x="11470" y="181808"/>
                  <a:pt x="11470" y="173752"/>
                  <a:pt x="16431" y="168791"/>
                </a:cubicBezTo>
                <a:lnTo>
                  <a:pt x="40243" y="144978"/>
                </a:lnTo>
                <a:lnTo>
                  <a:pt x="2024" y="106759"/>
                </a:lnTo>
                <a:cubicBezTo>
                  <a:pt x="-833" y="103902"/>
                  <a:pt x="-317" y="99139"/>
                  <a:pt x="3254" y="97314"/>
                </a:cubicBezTo>
                <a:cubicBezTo>
                  <a:pt x="13692" y="91916"/>
                  <a:pt x="25559" y="88900"/>
                  <a:pt x="38100" y="88900"/>
                </a:cubicBezTo>
                <a:cubicBezTo>
                  <a:pt x="49570" y="88900"/>
                  <a:pt x="60444" y="91440"/>
                  <a:pt x="70207" y="95964"/>
                </a:cubicBezTo>
                <a:lnTo>
                  <a:pt x="76359" y="89813"/>
                </a:lnTo>
                <a:lnTo>
                  <a:pt x="40878" y="54372"/>
                </a:lnTo>
                <a:cubicBezTo>
                  <a:pt x="37147" y="50641"/>
                  <a:pt x="37147" y="44609"/>
                  <a:pt x="40878" y="40918"/>
                </a:cubicBezTo>
                <a:lnTo>
                  <a:pt x="78978" y="2778"/>
                </a:lnTo>
                <a:close/>
                <a:moveTo>
                  <a:pt x="85725" y="22979"/>
                </a:moveTo>
                <a:lnTo>
                  <a:pt x="61079" y="47625"/>
                </a:lnTo>
                <a:lnTo>
                  <a:pt x="89813" y="76359"/>
                </a:lnTo>
                <a:lnTo>
                  <a:pt x="114459" y="51713"/>
                </a:lnTo>
                <a:lnTo>
                  <a:pt x="85725" y="22979"/>
                </a:lnTo>
                <a:close/>
                <a:moveTo>
                  <a:pt x="155575" y="142121"/>
                </a:moveTo>
                <a:lnTo>
                  <a:pt x="180221" y="117475"/>
                </a:lnTo>
                <a:lnTo>
                  <a:pt x="151487" y="88741"/>
                </a:lnTo>
                <a:lnTo>
                  <a:pt x="126841" y="113387"/>
                </a:lnTo>
                <a:lnTo>
                  <a:pt x="155575" y="142121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40" name="Text 38"/>
          <p:cNvSpPr/>
          <p:nvPr/>
        </p:nvSpPr>
        <p:spPr>
          <a:xfrm>
            <a:off x="11218267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613878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13178234" y="4495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206375" y="79375"/>
                </a:moveTo>
                <a:cubicBezTo>
                  <a:pt x="218638" y="79375"/>
                  <a:pt x="228600" y="89337"/>
                  <a:pt x="228600" y="101600"/>
                </a:cubicBezTo>
                <a:cubicBezTo>
                  <a:pt x="228600" y="113863"/>
                  <a:pt x="218638" y="123825"/>
                  <a:pt x="206375" y="123825"/>
                </a:cubicBezTo>
                <a:lnTo>
                  <a:pt x="155853" y="123825"/>
                </a:lnTo>
                <a:lnTo>
                  <a:pt x="92670" y="192723"/>
                </a:lnTo>
                <a:cubicBezTo>
                  <a:pt x="90249" y="195342"/>
                  <a:pt x="86876" y="196850"/>
                  <a:pt x="83304" y="196850"/>
                </a:cubicBezTo>
                <a:lnTo>
                  <a:pt x="65961" y="196850"/>
                </a:lnTo>
                <a:cubicBezTo>
                  <a:pt x="61635" y="196850"/>
                  <a:pt x="58579" y="192603"/>
                  <a:pt x="59928" y="188476"/>
                </a:cubicBezTo>
                <a:lnTo>
                  <a:pt x="81478" y="123825"/>
                </a:lnTo>
                <a:lnTo>
                  <a:pt x="41910" y="123825"/>
                </a:lnTo>
                <a:lnTo>
                  <a:pt x="20955" y="150019"/>
                </a:lnTo>
                <a:cubicBezTo>
                  <a:pt x="19764" y="151527"/>
                  <a:pt x="17939" y="152400"/>
                  <a:pt x="15994" y="152400"/>
                </a:cubicBezTo>
                <a:lnTo>
                  <a:pt x="8136" y="152400"/>
                </a:lnTo>
                <a:cubicBezTo>
                  <a:pt x="4008" y="152400"/>
                  <a:pt x="992" y="148511"/>
                  <a:pt x="1984" y="144502"/>
                </a:cubicBezTo>
                <a:lnTo>
                  <a:pt x="12700" y="101600"/>
                </a:lnTo>
                <a:lnTo>
                  <a:pt x="1984" y="58698"/>
                </a:lnTo>
                <a:cubicBezTo>
                  <a:pt x="953" y="54689"/>
                  <a:pt x="4008" y="50800"/>
                  <a:pt x="8136" y="50800"/>
                </a:cubicBezTo>
                <a:lnTo>
                  <a:pt x="15994" y="50800"/>
                </a:lnTo>
                <a:cubicBezTo>
                  <a:pt x="17939" y="50800"/>
                  <a:pt x="19764" y="51673"/>
                  <a:pt x="20955" y="53181"/>
                </a:cubicBezTo>
                <a:lnTo>
                  <a:pt x="41910" y="79375"/>
                </a:lnTo>
                <a:lnTo>
                  <a:pt x="81478" y="79375"/>
                </a:lnTo>
                <a:lnTo>
                  <a:pt x="59928" y="14724"/>
                </a:lnTo>
                <a:cubicBezTo>
                  <a:pt x="58579" y="10597"/>
                  <a:pt x="61635" y="6350"/>
                  <a:pt x="65961" y="6350"/>
                </a:cubicBezTo>
                <a:lnTo>
                  <a:pt x="83304" y="6350"/>
                </a:lnTo>
                <a:cubicBezTo>
                  <a:pt x="86876" y="6350"/>
                  <a:pt x="90249" y="7858"/>
                  <a:pt x="92670" y="10478"/>
                </a:cubicBezTo>
                <a:lnTo>
                  <a:pt x="155853" y="79375"/>
                </a:lnTo>
                <a:lnTo>
                  <a:pt x="206375" y="79375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43" name="Text 41"/>
          <p:cNvSpPr/>
          <p:nvPr/>
        </p:nvSpPr>
        <p:spPr>
          <a:xfrm>
            <a:off x="12677378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4072989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14637345" y="4495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34885" y="4564"/>
                </a:moveTo>
                <a:cubicBezTo>
                  <a:pt x="30401" y="1826"/>
                  <a:pt x="24527" y="3294"/>
                  <a:pt x="21788" y="7779"/>
                </a:cubicBezTo>
                <a:cubicBezTo>
                  <a:pt x="11946" y="24051"/>
                  <a:pt x="6310" y="43140"/>
                  <a:pt x="6310" y="63500"/>
                </a:cubicBezTo>
                <a:cubicBezTo>
                  <a:pt x="6310" y="83860"/>
                  <a:pt x="11946" y="102949"/>
                  <a:pt x="21788" y="119221"/>
                </a:cubicBezTo>
                <a:cubicBezTo>
                  <a:pt x="24527" y="123706"/>
                  <a:pt x="30361" y="125174"/>
                  <a:pt x="34885" y="122436"/>
                </a:cubicBezTo>
                <a:cubicBezTo>
                  <a:pt x="39410" y="119698"/>
                  <a:pt x="40838" y="113863"/>
                  <a:pt x="38100" y="109339"/>
                </a:cubicBezTo>
                <a:cubicBezTo>
                  <a:pt x="30043" y="96004"/>
                  <a:pt x="25400" y="80288"/>
                  <a:pt x="25400" y="63500"/>
                </a:cubicBezTo>
                <a:cubicBezTo>
                  <a:pt x="25400" y="46712"/>
                  <a:pt x="30043" y="30996"/>
                  <a:pt x="38140" y="17621"/>
                </a:cubicBezTo>
                <a:cubicBezTo>
                  <a:pt x="40878" y="13137"/>
                  <a:pt x="39410" y="7263"/>
                  <a:pt x="34925" y="4524"/>
                </a:cubicBezTo>
                <a:close/>
                <a:moveTo>
                  <a:pt x="193675" y="4564"/>
                </a:moveTo>
                <a:cubicBezTo>
                  <a:pt x="189190" y="7302"/>
                  <a:pt x="187722" y="13137"/>
                  <a:pt x="190460" y="17661"/>
                </a:cubicBezTo>
                <a:cubicBezTo>
                  <a:pt x="198557" y="31036"/>
                  <a:pt x="203200" y="46752"/>
                  <a:pt x="203200" y="63540"/>
                </a:cubicBezTo>
                <a:cubicBezTo>
                  <a:pt x="203200" y="80328"/>
                  <a:pt x="198557" y="96044"/>
                  <a:pt x="190460" y="109418"/>
                </a:cubicBezTo>
                <a:cubicBezTo>
                  <a:pt x="187722" y="113903"/>
                  <a:pt x="189190" y="119777"/>
                  <a:pt x="193675" y="122515"/>
                </a:cubicBezTo>
                <a:cubicBezTo>
                  <a:pt x="198160" y="125254"/>
                  <a:pt x="204033" y="123785"/>
                  <a:pt x="206772" y="119301"/>
                </a:cubicBezTo>
                <a:cubicBezTo>
                  <a:pt x="216614" y="103029"/>
                  <a:pt x="222250" y="83939"/>
                  <a:pt x="222250" y="63579"/>
                </a:cubicBezTo>
                <a:cubicBezTo>
                  <a:pt x="222250" y="43220"/>
                  <a:pt x="216614" y="24051"/>
                  <a:pt x="206772" y="7779"/>
                </a:cubicBezTo>
                <a:cubicBezTo>
                  <a:pt x="204033" y="3294"/>
                  <a:pt x="198199" y="1826"/>
                  <a:pt x="193675" y="4564"/>
                </a:cubicBezTo>
                <a:close/>
                <a:moveTo>
                  <a:pt x="127000" y="85487"/>
                </a:moveTo>
                <a:cubicBezTo>
                  <a:pt x="134580" y="81082"/>
                  <a:pt x="139700" y="72906"/>
                  <a:pt x="139700" y="63500"/>
                </a:cubicBezTo>
                <a:cubicBezTo>
                  <a:pt x="139700" y="49490"/>
                  <a:pt x="128310" y="38100"/>
                  <a:pt x="114300" y="38100"/>
                </a:cubicBezTo>
                <a:cubicBezTo>
                  <a:pt x="100290" y="38100"/>
                  <a:pt x="88900" y="49490"/>
                  <a:pt x="88900" y="63500"/>
                </a:cubicBezTo>
                <a:cubicBezTo>
                  <a:pt x="88900" y="72906"/>
                  <a:pt x="94020" y="81121"/>
                  <a:pt x="101600" y="85487"/>
                </a:cubicBezTo>
                <a:lnTo>
                  <a:pt x="101600" y="190500"/>
                </a:lnTo>
                <a:cubicBezTo>
                  <a:pt x="101600" y="197525"/>
                  <a:pt x="107275" y="203200"/>
                  <a:pt x="114300" y="203200"/>
                </a:cubicBezTo>
                <a:cubicBezTo>
                  <a:pt x="121325" y="203200"/>
                  <a:pt x="127000" y="197525"/>
                  <a:pt x="127000" y="190500"/>
                </a:cubicBezTo>
                <a:lnTo>
                  <a:pt x="127000" y="85487"/>
                </a:lnTo>
                <a:close/>
                <a:moveTo>
                  <a:pt x="71517" y="36116"/>
                </a:moveTo>
                <a:cubicBezTo>
                  <a:pt x="74374" y="31671"/>
                  <a:pt x="73065" y="25797"/>
                  <a:pt x="68659" y="22939"/>
                </a:cubicBezTo>
                <a:cubicBezTo>
                  <a:pt x="64254" y="20082"/>
                  <a:pt x="58341" y="21392"/>
                  <a:pt x="55483" y="25797"/>
                </a:cubicBezTo>
                <a:cubicBezTo>
                  <a:pt x="48498" y="36671"/>
                  <a:pt x="44450" y="49609"/>
                  <a:pt x="44450" y="63500"/>
                </a:cubicBezTo>
                <a:cubicBezTo>
                  <a:pt x="44450" y="77391"/>
                  <a:pt x="48498" y="90329"/>
                  <a:pt x="55483" y="101203"/>
                </a:cubicBezTo>
                <a:cubicBezTo>
                  <a:pt x="58341" y="105648"/>
                  <a:pt x="64214" y="106918"/>
                  <a:pt x="68659" y="104061"/>
                </a:cubicBezTo>
                <a:cubicBezTo>
                  <a:pt x="73104" y="101203"/>
                  <a:pt x="74374" y="95329"/>
                  <a:pt x="71517" y="90884"/>
                </a:cubicBezTo>
                <a:cubicBezTo>
                  <a:pt x="66437" y="82987"/>
                  <a:pt x="63500" y="73581"/>
                  <a:pt x="63500" y="63500"/>
                </a:cubicBezTo>
                <a:cubicBezTo>
                  <a:pt x="63500" y="53419"/>
                  <a:pt x="66437" y="44013"/>
                  <a:pt x="71517" y="36116"/>
                </a:cubicBezTo>
                <a:close/>
                <a:moveTo>
                  <a:pt x="173117" y="25797"/>
                </a:moveTo>
                <a:cubicBezTo>
                  <a:pt x="170259" y="21352"/>
                  <a:pt x="164386" y="20082"/>
                  <a:pt x="159941" y="22939"/>
                </a:cubicBezTo>
                <a:cubicBezTo>
                  <a:pt x="155496" y="25797"/>
                  <a:pt x="154226" y="31671"/>
                  <a:pt x="157083" y="36116"/>
                </a:cubicBezTo>
                <a:cubicBezTo>
                  <a:pt x="162163" y="44013"/>
                  <a:pt x="165100" y="53419"/>
                  <a:pt x="165100" y="63500"/>
                </a:cubicBezTo>
                <a:cubicBezTo>
                  <a:pt x="165100" y="73581"/>
                  <a:pt x="162163" y="82987"/>
                  <a:pt x="157083" y="90884"/>
                </a:cubicBezTo>
                <a:cubicBezTo>
                  <a:pt x="154226" y="95329"/>
                  <a:pt x="155535" y="101203"/>
                  <a:pt x="159941" y="104061"/>
                </a:cubicBezTo>
                <a:cubicBezTo>
                  <a:pt x="164346" y="106918"/>
                  <a:pt x="170259" y="105608"/>
                  <a:pt x="173117" y="101203"/>
                </a:cubicBezTo>
                <a:cubicBezTo>
                  <a:pt x="180102" y="90329"/>
                  <a:pt x="184150" y="77391"/>
                  <a:pt x="184150" y="63500"/>
                </a:cubicBezTo>
                <a:cubicBezTo>
                  <a:pt x="184150" y="49609"/>
                  <a:pt x="180102" y="36671"/>
                  <a:pt x="173117" y="25797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46" name="Text 44"/>
          <p:cNvSpPr/>
          <p:nvPr/>
        </p:nvSpPr>
        <p:spPr>
          <a:xfrm>
            <a:off x="14136489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4350" y="5746750"/>
            <a:ext cx="15227300" cy="1879600"/>
          </a:xfrm>
          <a:custGeom>
            <a:avLst/>
            <a:gdLst/>
            <a:ahLst/>
            <a:cxnLst/>
            <a:rect l="l" t="t" r="r" b="b"/>
            <a:pathLst>
              <a:path w="15227300" h="1879600">
                <a:moveTo>
                  <a:pt x="203204" y="0"/>
                </a:moveTo>
                <a:lnTo>
                  <a:pt x="15024096" y="0"/>
                </a:lnTo>
                <a:cubicBezTo>
                  <a:pt x="15136323" y="0"/>
                  <a:pt x="15227300" y="90977"/>
                  <a:pt x="15227300" y="203204"/>
                </a:cubicBezTo>
                <a:lnTo>
                  <a:pt x="15227300" y="1676396"/>
                </a:lnTo>
                <a:cubicBezTo>
                  <a:pt x="15227300" y="1788623"/>
                  <a:pt x="15136323" y="1879600"/>
                  <a:pt x="15024096" y="1879600"/>
                </a:cubicBezTo>
                <a:lnTo>
                  <a:pt x="203204" y="1879600"/>
                </a:lnTo>
                <a:cubicBezTo>
                  <a:pt x="90977" y="1879600"/>
                  <a:pt x="0" y="1788623"/>
                  <a:pt x="0" y="1676396"/>
                </a:cubicBezTo>
                <a:lnTo>
                  <a:pt x="0" y="203204"/>
                </a:lnTo>
                <a:cubicBezTo>
                  <a:pt x="0" y="91052"/>
                  <a:pt x="91052" y="0"/>
                  <a:pt x="203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5500" y="627697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3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1020763" y="6492875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85750" y="119063"/>
                </a:moveTo>
                <a:cubicBezTo>
                  <a:pt x="272579" y="119063"/>
                  <a:pt x="261938" y="108421"/>
                  <a:pt x="261938" y="95250"/>
                </a:cubicBezTo>
                <a:cubicBezTo>
                  <a:pt x="261938" y="82079"/>
                  <a:pt x="272579" y="71438"/>
                  <a:pt x="285750" y="71438"/>
                </a:cubicBezTo>
                <a:lnTo>
                  <a:pt x="404813" y="71438"/>
                </a:lnTo>
                <a:cubicBezTo>
                  <a:pt x="417984" y="71438"/>
                  <a:pt x="428625" y="82079"/>
                  <a:pt x="428625" y="95250"/>
                </a:cubicBezTo>
                <a:lnTo>
                  <a:pt x="428625" y="214313"/>
                </a:lnTo>
                <a:cubicBezTo>
                  <a:pt x="428625" y="227484"/>
                  <a:pt x="417984" y="238125"/>
                  <a:pt x="404813" y="238125"/>
                </a:cubicBezTo>
                <a:cubicBezTo>
                  <a:pt x="391641" y="238125"/>
                  <a:pt x="381000" y="227484"/>
                  <a:pt x="381000" y="214313"/>
                </a:cubicBezTo>
                <a:lnTo>
                  <a:pt x="381000" y="152772"/>
                </a:lnTo>
                <a:lnTo>
                  <a:pt x="254943" y="278829"/>
                </a:lnTo>
                <a:cubicBezTo>
                  <a:pt x="245641" y="288131"/>
                  <a:pt x="230535" y="288131"/>
                  <a:pt x="221233" y="278829"/>
                </a:cubicBezTo>
                <a:lnTo>
                  <a:pt x="142875" y="200397"/>
                </a:lnTo>
                <a:lnTo>
                  <a:pt x="40630" y="302568"/>
                </a:lnTo>
                <a:cubicBezTo>
                  <a:pt x="31328" y="311869"/>
                  <a:pt x="16222" y="311869"/>
                  <a:pt x="6921" y="302568"/>
                </a:cubicBezTo>
                <a:cubicBezTo>
                  <a:pt x="-2381" y="293266"/>
                  <a:pt x="-2381" y="278160"/>
                  <a:pt x="6921" y="268858"/>
                </a:cubicBezTo>
                <a:lnTo>
                  <a:pt x="125983" y="149796"/>
                </a:lnTo>
                <a:cubicBezTo>
                  <a:pt x="135285" y="140494"/>
                  <a:pt x="150391" y="140494"/>
                  <a:pt x="159693" y="149796"/>
                </a:cubicBezTo>
                <a:lnTo>
                  <a:pt x="238125" y="228228"/>
                </a:lnTo>
                <a:lnTo>
                  <a:pt x="347290" y="119063"/>
                </a:lnTo>
                <a:lnTo>
                  <a:pt x="285750" y="119063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50" name="Text 48"/>
          <p:cNvSpPr/>
          <p:nvPr/>
        </p:nvSpPr>
        <p:spPr>
          <a:xfrm>
            <a:off x="1841500" y="6057900"/>
            <a:ext cx="13741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技术融合与生态构建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841500" y="6565900"/>
            <a:ext cx="137033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未来AI天气预测将与5G、物联网、边缘计算等前沿技术深度融合，构建全方位、全时空、全智能的气象服务新生态，为人类社会带来更加精准、便捷、个性化的气象服务体验。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6950" y="850900"/>
            <a:ext cx="1562100" cy="1397000"/>
          </a:xfrm>
          <a:custGeom>
            <a:avLst/>
            <a:gdLst/>
            <a:ahLst/>
            <a:cxnLst/>
            <a:rect l="l" t="t" r="r" b="b"/>
            <a:pathLst>
              <a:path w="1562100" h="1397000">
                <a:moveTo>
                  <a:pt x="203194" y="0"/>
                </a:moveTo>
                <a:lnTo>
                  <a:pt x="1358906" y="0"/>
                </a:lnTo>
                <a:cubicBezTo>
                  <a:pt x="1471052" y="0"/>
                  <a:pt x="1562100" y="91048"/>
                  <a:pt x="1562100" y="203194"/>
                </a:cubicBezTo>
                <a:lnTo>
                  <a:pt x="1562100" y="1193806"/>
                </a:lnTo>
                <a:cubicBezTo>
                  <a:pt x="1562100" y="1306027"/>
                  <a:pt x="1471127" y="1397000"/>
                  <a:pt x="1358906" y="1397000"/>
                </a:cubicBezTo>
                <a:lnTo>
                  <a:pt x="203194" y="1397000"/>
                </a:lnTo>
                <a:cubicBezTo>
                  <a:pt x="91048" y="1397000"/>
                  <a:pt x="0" y="1305952"/>
                  <a:pt x="0" y="1193806"/>
                </a:cubicBezTo>
                <a:lnTo>
                  <a:pt x="0" y="203194"/>
                </a:lnTo>
                <a:cubicBezTo>
                  <a:pt x="0" y="90973"/>
                  <a:pt x="90973" y="0"/>
                  <a:pt x="203194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47000" y="1155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58676" y="129629"/>
                </a:moveTo>
                <a:lnTo>
                  <a:pt x="381000" y="160437"/>
                </a:lnTo>
                <a:lnTo>
                  <a:pt x="403324" y="129629"/>
                </a:lnTo>
                <a:cubicBezTo>
                  <a:pt x="440531" y="78135"/>
                  <a:pt x="500360" y="47625"/>
                  <a:pt x="563910" y="47625"/>
                </a:cubicBezTo>
                <a:cubicBezTo>
                  <a:pt x="673298" y="47625"/>
                  <a:pt x="762000" y="136327"/>
                  <a:pt x="762000" y="245715"/>
                </a:cubicBezTo>
                <a:lnTo>
                  <a:pt x="762000" y="249585"/>
                </a:lnTo>
                <a:cubicBezTo>
                  <a:pt x="762000" y="416570"/>
                  <a:pt x="553789" y="610493"/>
                  <a:pt x="445145" y="693390"/>
                </a:cubicBezTo>
                <a:cubicBezTo>
                  <a:pt x="426690" y="707380"/>
                  <a:pt x="404068" y="714375"/>
                  <a:pt x="381000" y="714375"/>
                </a:cubicBezTo>
                <a:cubicBezTo>
                  <a:pt x="357932" y="714375"/>
                  <a:pt x="335161" y="707529"/>
                  <a:pt x="316855" y="693390"/>
                </a:cubicBezTo>
                <a:cubicBezTo>
                  <a:pt x="208211" y="610493"/>
                  <a:pt x="0" y="416570"/>
                  <a:pt x="0" y="249585"/>
                </a:cubicBezTo>
                <a:lnTo>
                  <a:pt x="0" y="245715"/>
                </a:lnTo>
                <a:cubicBezTo>
                  <a:pt x="0" y="136327"/>
                  <a:pt x="88702" y="47625"/>
                  <a:pt x="198090" y="47625"/>
                </a:cubicBezTo>
                <a:cubicBezTo>
                  <a:pt x="261640" y="47625"/>
                  <a:pt x="321469" y="78135"/>
                  <a:pt x="358676" y="129629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4" name="Text 2"/>
          <p:cNvSpPr/>
          <p:nvPr/>
        </p:nvSpPr>
        <p:spPr>
          <a:xfrm>
            <a:off x="5041900" y="2654300"/>
            <a:ext cx="6172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结语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12000" y="35687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5200650" y="4057650"/>
            <a:ext cx="5854700" cy="3467100"/>
          </a:xfrm>
          <a:custGeom>
            <a:avLst/>
            <a:gdLst/>
            <a:ahLst/>
            <a:cxnLst/>
            <a:rect l="l" t="t" r="r" b="b"/>
            <a:pathLst>
              <a:path w="5854700" h="3467100">
                <a:moveTo>
                  <a:pt x="304793" y="0"/>
                </a:moveTo>
                <a:lnTo>
                  <a:pt x="5549907" y="0"/>
                </a:lnTo>
                <a:cubicBezTo>
                  <a:pt x="5718240" y="0"/>
                  <a:pt x="5854700" y="136460"/>
                  <a:pt x="5854700" y="304793"/>
                </a:cubicBezTo>
                <a:lnTo>
                  <a:pt x="5854700" y="3162307"/>
                </a:lnTo>
                <a:cubicBezTo>
                  <a:pt x="5854700" y="3330640"/>
                  <a:pt x="5718240" y="3467100"/>
                  <a:pt x="5549907" y="3467100"/>
                </a:cubicBezTo>
                <a:lnTo>
                  <a:pt x="304793" y="3467100"/>
                </a:lnTo>
                <a:cubicBezTo>
                  <a:pt x="136573" y="3467100"/>
                  <a:pt x="0" y="3330527"/>
                  <a:pt x="0" y="3162307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38800" y="4572000"/>
            <a:ext cx="4978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天气预测的目的不在于展示技术，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而是</a:t>
            </a:r>
            <a:r>
              <a:rPr lang="en-US" sz="24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守护生命、赋能发展</a:t>
            </a:r>
            <a:r>
              <a:rPr lang="en-US" sz="2400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18400" y="5867400"/>
            <a:ext cx="1219200" cy="12700"/>
          </a:xfrm>
          <a:custGeom>
            <a:avLst/>
            <a:gdLst/>
            <a:ahLst/>
            <a:cxnLst/>
            <a:rect l="l" t="t" r="r" b="b"/>
            <a:pathLst>
              <a:path w="1219200" h="12700">
                <a:moveTo>
                  <a:pt x="0" y="0"/>
                </a:moveTo>
                <a:lnTo>
                  <a:pt x="1219200" y="0"/>
                </a:lnTo>
                <a:lnTo>
                  <a:pt x="1219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651500" y="6184900"/>
            <a:ext cx="4953000" cy="825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将冰冷的数据转变成融入日常的智慧伴侣，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这才是AI技术</a:t>
            </a:r>
            <a:r>
              <a:rPr lang="en-US" sz="2000" b="1" dirty="0">
                <a:solidFill>
                  <a:srgbClr val="8FBC8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富有温度</a:t>
            </a:r>
            <a:r>
              <a:rPr lang="en-US" sz="20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的切实体现。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9300" y="806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1" name="Text 9"/>
          <p:cNvSpPr/>
          <p:nvPr/>
        </p:nvSpPr>
        <p:spPr>
          <a:xfrm>
            <a:off x="5975350" y="7937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科技向善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51700" y="79629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569200" y="806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4" name="Text 12"/>
          <p:cNvSpPr/>
          <p:nvPr/>
        </p:nvSpPr>
        <p:spPr>
          <a:xfrm>
            <a:off x="7715250" y="7937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以人为本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91600" y="79629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309100" y="806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7" name="Text 15"/>
          <p:cNvSpPr/>
          <p:nvPr/>
        </p:nvSpPr>
        <p:spPr>
          <a:xfrm>
            <a:off x="9455150" y="7937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服务社会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ia.org/51bd44834e9a0c96ab011179a88557bb7c9932d8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908" b="8908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C6E9E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5951538" y="2755900"/>
            <a:ext cx="43561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THE END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908602" y="41783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6" name="Text 3"/>
          <p:cNvSpPr/>
          <p:nvPr/>
        </p:nvSpPr>
        <p:spPr>
          <a:xfrm>
            <a:off x="6065838" y="4559300"/>
            <a:ext cx="4127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谢谢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92838" y="5727700"/>
            <a:ext cx="387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1095" y="8039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9" name="Text 6"/>
          <p:cNvSpPr/>
          <p:nvPr/>
        </p:nvSpPr>
        <p:spPr>
          <a:xfrm>
            <a:off x="4178895" y="7924800"/>
            <a:ext cx="199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天气预报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80758" y="79502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6698258" y="7924800"/>
            <a:ext cx="113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2025/12/19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33941" y="79502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8351441" y="79248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邢雨碟 25120803014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378281" y="8051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25400" y="0"/>
                </a:lnTo>
                <a:cubicBezTo>
                  <a:pt x="39419" y="0"/>
                  <a:pt x="50800" y="11381"/>
                  <a:pt x="50800" y="25400"/>
                </a:cubicBezTo>
                <a:lnTo>
                  <a:pt x="50800" y="25400"/>
                </a:lnTo>
                <a:cubicBezTo>
                  <a:pt x="50800" y="39419"/>
                  <a:pt x="39419" y="50800"/>
                  <a:pt x="254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E0E0E0">
              <a:alpha val="40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10530681" y="7924800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陈玉 25120803015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3184</Words>
  <Application>WPS 演示</Application>
  <PresentationFormat>On-screen Show (16:9)</PresentationFormat>
  <Paragraphs>434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Liter</vt:lpstr>
      <vt:lpstr>Liter</vt:lpstr>
      <vt:lpstr>Liter</vt:lpstr>
      <vt:lpstr>MiSans</vt:lpstr>
      <vt:lpstr>MiSans</vt:lpstr>
      <vt:lpstr>得意黑</vt:lpstr>
      <vt:lpstr>得意黑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AI天气预测</dc:title>
  <dc:creator>Kimi</dc:creator>
  <dc:subject>AI天气预测</dc:subject>
  <cp:lastModifiedBy>WPS_1734859806</cp:lastModifiedBy>
  <cp:revision>10</cp:revision>
  <dcterms:created xsi:type="dcterms:W3CDTF">2025-12-19T17:04:00Z</dcterms:created>
  <dcterms:modified xsi:type="dcterms:W3CDTF">2025-12-19T17:35:58Z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{"Label":"AI天气预测","ContentProducer":"001191110108MACG2KBH8F10000","ProduceID":"19b3789b-5cf2-8995-8000-0000f51ce519","ReservedCode1":"","ContentPropagator":"001191110108MACG2KBH8F20000","PropagateID":"19b3789b-5cf2-8995-8000-0000f51ce519","ReservedCode2":""}</vt:lpwstr>
  </property>
  <property fmtid="{D5CDD505-2E9C-101B-9397-08002B2CF9AE}" pid="3" name="ICV">
    <vt:lpwstr>AEEE0A326F6E4B0C8A762A94F5DD0933_13</vt:lpwstr>
  </property>
  <property fmtid="{D5CDD505-2E9C-101B-9397-08002B2CF9AE}" pid="4" name="KSOProductBuildVer">
    <vt:lpwstr>2052-12.8.2.17149</vt:lpwstr>
  </property>
</Properties>
</file>