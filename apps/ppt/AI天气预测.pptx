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75" r:id="rId7"/>
    <p:sldId id="264" r:id="rId8"/>
    <p:sldId id="276" r:id="rId9"/>
    <p:sldId id="279" r:id="rId10"/>
    <p:sldId id="266" r:id="rId11"/>
    <p:sldId id="268" r:id="rId12"/>
    <p:sldId id="278" r:id="rId13"/>
    <p:sldId id="270" r:id="rId14"/>
    <p:sldId id="271" r:id="rId15"/>
    <p:sldId id="281" r:id="rId16"/>
    <p:sldId id="272" r:id="rId17"/>
    <p:sldId id="273" r:id="rId18"/>
    <p:sldId id="282" r:id="rId19"/>
    <p:sldId id="274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image" Target="../media/image3.png"/><Relationship Id="rId7" Type="http://schemas.openxmlformats.org/officeDocument/2006/relationships/tags" Target="../tags/tag171.xml"/><Relationship Id="rId6" Type="http://schemas.openxmlformats.org/officeDocument/2006/relationships/image" Target="../media/image2.png"/><Relationship Id="rId5" Type="http://schemas.openxmlformats.org/officeDocument/2006/relationships/tags" Target="../tags/tag170.xml"/><Relationship Id="rId4" Type="http://schemas.openxmlformats.org/officeDocument/2006/relationships/image" Target="../media/image1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image" Target="../media/image3.png"/><Relationship Id="rId7" Type="http://schemas.openxmlformats.org/officeDocument/2006/relationships/tags" Target="../tags/tag183.xml"/><Relationship Id="rId6" Type="http://schemas.openxmlformats.org/officeDocument/2006/relationships/image" Target="../media/image4.png"/><Relationship Id="rId5" Type="http://schemas.openxmlformats.org/officeDocument/2006/relationships/tags" Target="../tags/tag182.xml"/><Relationship Id="rId4" Type="http://schemas.openxmlformats.org/officeDocument/2006/relationships/image" Target="../media/image2.png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image" Target="../media/image2.png"/><Relationship Id="rId7" Type="http://schemas.openxmlformats.org/officeDocument/2006/relationships/tags" Target="../tags/tag194.xml"/><Relationship Id="rId6" Type="http://schemas.openxmlformats.org/officeDocument/2006/relationships/image" Target="../media/image1.png"/><Relationship Id="rId5" Type="http://schemas.openxmlformats.org/officeDocument/2006/relationships/tags" Target="../tags/tag193.xml"/><Relationship Id="rId4" Type="http://schemas.openxmlformats.org/officeDocument/2006/relationships/image" Target="../media/image4.png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6" Type="http://schemas.openxmlformats.org/officeDocument/2006/relationships/tags" Target="../tags/tag201.xml"/><Relationship Id="rId15" Type="http://schemas.openxmlformats.org/officeDocument/2006/relationships/tags" Target="../tags/tag200.xml"/><Relationship Id="rId14" Type="http://schemas.openxmlformats.org/officeDocument/2006/relationships/tags" Target="../tags/tag199.xml"/><Relationship Id="rId13" Type="http://schemas.openxmlformats.org/officeDocument/2006/relationships/tags" Target="../tags/tag198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1684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88900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668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668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10668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668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3368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92200" y="1172845"/>
            <a:ext cx="2086429" cy="1081088"/>
          </a:xfrm>
        </p:spPr>
        <p:txBody>
          <a:bodyPr wrap="square" anchor="b">
            <a:normAutofit/>
          </a:bodyPr>
          <a:lstStyle>
            <a:lvl1pPr algn="r">
              <a:defRPr sz="6000">
                <a:gradFill>
                  <a:gsLst>
                    <a:gs pos="52000">
                      <a:schemeClr val="accent1">
                        <a:lumMod val="60000"/>
                        <a:lumOff val="40000"/>
                      </a:schemeClr>
                    </a:gs>
                    <a:gs pos="9300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2"/>
              </a:gs>
              <a:gs pos="83000">
                <a:schemeClr val="accent1">
                  <a:lumMod val="85000"/>
                  <a:alpha val="6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矢量智能对象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62395" y="0"/>
            <a:ext cx="5729605" cy="6858000"/>
          </a:xfrm>
          <a:prstGeom prst="rect">
            <a:avLst/>
          </a:prstGeom>
        </p:spPr>
      </p:pic>
      <p:pic>
        <p:nvPicPr>
          <p:cNvPr id="9" name="图片 8" descr="ffff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48850" y="0"/>
            <a:ext cx="2343150" cy="1537335"/>
          </a:xfrm>
          <a:prstGeom prst="rect">
            <a:avLst/>
          </a:prstGeom>
        </p:spPr>
      </p:pic>
      <p:pic>
        <p:nvPicPr>
          <p:cNvPr id="11" name="图片 10" descr="fffffffdddd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4720" y="5933440"/>
            <a:ext cx="4907280" cy="924560"/>
          </a:xfrm>
          <a:prstGeom prst="rect">
            <a:avLst/>
          </a:prstGeom>
        </p:spPr>
      </p:pic>
      <p:pic>
        <p:nvPicPr>
          <p:cNvPr id="12" name="图片 11" descr="fffffff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lum bright="12000"/>
          </a:blip>
          <a:stretch>
            <a:fillRect/>
          </a:stretch>
        </p:blipFill>
        <p:spPr>
          <a:xfrm>
            <a:off x="0" y="0"/>
            <a:ext cx="1893570" cy="1350010"/>
          </a:xfrm>
          <a:prstGeom prst="rect">
            <a:avLst/>
          </a:prstGeom>
        </p:spPr>
      </p:pic>
      <p:pic>
        <p:nvPicPr>
          <p:cNvPr id="16" name="图片 15" descr="矢量智能对象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4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59855" y="0"/>
            <a:ext cx="5729605" cy="685800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6386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6387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6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tx2"/>
                    </a:gs>
                    <a:gs pos="45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0"/>
                </a:gra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17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2"/>
              </a:gs>
              <a:gs pos="83000">
                <a:schemeClr val="accent1">
                  <a:lumMod val="85000"/>
                  <a:alpha val="6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ffff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48850" y="0"/>
            <a:ext cx="2343150" cy="1537335"/>
          </a:xfrm>
          <a:prstGeom prst="rect">
            <a:avLst/>
          </a:prstGeom>
        </p:spPr>
      </p:pic>
      <p:pic>
        <p:nvPicPr>
          <p:cNvPr id="10" name="图片 9" descr="fffffff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</a:blip>
          <a:stretch>
            <a:fillRect/>
          </a:stretch>
        </p:blipFill>
        <p:spPr>
          <a:xfrm>
            <a:off x="0" y="0"/>
            <a:ext cx="1893570" cy="1350010"/>
          </a:xfrm>
          <a:prstGeom prst="rect">
            <a:avLst/>
          </a:prstGeom>
        </p:spPr>
      </p:pic>
      <p:pic>
        <p:nvPicPr>
          <p:cNvPr id="11" name="图片 10" descr="fffffffdddd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21630" y="5933440"/>
            <a:ext cx="4907280" cy="924560"/>
          </a:xfrm>
          <a:prstGeom prst="rect">
            <a:avLst/>
          </a:prstGeom>
        </p:spPr>
      </p:pic>
      <p:pic>
        <p:nvPicPr>
          <p:cNvPr id="12" name="图片 11" descr="ffffffffffffffff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023100" y="0"/>
            <a:ext cx="5168900" cy="6858000"/>
          </a:xfrm>
          <a:prstGeom prst="rect">
            <a:avLst/>
          </a:prstGeom>
        </p:spPr>
      </p:pic>
      <p:pic>
        <p:nvPicPr>
          <p:cNvPr id="6" name="图片 2" descr="ffffffffffffffff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0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23100" y="0"/>
            <a:ext cx="5168900" cy="6858000"/>
          </a:xfrm>
          <a:prstGeom prst="rect">
            <a:avLst/>
          </a:prstGeom>
        </p:spPr>
      </p:pic>
      <p:sp>
        <p:nvSpPr>
          <p:cNvPr id="14" name="日期占位符 4"/>
          <p:cNvSpPr>
            <a:spLocks noGrp="1"/>
          </p:cNvSpPr>
          <p:nvPr>
            <p:ph type="dt" sz="half" idx="16385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1638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16387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gradFill>
                  <a:gsLst>
                    <a:gs pos="20000">
                      <a:schemeClr val="accent1">
                        <a:lumMod val="70000"/>
                        <a:lumOff val="30000"/>
                      </a:schemeClr>
                    </a:gs>
                    <a:gs pos="9300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3" name="节编号 3"/>
          <p:cNvSpPr>
            <a:spLocks noGrp="1"/>
          </p:cNvSpPr>
          <p:nvPr>
            <p:ph type="body" sz="quarter" idx="16389" hasCustomPrompt="1"/>
            <p:custDataLst>
              <p:tags r:id="rId1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1000">
                <a:schemeClr val="bg2"/>
              </a:gs>
              <a:gs pos="83000">
                <a:schemeClr val="accent1">
                  <a:lumMod val="85000"/>
                  <a:alpha val="6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fffffff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lum bright="6000" contrast="6000"/>
          </a:blip>
          <a:stretch>
            <a:fillRect/>
          </a:stretch>
        </p:blipFill>
        <p:spPr>
          <a:xfrm>
            <a:off x="0" y="0"/>
            <a:ext cx="1893570" cy="1350010"/>
          </a:xfrm>
          <a:prstGeom prst="rect">
            <a:avLst/>
          </a:prstGeom>
        </p:spPr>
      </p:pic>
      <p:pic>
        <p:nvPicPr>
          <p:cNvPr id="6" name="图片 2" descr="矢量智能对象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62395" y="0"/>
            <a:ext cx="5729605" cy="6858000"/>
          </a:xfrm>
          <a:prstGeom prst="rect">
            <a:avLst/>
          </a:prstGeom>
        </p:spPr>
      </p:pic>
      <p:pic>
        <p:nvPicPr>
          <p:cNvPr id="10" name="图片 9" descr="ffff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7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848850" y="0"/>
            <a:ext cx="2343150" cy="1537335"/>
          </a:xfrm>
          <a:prstGeom prst="rect">
            <a:avLst/>
          </a:prstGeom>
        </p:spPr>
      </p:pic>
      <p:pic>
        <p:nvPicPr>
          <p:cNvPr id="14" name="图片 13" descr="fffffffdddd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4720" y="5933440"/>
            <a:ext cx="4907280" cy="924560"/>
          </a:xfrm>
          <a:prstGeom prst="rect">
            <a:avLst/>
          </a:prstGeom>
        </p:spPr>
      </p:pic>
      <p:pic>
        <p:nvPicPr>
          <p:cNvPr id="15" name="图片 14" descr="矢量智能对象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6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59855" y="0"/>
            <a:ext cx="5729605" cy="6858000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Subtitle 16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gradFill>
                  <a:gsLst>
                    <a:gs pos="0">
                      <a:schemeClr val="tx2"/>
                    </a:gs>
                    <a:gs pos="45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6388" hasCustomPrompt="1"/>
            <p:custDataLst>
              <p:tags r:id="rId16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tx2"/>
                    </a:gs>
                    <a:gs pos="45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0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5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" name="图片占位符 1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3" Type="http://schemas.openxmlformats.org/officeDocument/2006/relationships/theme" Target="../theme/theme2.xml"/><Relationship Id="rId32" Type="http://schemas.openxmlformats.org/officeDocument/2006/relationships/tags" Target="../tags/tag247.xml"/><Relationship Id="rId31" Type="http://schemas.openxmlformats.org/officeDocument/2006/relationships/tags" Target="../tags/tag246.xml"/><Relationship Id="rId30" Type="http://schemas.openxmlformats.org/officeDocument/2006/relationships/tags" Target="../tags/tag245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44.xml"/><Relationship Id="rId28" Type="http://schemas.openxmlformats.org/officeDocument/2006/relationships/tags" Target="../tags/tag243.xml"/><Relationship Id="rId27" Type="http://schemas.openxmlformats.org/officeDocument/2006/relationships/tags" Target="../tags/tag242.xml"/><Relationship Id="rId26" Type="http://schemas.openxmlformats.org/officeDocument/2006/relationships/tags" Target="../tags/tag241.xml"/><Relationship Id="rId25" Type="http://schemas.openxmlformats.org/officeDocument/2006/relationships/image" Target="../media/image6.jpeg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background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5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2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33000">
                <a:schemeClr val="tx2"/>
              </a:gs>
              <a:gs pos="100000">
                <a:schemeClr val="accent1"/>
              </a:gs>
            </a:gsLst>
            <a:lin ang="27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tags" Target="../tags/tag25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tags" Target="../tags/tag27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tags" Target="../tags/tag2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image" Target="../media/image9.jpeg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288.xml"/><Relationship Id="rId16" Type="http://schemas.openxmlformats.org/officeDocument/2006/relationships/tags" Target="../tags/tag287.xml"/><Relationship Id="rId15" Type="http://schemas.openxmlformats.org/officeDocument/2006/relationships/tags" Target="../tags/tag286.xml"/><Relationship Id="rId14" Type="http://schemas.openxmlformats.org/officeDocument/2006/relationships/image" Target="../media/image11.jpeg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image" Target="../media/image12.png"/><Relationship Id="rId2" Type="http://schemas.openxmlformats.org/officeDocument/2006/relationships/tags" Target="../tags/tag292.xml"/><Relationship Id="rId14" Type="http://schemas.openxmlformats.org/officeDocument/2006/relationships/slideLayout" Target="../slideLayouts/slideLayout16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tags" Target="../tags/tag29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image" Target="../media/image13.jpeg"/><Relationship Id="rId2" Type="http://schemas.openxmlformats.org/officeDocument/2006/relationships/tags" Target="../tags/tag309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30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3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tags" Target="../tags/tag32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image" Target="../media/image15.png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image" Target="../media/image14.jpeg"/><Relationship Id="rId2" Type="http://schemas.openxmlformats.org/officeDocument/2006/relationships/tags" Target="../tags/tag331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image" Target="../media/image16.jpeg"/><Relationship Id="rId10" Type="http://schemas.openxmlformats.org/officeDocument/2006/relationships/tags" Target="../tags/tag337.xml"/><Relationship Id="rId1" Type="http://schemas.openxmlformats.org/officeDocument/2006/relationships/tags" Target="../tags/tag3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342.xml"/><Relationship Id="rId1" Type="http://schemas.openxmlformats.org/officeDocument/2006/relationships/tags" Target="../tags/tag34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2025/12/19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天气预报的“游戏规则”变了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>
          <a:xfrm>
            <a:off x="2096770" y="4887595"/>
            <a:ext cx="3843655" cy="1273175"/>
          </a:xfrm>
        </p:spPr>
        <p:txBody>
          <a:bodyPr>
            <a:normAutofit lnSpcReduction="10000"/>
          </a:bodyPr>
          <a:p>
            <a:pPr algn="r"/>
            <a:r>
              <a:rPr lang="zh-CN" altLang="en-US"/>
              <a:t>制作人：邢雨碟</a:t>
            </a:r>
            <a:r>
              <a:rPr lang="en-US" altLang="zh-CN"/>
              <a:t>25120803014</a:t>
            </a:r>
            <a:endParaRPr lang="en-US" altLang="zh-CN"/>
          </a:p>
          <a:p>
            <a:pPr algn="r"/>
            <a:r>
              <a:rPr lang="en-US" altLang="zh-CN">
                <a:solidFill>
                  <a:srgbClr val="FFFFFF"/>
                </a:solidFill>
              </a:rPr>
              <a:t>              </a:t>
            </a:r>
            <a:r>
              <a:rPr lang="zh-CN" altLang="en-US">
                <a:solidFill>
                  <a:srgbClr val="FFFFFF"/>
                </a:solidFill>
              </a:rPr>
              <a:t>陈玉</a:t>
            </a:r>
            <a:r>
              <a:rPr lang="en-US" altLang="zh-CN"/>
              <a:t>25120803015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开篇设问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004300" y="2133600"/>
            <a:ext cx="2324100" cy="914475"/>
          </a:xfrm>
        </p:spPr>
        <p:txBody>
          <a:bodyPr>
            <a:normAutofit/>
          </a:bodyPr>
          <a:p>
            <a:r>
              <a:rPr lang="zh-CN" altLang="en-US"/>
              <a:t>传统</a:t>
            </a:r>
            <a:r>
              <a:rPr lang="zh-CN" altLang="en-US">
                <a:cs typeface="Arial" panose="020B0604020202020204" pitchFamily="34" charset="0"/>
              </a:rPr>
              <a:t>天气预测</a:t>
            </a:r>
            <a:r>
              <a:rPr lang="en-US" altLang="zh-CN">
                <a:cs typeface="Arial" panose="020B0604020202020204" pitchFamily="34" charset="0"/>
              </a:rPr>
              <a:t>VS</a:t>
            </a:r>
            <a:r>
              <a:rPr lang="zh-CN" altLang="en-US">
                <a:cs typeface="Arial" panose="020B0604020202020204" pitchFamily="34" charset="0"/>
              </a:rPr>
              <a:t> </a:t>
            </a:r>
            <a:r>
              <a:rPr lang="en-US" altLang="zh-CN">
                <a:cs typeface="Arial" panose="020B0604020202020204" pitchFamily="34" charset="0"/>
              </a:rPr>
              <a:t>AI</a:t>
            </a:r>
            <a:r>
              <a:rPr lang="zh-CN" altLang="en-US">
                <a:cs typeface="Arial" panose="020B0604020202020204" pitchFamily="34" charset="0"/>
              </a:rPr>
              <a:t>天气预测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AI天气预测的优点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展望与结语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开篇设问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/>
          <p:cNvPicPr>
            <a:picLocks noChangeAspect="1"/>
          </p:cNvPicPr>
          <p:nvPr>
            <p:ph idx="16388"/>
            <p:custDataLst>
              <p:tags r:id="rId1"/>
            </p:custDataLst>
          </p:nvPr>
        </p:nvPicPr>
        <p:blipFill>
          <a:blip r:embed="rId2"/>
          <a:srcRect t="7869" b="7869"/>
          <a:stretch>
            <a:fillRect/>
          </a:stretch>
        </p:blipFill>
        <p:spPr>
          <a:xfrm>
            <a:off x="93980" y="1135380"/>
            <a:ext cx="5659755" cy="439547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l="21002" r="-694"/>
          <a:stretch>
            <a:fillRect/>
          </a:stretch>
        </p:blipFill>
        <p:spPr>
          <a:xfrm>
            <a:off x="6029931" y="1234612"/>
            <a:ext cx="6017757" cy="4239160"/>
          </a:xfrm>
          <a:prstGeom prst="rect">
            <a:avLst/>
          </a:prstGeom>
        </p:spPr>
      </p:pic>
      <p:sp>
        <p:nvSpPr>
          <p:cNvPr id="21" name="文本框 20"/>
          <p:cNvSpPr txBox="1"/>
          <p:nvPr userDrawn="1"/>
        </p:nvSpPr>
        <p:spPr>
          <a:xfrm>
            <a:off x="651510" y="5991225"/>
            <a:ext cx="461010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400"/>
              <a:t>传统天气预测全球一周测试时间</a:t>
            </a:r>
            <a:endParaRPr lang="zh-CN" altLang="en-US" sz="240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7205980" y="5991225"/>
            <a:ext cx="403225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2400"/>
              <a:t>AI</a:t>
            </a:r>
            <a:r>
              <a:rPr lang="zh-CN" altLang="en-US" sz="2400"/>
              <a:t>天气预测仅需几分钟</a:t>
            </a:r>
            <a:endParaRPr lang="zh-CN" altLang="en-US" sz="2400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622300" y="229235"/>
            <a:ext cx="794004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360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这是如何做到的？</a:t>
            </a:r>
            <a:endParaRPr lang="zh-CN" altLang="en-US" sz="360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传统天气预测</a:t>
            </a:r>
            <a:r>
              <a:rPr lang="en-US" altLang="zh-CN"/>
              <a:t> </a:t>
            </a:r>
            <a:r>
              <a:rPr lang="zh-CN" altLang="en-US"/>
              <a:t>VS AI天气预测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传统天气预测方法——“解方程”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0d871790-dcd0-11f0-9979-a23d655d9155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1892" t="1861" r="1654" b="-1861"/>
          <a:stretch>
            <a:fillRect/>
          </a:stretch>
        </p:blipFill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气象观测站数据采集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5" name="文本占位符 14"/>
          <p:cNvSpPr/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800"/>
              <a:t>通过百叶箱，雨量计，风向风标等方式收集。按场景分为地面、高空及卫星三类。</a:t>
            </a:r>
            <a:endParaRPr lang="zh-CN" altLang="en-US" sz="1800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157" b="3157"/>
          <a:stretch>
            <a:fillRect/>
          </a:stretch>
        </p:blipFill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天气图分析技术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 sz="1800"/>
              <a:t>依据天气动力学原理，对气象观测数据进行操作与推断的技术过程，为天气预报提供物理依据。</a:t>
            </a:r>
            <a:endParaRPr lang="zh-CN" altLang="en-US" sz="1800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9316" r="7223"/>
          <a:stretch>
            <a:fillRect/>
          </a:stretch>
        </p:blipFill>
        <p:spPr>
          <a:xfrm>
            <a:off x="8039120" y="1524000"/>
            <a:ext cx="354328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数值天气预报雏形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Autofit/>
          </a:bodyPr>
          <a:p>
            <a:r>
              <a:rPr lang="zh-CN" altLang="en-US" sz="1800"/>
              <a:t>基于数学模型和超级计算的气象数据可视化，为精准、定量的天气预报提供科学支撑。</a:t>
            </a:r>
            <a:endParaRPr lang="zh-CN" altLang="en-US" sz="1800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600"/>
              <a:t>传统</a:t>
            </a:r>
            <a:r>
              <a:rPr lang="zh-CN" altLang="en-US" sz="3600">
                <a:cs typeface="Arial" panose="020B0604020202020204" pitchFamily="34" charset="0"/>
              </a:rPr>
              <a:t>方法的局限与挑战：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>
                <a:cs typeface="Arial" panose="020B0604020202020204" pitchFamily="34" charset="0"/>
              </a:rPr>
              <a:t>、混沌效应与确定性极限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无论初始场多么精确，微小的误差都会随着时间数级增长。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2</a:t>
            </a:r>
            <a:r>
              <a:rPr lang="zh-CN" altLang="en-US">
                <a:cs typeface="Arial" panose="020B0604020202020204" pitchFamily="34" charset="0"/>
              </a:rPr>
              <a:t>、观测网络的不完备性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分布不均，在海洋、高原、极地少，导致这些区域存在“盲点”。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3</a:t>
            </a:r>
            <a:r>
              <a:rPr lang="zh-CN" altLang="en-US">
                <a:cs typeface="Arial" panose="020B0604020202020204" pitchFamily="34" charset="0"/>
              </a:rPr>
              <a:t>、预报员主观性的双刃剑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过度依赖个人经验可能导致重大失误。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AI天气预测原理——“找规律”</a:t>
            </a:r>
            <a:endParaRPr lang="zh-CN" altLang="en-US"/>
          </a:p>
        </p:txBody>
      </p:sp>
      <p:pic>
        <p:nvPicPr>
          <p:cNvPr id="3" name="内容占位符 2" descr="0bf6f8ed-dcd0-11f0-a9a9-2ec9e7ab89be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4225" r="14392"/>
          <a:stretch>
            <a:fillRect/>
          </a:stretch>
        </p:blipFill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数据采集与预处理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可视化：将过去</a:t>
            </a:r>
            <a:r>
              <a:rPr lang="en-US" altLang="zh-CN"/>
              <a:t>40</a:t>
            </a:r>
            <a:r>
              <a:rPr lang="zh-CN" altLang="en-US"/>
              <a:t>年的全球天气数据变成一本厚厚的“天气变化连环册”。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机器学习模型训练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 </a:t>
            </a:r>
            <a:r>
              <a:rPr lang="en-US" altLang="zh-CN"/>
              <a:t>AI</a:t>
            </a:r>
            <a:r>
              <a:rPr lang="zh-CN" altLang="en-US"/>
              <a:t>的任务不是解方程而是刷题，学习画面与画面之间变化的规律。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预测结果生成与优化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将数据输入给已经训练好的</a:t>
            </a:r>
            <a:r>
              <a:rPr lang="en-US" altLang="zh-CN"/>
              <a:t>AI</a:t>
            </a:r>
            <a:r>
              <a:rPr lang="zh-CN" altLang="en-US"/>
              <a:t>模型，调动内化知识，比对画面并计算生成天气预报。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AI天气预测的优点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1.</a:t>
            </a:r>
            <a:r>
              <a:rPr lang="zh-CN" altLang="en-US"/>
              <a:t>预测精准度提升</a:t>
            </a:r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165" y="1591945"/>
            <a:ext cx="5392420" cy="3749675"/>
          </a:xfrm>
          <a:prstGeom prst="rect">
            <a:avLst/>
          </a:prstGeom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/>
              <a:t>AI</a:t>
            </a:r>
            <a:r>
              <a:rPr lang="zh-CN" altLang="en-US" sz="2400"/>
              <a:t>是数据驱动的，通过学习海量历史气象数据，全面超越了最先进的传统预报系统，将全球</a:t>
            </a:r>
            <a:r>
              <a:rPr lang="en-US" altLang="zh-CN" sz="2400"/>
              <a:t>7</a:t>
            </a:r>
            <a:r>
              <a:rPr lang="zh-CN" altLang="en-US" sz="2400"/>
              <a:t>天预测的误差降低了</a:t>
            </a:r>
            <a:r>
              <a:rPr lang="en-US" altLang="zh-CN" sz="2400"/>
              <a:t>20%</a:t>
            </a:r>
            <a:r>
              <a:rPr lang="zh-CN" altLang="en-US" sz="2400"/>
              <a:t>以上。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2</a:t>
            </a:r>
            <a:r>
              <a:rPr lang="zh-CN" altLang="en-US">
                <a:cs typeface="Arial" panose="020B0604020202020204" pitchFamily="34" charset="0"/>
              </a:rPr>
              <a:t>、</a:t>
            </a:r>
            <a:r>
              <a:rPr lang="zh-CN" altLang="en-US"/>
              <a:t>响应速度更快</a:t>
            </a:r>
            <a:endParaRPr lang="zh-CN" altLang="en-US"/>
          </a:p>
        </p:txBody>
      </p:sp>
      <p:pic>
        <p:nvPicPr>
          <p:cNvPr id="3" name="内容占位符 2" descr="0c0d75f7-dcd0-11f0-9979-a23d655d915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1046" r="11046"/>
          <a:stretch>
            <a:fillRect/>
          </a:stretch>
        </p:blipFill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实时数据处理能力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1066800" y="2667000"/>
            <a:ext cx="4572000" cy="914400"/>
          </a:xfrm>
        </p:spPr>
        <p:txBody>
          <a:bodyPr>
            <a:normAutofit/>
          </a:bodyPr>
          <a:p>
            <a:r>
              <a:rPr lang="en-US" altLang="zh-CN" sz="1800"/>
              <a:t>AI</a:t>
            </a:r>
            <a:r>
              <a:rPr lang="zh-CN" altLang="en-US" sz="1800">
                <a:cs typeface="Arial" panose="020B0604020202020204" pitchFamily="34" charset="0"/>
              </a:rPr>
              <a:t>模型一旦训练完成，就可以实现“分钟级”更新的全球预报。</a:t>
            </a:r>
            <a:endParaRPr lang="zh-CN" altLang="en-US" sz="18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1066800" y="4006215"/>
            <a:ext cx="4572000" cy="406400"/>
          </a:xfrm>
        </p:spPr>
        <p:txBody>
          <a:bodyPr>
            <a:normAutofit/>
          </a:bodyPr>
          <a:p>
            <a:r>
              <a:rPr lang="zh-CN" altLang="en-US"/>
              <a:t>分布式计算架构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1066800" y="4575175"/>
            <a:ext cx="4572000" cy="1089025"/>
          </a:xfrm>
        </p:spPr>
        <p:txBody>
          <a:bodyPr>
            <a:noAutofit/>
          </a:bodyPr>
          <a:p>
            <a:r>
              <a:rPr lang="zh-CN" altLang="en-US" sz="1800"/>
              <a:t>中国气象局AI预报系统采用分布式GPU集群，单小时可完成10万次模式运算，比超级计算机提速3倍以上。</a:t>
            </a:r>
            <a:endParaRPr lang="zh-CN" altLang="en-US" sz="1800"/>
          </a:p>
        </p:txBody>
      </p:sp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3</a:t>
            </a:r>
            <a:r>
              <a:rPr lang="zh-CN" altLang="en-US">
                <a:cs typeface="Arial" panose="020B0604020202020204" pitchFamily="34" charset="0"/>
              </a:rPr>
              <a:t>、广泛的可及性与应用潜力</a:t>
            </a:r>
            <a:endParaRPr lang="zh-CN" altLang="en-US"/>
          </a:p>
        </p:txBody>
      </p:sp>
      <p:sp>
        <p:nvSpPr>
          <p:cNvPr id="18" name="内容占位符 17"/>
          <p:cNvSpPr/>
          <p:nvPr>
            <p:ph idx="16392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762000" y="2286000"/>
            <a:ext cx="7239000" cy="1117669"/>
          </a:xfrm>
        </p:spPr>
        <p:txBody>
          <a:bodyPr>
            <a:normAutofit/>
          </a:bodyPr>
          <a:p>
            <a:r>
              <a:rPr lang="zh-CN" altLang="en-US"/>
              <a:t>为风电提供精准的发电量预测，为农业提供灾害预警，为物流提供航线优化预报</a:t>
            </a:r>
            <a:endParaRPr lang="en-US" altLang="zh-CN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762000" y="3708400"/>
            <a:ext cx="7239000" cy="984122"/>
          </a:xfrm>
        </p:spPr>
        <p:txBody>
          <a:bodyPr>
            <a:normAutofit/>
          </a:bodyPr>
          <a:p>
            <a:pPr>
              <a:lnSpc>
                <a:spcPct val="201000"/>
              </a:lnSpc>
            </a:pPr>
            <a:r>
              <a:rPr lang="zh-CN" altLang="en-US"/>
              <a:t>大幅度降低成本和消耗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7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762000" y="5130800"/>
            <a:ext cx="7239000" cy="998935"/>
          </a:xfrm>
        </p:spPr>
        <p:txBody>
          <a:bodyPr>
            <a:normAutofit/>
          </a:bodyPr>
          <a:p>
            <a:pPr>
              <a:lnSpc>
                <a:spcPct val="201000"/>
              </a:lnSpc>
            </a:pPr>
            <a:r>
              <a:rPr lang="zh-CN" altLang="en-US"/>
              <a:t>加速科学发现与模式改进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美国</a:t>
            </a:r>
            <a:r>
              <a:rPr lang="en-US" altLang="zh-CN"/>
              <a:t>AR</a:t>
            </a:r>
            <a:r>
              <a:rPr lang="zh-CN" altLang="en-US"/>
              <a:t>可视化天气</a:t>
            </a:r>
            <a:r>
              <a:rPr lang="zh-CN" altLang="en-US"/>
              <a:t>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6392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533061" y="1650930"/>
            <a:ext cx="7243784" cy="4733651"/>
          </a:xfrm>
          <a:prstGeom prst="rect">
            <a:avLst/>
          </a:prstGeom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800"/>
              <a:t>  </a:t>
            </a:r>
            <a:r>
              <a:rPr lang="zh-CN" altLang="en-US" sz="2800"/>
              <a:t>目的：解决传统天气预报播报的乏味性，使之生动有趣，将抽象的预报数据转化为身临其境的视觉体验，展示极端天气的破坏力和对人物生活的影响，大幅度降低理解门槛。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展望与结语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未来发展趋势</a:t>
            </a:r>
            <a:endParaRPr lang="zh-CN" altLang="en-US"/>
          </a:p>
        </p:txBody>
      </p:sp>
      <p:pic>
        <p:nvPicPr>
          <p:cNvPr id="3" name="图片占位符 2" descr="0d49a009-dcd0-11f0-82f9-3a112d085248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 r="33730" b="595"/>
          <a:stretch>
            <a:fillRect/>
          </a:stretch>
        </p:blipFill>
        <p:spPr>
          <a:xfrm>
            <a:off x="11684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超本地精细化预测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4800600"/>
            <a:ext cx="3251200" cy="1671320"/>
          </a:xfrm>
        </p:spPr>
        <p:txBody>
          <a:bodyPr>
            <a:noAutofit/>
          </a:bodyPr>
          <a:p>
            <a:r>
              <a:rPr lang="zh-CN" altLang="en-US" sz="1800"/>
              <a:t>如日本Weathernews公司，利用AI分析1平方公里内数据，可提前10分钟预警突发性暴雨，精度达90%以上。</a:t>
            </a:r>
            <a:endParaRPr lang="zh-CN" altLang="en-US" sz="1800"/>
          </a:p>
        </p:txBody>
      </p:sp>
      <p:pic>
        <p:nvPicPr>
          <p:cNvPr id="6" name="图片占位符 5" descr="0d499a47-dcd0-11f0-82f9-3a112d085248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 l="25333"/>
          <a:stretch>
            <a:fillRect/>
          </a:stretch>
        </p:blipFill>
        <p:spPr>
          <a:xfrm>
            <a:off x="50292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行业</a:t>
            </a:r>
            <a:r>
              <a:rPr lang="zh-CN" altLang="en-US">
                <a:solidFill>
                  <a:srgbClr val="FFFF00"/>
                </a:solidFill>
                <a:cs typeface="Arial" panose="020B0604020202020204" pitchFamily="34" charset="0"/>
              </a:rPr>
              <a:t>定制</a:t>
            </a:r>
            <a:endParaRPr lang="zh-CN" altLang="en-US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800"/>
              <a:t>农业、交通、能源等领域的专门</a:t>
            </a:r>
            <a:r>
              <a:rPr lang="en-US" altLang="zh-CN" sz="1800"/>
              <a:t>AI</a:t>
            </a:r>
            <a:r>
              <a:rPr lang="zh-CN" altLang="en-US" sz="1800"/>
              <a:t>气象模型将大规模应用。</a:t>
            </a:r>
            <a:endParaRPr lang="zh-CN" altLang="en-US" sz="1800"/>
          </a:p>
        </p:txBody>
      </p:sp>
      <p:pic>
        <p:nvPicPr>
          <p:cNvPr id="9" name="图片占位符 8" descr="0d499a89-dcd0-11f0-82f9-3a112d085248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 l="16667" r="16667"/>
          <a:stretch>
            <a:fillRect/>
          </a:stretch>
        </p:blipFill>
        <p:spPr>
          <a:xfrm>
            <a:off x="88900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rgbClr val="FFFF00"/>
                </a:solidFill>
              </a:rPr>
              <a:t>全智能感知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 sz="1800"/>
              <a:t>数十亿</a:t>
            </a:r>
            <a:r>
              <a:rPr lang="zh-CN" altLang="en-US" sz="1800">
                <a:cs typeface="Arial" panose="020B0604020202020204" pitchFamily="34" charset="0"/>
              </a:rPr>
              <a:t>物联网设备构成的天基-空基-地基一体化感知网，实现大气状态的秒级更新。</a:t>
            </a:r>
            <a:endParaRPr lang="zh-CN" altLang="en-US" sz="1800"/>
          </a:p>
        </p:txBody>
      </p:sp>
    </p:spTree>
    <p:custDataLst>
      <p:tags r:id="rId1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600"/>
              <a:t>结</a:t>
            </a:r>
            <a:r>
              <a:rPr lang="zh-CN" altLang="en-US" sz="3600">
                <a:cs typeface="Arial" panose="020B0604020202020204" pitchFamily="34" charset="0"/>
              </a:rPr>
              <a:t>语：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775460" y="1301750"/>
            <a:ext cx="7694295" cy="4873625"/>
          </a:xfrm>
        </p:spPr>
        <p:txBody>
          <a:bodyPr/>
          <a:p>
            <a:pPr algn="l">
              <a:lnSpc>
                <a:spcPct val="250000"/>
              </a:lnSpc>
            </a:pPr>
            <a:r>
              <a:rPr lang="zh-CN" altLang="en-US"/>
              <a:t>  天气预测的目的不在于展示技术，而是守护生命、赋能发展。将冰冷的数据转变成融入日常的智慧伴侣，这才是</a:t>
            </a:r>
            <a:r>
              <a:rPr lang="en-US" altLang="zh-CN"/>
              <a:t>AI</a:t>
            </a:r>
            <a:r>
              <a:rPr lang="zh-CN" altLang="en-US"/>
              <a:t>技术富有温度的切实体现。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6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322f4bb3756941fce9438e5330ebea78f1fec2"/>
  <p:tag name="KSO_WM_NEWLAYOUT_GROUP_ID" val="layout_34"/>
  <p:tag name="KSO_WM_NEWLAYOUT_ID" val="slide_dd86963abb239797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96ad947af92b7482e07803e0726e830460128df"/>
  <p:tag name="KSO_WM_NEWLAYOUT_GROUP_ID" val="layout_53"/>
  <p:tag name="KSO_WM_NEWLAYOUT_ID" val="slide_76713c4037f02356"/>
</p:tagLst>
</file>

<file path=ppt/tags/tag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0c76fd8811a327ab20493dc3df2385dc842825"/>
  <p:tag name="KSO_WM_NEWLAYOUT_GROUP_ID" val="layout_61"/>
  <p:tag name="KSO_WM_NEWLAYOUT_ID" val="slide_1d1a3637f7310336"/>
</p:tagLst>
</file>

<file path=ppt/tags/tag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5d55b92488d07c581df12138663de928731a6a"/>
  <p:tag name="KSO_WM_NEWLAYOUT_GROUP_ID" val="layout_57"/>
  <p:tag name="KSO_WM_NEWLAYOUT_ID" val="slide_ef2b270f7310fad4"/>
</p:tagLst>
</file>

<file path=ppt/tags/tag4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fd34e0da8210616fbd18918f73f7359be03a36"/>
  <p:tag name="KSO_WM_NEWLAYOUT_GROUP_ID" val="layout_38"/>
  <p:tag name="KSO_WM_NEWLAYOUT_ID" val="slide_602d535931c36a5c"/>
</p:tagLst>
</file>

<file path=ppt/tags/tag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8afd57310297fa8baa9ba55010713686b73a75"/>
  <p:tag name="KSO_WM_NEWLAYOUT_GROUP_ID" val="layout_30"/>
  <p:tag name="KSO_WM_NEWLAYOUT_ID" val="slide_5503ebf2133f2dbc"/>
</p:tagLst>
</file>

<file path=ppt/tags/tag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8e3ed3524663a7e0c8ae59c489359209b703a7d"/>
  <p:tag name="KSO_WM_NEWLAYOUT_GROUP_ID" val="layout_26"/>
  <p:tag name="KSO_WM_NEWLAYOUT_ID" val="slide_5c773a159522ecf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653a7fa8215b2275b8cebbd848ae3e8cf7c9df"/>
  <p:tag name="KSO_WM_NEWLAYOUT_GROUP_ID" val="layout_6"/>
  <p:tag name="KSO_WM_NEWLAYOUT_ID" val="slide_acc7948a249ecb22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c1300c3b7700735fd215c3e84bbcf85739da815"/>
  <p:tag name="KSO_WM_NEWLAYOUT_GROUP_ID" val="layout_1-5"/>
  <p:tag name="KSO_WM_NEWLAYOUT_ID" val="slide_61223ae7a7f7aefc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  <p:tag name="KSO_WM_TEMPLATE_INDEX" val="40490291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  <p:tag name="KSO_WM_TEMPLATE_INDEX" val="40490291"/>
  <p:tag name="KSO_WM_TEMPLATE_CATEGORY" val="custom"/>
</p:tagLst>
</file>

<file path=ppt/tags/tag13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INDEX" val="40490291"/>
  <p:tag name="KSO_WM_TEMPLATE_CATEGORY" val="custom"/>
</p:tagLst>
</file>

<file path=ppt/tags/tag13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291"/>
  <p:tag name="KSO_WM_TEMPLATE_CATEGORY" val="custom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  <p:tag name="KSO_WM_TEMPLATE_INDEX" val="40490291"/>
  <p:tag name="KSO_WM_TEMPLATE_CATEGORY" val="custom"/>
</p:tagLst>
</file>

<file path=ppt/tags/tag14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4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4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4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291"/>
  <p:tag name="KSO_WM_TEMPLATE_CATEGORY" val="custom"/>
</p:tagLst>
</file>

<file path=ppt/tags/tag14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291"/>
  <p:tag name="KSO_WM_TEMPLATE_CATEGORY" val="custom"/>
</p:tagLst>
</file>

<file path=ppt/tags/tag14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291"/>
  <p:tag name="KSO_WM_TEMPLATE_CATEGORY" val="custom"/>
</p:tagLst>
</file>

<file path=ppt/tags/tag14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  <p:tag name="KSO_WM_TEMPLATE_INDEX" val="40490291"/>
  <p:tag name="KSO_WM_TEMPLATE_CATEGORY" val="custom"/>
</p:tagLst>
</file>

<file path=ppt/tags/tag14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4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1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5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  <p:tag name="KSO_WM_TEMPLATE_INDEX" val="40490291"/>
  <p:tag name="KSO_WM_TEMPLATE_CATEGORY" val="custom"/>
</p:tagLst>
</file>

<file path=ppt/tags/tag16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  <p:tag name="KSO_WM_TEMPLATE_INDEX" val="40490291"/>
  <p:tag name="KSO_WM_TEMPLATE_CATEGORY" val="custom"/>
</p:tagLst>
</file>

<file path=ppt/tags/tag1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1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7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8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575e1106cd2a51ebcb53a0250de8ef105dd6000c"/>
  <p:tag name="KSO_WM_NEWLAYOUT_ID" val="9256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79.xml><?xml version="1.0" encoding="utf-8"?>
<p:tagLst xmlns:p="http://schemas.openxmlformats.org/presentationml/2006/main">
  <p:tag name="KSO_WM_UNIT_TYPE" val="f"/>
  <p:tag name="KSO_WM_BEAUTIFY_FLAG" val="#wm#"/>
  <p:tag name="KSO_WM_UNIT_INDEX" val="2"/>
  <p:tag name="KSO_WM_UNIT_SUBTYPE" val="b"/>
  <p:tag name="KSO_WM_UNIT_TEXT_TYPE" val="1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89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8d317db7892e221684d5aa604227f6f27242cb91"/>
  <p:tag name="KSO_WM_NEWLAYOUT_ID" val="9262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0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19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0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1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52daa700b5df1acb60884590047493f1af57fd9e"/>
  <p:tag name="KSO_WM_NEWLAYOUT_ID" val="9268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0306b4d9f126a7e6a0ede085a5b6fda28bc86"/>
  <p:tag name="KSO_WM_NEWLAYOUT_ID" val="1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4001e1ad6a6b4c6530d3be319049d0083dc7d56"/>
  <p:tag name="KSO_WM_NEWLAYOUT_ID" val="slide_6e840fafb5c552eb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936dcb7aecbe629abaf3bb1fa7a557366de4f5"/>
  <p:tag name="KSO_WM_NEWLAYOUT_ID" val="slide_62f8eb04a3f71614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fa341fcb062c23025ed4a5c3dfb22c0d745320"/>
  <p:tag name="KSO_WM_NEWLAYOUT_ID" val="slide_a698b4874781f8c2"/>
</p:tagLst>
</file>

<file path=ppt/tags/tag2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40490291"/>
</p:tagLst>
</file>

<file path=ppt/tags/tag24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40490291"/>
</p:tagLst>
</file>

<file path=ppt/tags/tag24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4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4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91"/>
  <p:tag name="KSO_WM_TEMPLATE_CATEGORY" val="custom"/>
  <p:tag name="KSO_WM_TEMPLATE_MASTER_TYPE" val="0"/>
  <p:tag name="KSO_WM_TAG_VERSION" val="3.0"/>
</p:tagLst>
</file>

<file path=ppt/tags/tag247.xml><?xml version="1.0" encoding="utf-8"?>
<p:tagLst xmlns:p="http://schemas.openxmlformats.org/presentationml/2006/main">
  <p:tag name="KSO_WM_AITEMPLATE_STYLE_ID" val="69796631022"/>
</p:tagLst>
</file>

<file path=ppt/tags/tag248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49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575e1106cd2a51ebcb53a0250de8ef105dd6000c"/>
  <p:tag name="KSO_WM_NEWLAYOUT_ID" val="9256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50.xml><?xml version="1.0" encoding="utf-8"?>
<p:tagLst xmlns:p="http://schemas.openxmlformats.org/presentationml/2006/main">
  <p:tag name="KSO_WM_UNIT_TYPE" val="f"/>
  <p:tag name="KSO_WM_BEAUTIFY_FLAG" val="#wm#"/>
  <p:tag name="KSO_WM_UNIT_INDEX" val="2"/>
  <p:tag name="KSO_WM_UNIT_SUBTYPE" val="b"/>
  <p:tag name="KSO_WM_UNIT_TEXT_TYPE" val="1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5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91"/>
  <p:tag name="KSO_WM_TEMPLATE_CATEGORY" val="custom"/>
  <p:tag name="KSO_WM_SLIDE_INDEX" val="1"/>
  <p:tag name="KSO_WM_SLIDE_ID" val="custom40490291_1"/>
  <p:tag name="KSO_WM_TEMPLATE_MASTER_TYPE" val="0"/>
  <p:tag name="KSO_WM_SLIDE_LAYOUT" val="a_f"/>
  <p:tag name="KSO_WM_SLIDE_LAYOUT_CNT" val="1_2"/>
  <p:tag name="KSO_WM_TAG_VERSION" val="3.0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c1300c3b7700735fd215c3e84bbcf85739da815"/>
  <p:tag name="KSO_WM_NEWLAYOUT_GROUP_ID" val="layout_1-5"/>
  <p:tag name="KSO_WM_NEWLAYOUT_ID" val="slide_61223ae7a7f7aefc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5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6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6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1022"/>
  <p:tag name="KSO_WM_TEMPLATE_SLIDE_ID" val="slide_61223ae7a7f7aefc"/>
</p:tagLst>
</file>

<file path=ppt/tags/tag26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8d317db7892e221684d5aa604227f6f27242cb91"/>
  <p:tag name="KSO_WM_NEWLAYOUT_ID" val="9262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68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6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1"/>
  <p:tag name="KSO_WM_TEMPLATE_CATEGORY" val="custom"/>
  <p:tag name="KSO_WM_SLIDE_INDEX" val="3"/>
  <p:tag name="KSO_WM_SLIDE_ID" val="custom40490291_7"/>
  <p:tag name="KSO_WM_TEMPLATE_MASTER_TYPE" val="0"/>
  <p:tag name="KSO_WM_SLIDE_LAYOUT" val="a_e"/>
  <p:tag name="KSO_WM_SLIDE_LAYOUT_CNT" val="1_1"/>
  <p:tag name="KSO_WM_TAG_VERSION" val="3.0"/>
</p:tagLst>
</file>

<file path=ppt/tags/tag2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93141826&quot;,&quot;product_name&quot;:&quot;wps-wpp-padandroid&quot;,&quot;intention_code&quot;:&quot;wps_wpp_generate_theme_pay&quot;}*auto_gallery_ai_v2.2.0_ONLINE*1766144654464_28ef15_8cf3e7a387fd-slide-3"/>
</p:tagLst>
</file>

<file path=ppt/tags/tag27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1022"/>
  <p:tag name="KSO_WM_TEMPLATE_SLIDE_ID" val="slide_62f8eb04a3f71614"/>
</p:tagLst>
</file>

<file path=ppt/tags/tag272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8d317db7892e221684d5aa604227f6f27242cb91"/>
  <p:tag name="KSO_WM_NEWLAYOUT_ID" val="9262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73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27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1"/>
  <p:tag name="KSO_WM_TEMPLATE_CATEGORY" val="custom"/>
  <p:tag name="KSO_WM_SLIDE_INDEX" val="3"/>
  <p:tag name="KSO_WM_SLIDE_ID" val="custom40490291_7"/>
  <p:tag name="KSO_WM_TEMPLATE_MASTER_TYPE" val="0"/>
  <p:tag name="KSO_WM_SLIDE_LAYOUT" val="a_e"/>
  <p:tag name="KSO_WM_SLIDE_LAYOUT_CNT" val="1_1"/>
  <p:tag name="KSO_WM_TAG_VERSION" val="3.0"/>
</p:tagLst>
</file>

<file path=ppt/tags/tag2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8e3ed3524663a7e0c8ae59c489359209b703a7d"/>
  <p:tag name="KSO_WM_NEWLAYOUT_GROUP_ID" val="layout_26"/>
  <p:tag name="KSO_WM_NEWLAYOUT_ID" val="slide_5c773a159522ecff"/>
  <p:tag name="KSO_WM_UNIT_PRESET_TEXT" val="单击此处添加标题"/>
</p:tagLst>
</file>

<file path=ppt/tags/tag2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711122984&quot;,&quot;product_name&quot;:&quot;wps-wpp-padandroid&quot;,&quot;intention_code&quot;:&quot;wps_wpp_generate_theme_pay&quot;}*auto_gallery_ai_v2.2.0_ONLINE*1766144654464_28ef15_8cf3e7a387fd-slide-5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0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373456022&quot;,&quot;product_name&quot;:&quot;wps-wpp-padandroid&quot;,&quot;intention_code&quot;:&quot;wps_wpp_generate_theme_pay&quot;}*auto_gallery_ai_v2.2.0_ONLINE*1766144654464_28ef15_8cf3e7a387fd-slide-5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8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022"/>
  <p:tag name="KSO_WM_TEMPLATE_SLIDE_ID" val="slide_5c773a159522ecff"/>
</p:tagLst>
</file>

<file path=ppt/tags/tag2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29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  <p:tag name="KSO_WM_TEMPLATE_INDEX" val="40490291"/>
  <p:tag name="KSO_WM_TEMPLATE_CATEGORY" val="custom"/>
</p:tagLst>
</file>

<file path=ppt/tags/tag2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28afd57310297fa8baa9ba55010713686b73a75"/>
  <p:tag name="KSO_WM_NEWLAYOUT_GROUP_ID" val="layout_30"/>
  <p:tag name="KSO_WM_NEWLAYOUT_ID" val="slide_5503ebf2133f2dbc"/>
  <p:tag name="KSO_WM_UNIT_PRESET_TEXT" val="单击此处添加标题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WPSDZDB202509222188&quot;,&quot;product_name&quot;:&quot;wps-wpp-padandroid&quot;,&quot;intention_code&quot;:&quot;wps_wpp_generate_theme_pay&quot;}*auto_special_0_ai_v2.2.0_ONLINE*1766144654464_28ef15_8cf3e7a387fd-slide-6"/>
</p:tagLst>
</file>

<file path=ppt/tags/tag2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0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022"/>
  <p:tag name="KSO_WM_TEMPLATE_SLIDE_ID" val="slide_5503ebf2133f2dbc"/>
</p:tagLst>
</file>

<file path=ppt/tags/tag303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8d317db7892e221684d5aa604227f6f27242cb91"/>
  <p:tag name="KSO_WM_NEWLAYOUT_ID" val="9262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04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0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1"/>
  <p:tag name="KSO_WM_TEMPLATE_CATEGORY" val="custom"/>
  <p:tag name="KSO_WM_SLIDE_INDEX" val="3"/>
  <p:tag name="KSO_WM_SLIDE_ID" val="custom40490291_7"/>
  <p:tag name="KSO_WM_TEMPLATE_MASTER_TYPE" val="0"/>
  <p:tag name="KSO_WM_SLIDE_LAYOUT" val="a_e"/>
  <p:tag name="KSO_WM_SLIDE_LAYOUT_CNT" val="1_1"/>
  <p:tag name="KSO_WM_TAG_VERSION" val="3.0"/>
</p:tagLst>
</file>

<file path=ppt/tags/tag3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f5d55b92488d07c581df12138663de928731a6a"/>
  <p:tag name="KSO_WM_NEWLAYOUT_GROUP_ID" val="layout_57"/>
  <p:tag name="KSO_WM_NEWLAYOUT_ID" val="slide_ef2b270f7310fad4"/>
  <p:tag name="KSO_WM_UNIT_PRESET_TEXT" val="单击此处添加标题"/>
</p:tagLst>
</file>

<file path=ppt/tags/tag30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022"/>
  <p:tag name="KSO_WM_TEMPLATE_SLIDE_ID" val="slide_ef2b270f7310fad4"/>
</p:tagLst>
</file>

<file path=ppt/tags/tag3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0c76fd8811a327ab20493dc3df2385dc842825"/>
  <p:tag name="KSO_WM_NEWLAYOUT_GROUP_ID" val="layout_61"/>
  <p:tag name="KSO_WM_NEWLAYOUT_ID" val="slide_1d1a3637f7310336"/>
  <p:tag name="KSO_WM_UNIT_PRESET_TEXT" val="单击此处添加标题"/>
</p:tagLst>
</file>

<file path=ppt/tags/tag3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617583632&quot;,&quot;product_name&quot;:&quot;wps-wpp-padandroid&quot;,&quot;intention_code&quot;:&quot;wps_wpp_generate_theme_pay&quot;}*auto_gallery_ai_v2.2.0_ONLINE*1766144654464_28ef15_8cf3e7a387fd-slide-10"/>
</p:tagLst>
</file>

<file path=ppt/tags/tag31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  <p:tag name="KSO_WM_UNIT_PRESET_TEXT" val=" 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1022"/>
  <p:tag name="KSO_WM_TEMPLATE_SLIDE_ID" val="slide_1d1a3637f7310336"/>
</p:tagLst>
</file>

<file path=ppt/tags/tag3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653a7fa8215b2275b8cebbd848ae3e8cf7c9df"/>
  <p:tag name="KSO_WM_NEWLAYOUT_GROUP_ID" val="layout_6"/>
  <p:tag name="KSO_WM_NEWLAYOUT_ID" val="slide_acc7948a249ecb22"/>
  <p:tag name="KSO_WM_UNIT_PRESET_TEXT" val="单击此处添加标题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"/>
  <p:tag name="KSO_WM_UNIT_TYPE" val="d"/>
  <p:tag name="MH_PIC_SOURCE_TYPE" val="generate_slide_ai*{&quot;id&quot;:&quot;VCG211390669056&quot;,&quot;product_name&quot;:&quot;wps-wpp-padandroid&quot;,&quot;intention_code&quot;:&quot;wps_wpp_generate_theme_pay&quot;}*auto_gallery_ai_v2.2.0_ONLINE*1766144654464_28ef15_8cf3e7a387fd-slide-11"/>
</p:tagLst>
</file>

<file path=ppt/tags/tag3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2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022"/>
  <p:tag name="KSO_WM_TEMPLATE_SLIDE_ID" val="slide_76713c4037f02356"/>
</p:tagLst>
</file>

<file path=ppt/tags/tag3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653a7fa8215b2275b8cebbd848ae3e8cf7c9df"/>
  <p:tag name="KSO_WM_NEWLAYOUT_GROUP_ID" val="layout_6"/>
  <p:tag name="KSO_WM_NEWLAYOUT_ID" val="slide_acc7948a249ecb22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8d317db7892e221684d5aa604227f6f27242cb91"/>
  <p:tag name="KSO_WM_NEWLAYOUT_ID" val="9262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28.xml><?xml version="1.0" encoding="utf-8"?>
<p:tagLst xmlns:p="http://schemas.openxmlformats.org/presentationml/2006/main">
  <p:tag name="KSO_WM_UNIT_TYPE" val="e"/>
  <p:tag name="KSO_WM_BEAUTIFY_FLAG" val="#wm#"/>
  <p:tag name="KSO_WM_UNIT_INDEX" val="1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2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291"/>
  <p:tag name="KSO_WM_TEMPLATE_CATEGORY" val="custom"/>
  <p:tag name="KSO_WM_SLIDE_INDEX" val="3"/>
  <p:tag name="KSO_WM_SLIDE_ID" val="custom40490291_7"/>
  <p:tag name="KSO_WM_TEMPLATE_MASTER_TYPE" val="0"/>
  <p:tag name="KSO_WM_SLIDE_LAYOUT" val="a_e"/>
  <p:tag name="KSO_WM_SLIDE_LAYOUT_CNT" val="1_1"/>
  <p:tag name="KSO_WM_TAG_VERSION" val="3.0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322f4bb3756941fce9438e5330ebea78f1fec2"/>
  <p:tag name="KSO_WM_NEWLAYOUT_GROUP_ID" val="layout_34"/>
  <p:tag name="KSO_WM_NEWLAYOUT_ID" val="slide_dd86963abb239797"/>
  <p:tag name="KSO_WM_UNIT_PRESET_TEXT" val="单击此处添加标题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86978259&quot;,&quot;product_name&quot;:&quot;wps-wpp-padandroid&quot;,&quot;intention_code&quot;:&quot;wps_wpp_generate_theme_pay&quot;}*auto_gallery_ai_v2.2.0_ONLINE*1766144654464_28ef15_8cf3e7a387fd-slide-13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WPSDZDB20250716254&quot;,&quot;product_name&quot;:&quot;wps-wpp-padandroid&quot;,&quot;intention_code&quot;:&quot;wps_wpp_generate_theme_pay&quot;}*auto_special_0_ai_v2.2.0_ONLINE*1766144654464_28ef15_8cf3e7a387fd-slide-13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33345012&quot;,&quot;product_name&quot;:&quot;wps-wpp-padandroid&quot;,&quot;intention_code&quot;:&quot;wps_wpp_generate_theme_pay&quot;}*auto_gallery_ai_v2.2.0_ONLINE*1766144654464_28ef15_8cf3e7a387fd-slide-13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1022"/>
  <p:tag name="KSO_WM_TEMPLATE_SLIDE_ID" val="slide_dd86963abb239797"/>
</p:tagLst>
</file>

<file path=ppt/tags/tag3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291"/>
  <p:tag name="KSO_WM_TEMPLATE_CATEGORY" val="custom"/>
</p:tagLst>
</file>

<file path=ppt/tags/tag34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  <p:tag name="KSO_WM_TEMPLATE_INDEX" val="40490291"/>
  <p:tag name="KSO_WM_TEMPLATE_CATEGORY" val="custom"/>
</p:tagLst>
</file>

<file path=ppt/tags/tag34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44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52daa700b5df1acb60884590047493f1af57fd9e"/>
  <p:tag name="KSO_WM_NEWLAYOUT_ID" val="9268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91"/>
  <p:tag name="KSO_WM_TEMPLATE_CATEGORY" val="custom"/>
</p:tagLst>
</file>

<file path=ppt/tags/tag34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291"/>
  <p:tag name="KSO_WM_TEMPLATE_CATEGORY" val="custom"/>
  <p:tag name="KSO_WM_SLIDE_INDEX" val="5"/>
  <p:tag name="KSO_WM_SLIDE_ID" val="custom40490291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科技风人工智能通用模板">
  <a:themeElements>
    <a:clrScheme name="科技风AI人工智能">
      <a:dk1>
        <a:sysClr val="windowText" lastClr="000000"/>
      </a:dk1>
      <a:lt1>
        <a:sysClr val="window" lastClr="FFFFFF"/>
      </a:lt1>
      <a:dk2>
        <a:srgbClr val="0A1C43"/>
      </a:dk2>
      <a:lt2>
        <a:srgbClr val="FFFFFF"/>
      </a:lt2>
      <a:accent1>
        <a:srgbClr val="05B4EB"/>
      </a:accent1>
      <a:accent2>
        <a:srgbClr val="03BDD1"/>
      </a:accent2>
      <a:accent3>
        <a:srgbClr val="41C388"/>
      </a:accent3>
      <a:accent4>
        <a:srgbClr val="FFAE37"/>
      </a:accent4>
      <a:accent5>
        <a:srgbClr val="EF7A5F"/>
      </a:accent5>
      <a:accent6>
        <a:srgbClr val="EC5F74"/>
      </a:accent6>
      <a:hlink>
        <a:srgbClr val="0563C1"/>
      </a:hlink>
      <a:folHlink>
        <a:srgbClr val="954D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WPS 演示</Application>
  <PresentationFormat>宽屏</PresentationFormat>
  <Paragraphs>156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1_科技风人工智能通用模板</vt:lpstr>
      <vt:lpstr>天气预报的“游戏规则”变了</vt:lpstr>
      <vt:lpstr>目录</vt:lpstr>
      <vt:lpstr>开篇设问</vt:lpstr>
      <vt:lpstr>PowerPoint 演示文稿</vt:lpstr>
      <vt:lpstr>传统天气预测VS AI天气预测</vt:lpstr>
      <vt:lpstr>传统天气预测方法——“解方程”</vt:lpstr>
      <vt:lpstr>传统方法的局限与挑战：</vt:lpstr>
      <vt:lpstr>AI天气预测原理——“找规律”</vt:lpstr>
      <vt:lpstr>AI天气预测的优点</vt:lpstr>
      <vt:lpstr>1.预测精准度提升</vt:lpstr>
      <vt:lpstr>2、响应速度更快</vt:lpstr>
      <vt:lpstr>3、广泛的可及性与应用潜力</vt:lpstr>
      <vt:lpstr>美国AR可视化天气</vt:lpstr>
      <vt:lpstr>展望与结语</vt:lpstr>
      <vt:lpstr>未来发展趋势</vt:lpstr>
      <vt:lpstr>结语：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天气预报的“游戏规则”变了</dc:title>
  <dc:creator/>
  <cp:lastModifiedBy>邢雨碟</cp:lastModifiedBy>
  <cp:revision>1</cp:revision>
  <dcterms:created xsi:type="dcterms:W3CDTF">2025-12-19T15:13:51Z</dcterms:created>
  <dcterms:modified xsi:type="dcterms:W3CDTF">2025-12-19T15:13:52Z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7E0B5760F4514826980B925EB5569BD1_13</vt:lpwstr>
  </property>
  <property fmtid="{D5CDD505-2E9C-101B-9397-08002B2CF9AE}" pid="4" name="KSOTemplateUUID">
    <vt:lpwstr>v1.0_ai_69796631022</vt:lpwstr>
  </property>
</Properties>
</file>