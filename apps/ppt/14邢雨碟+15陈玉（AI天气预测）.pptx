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24"/>
  </p:handoutMasterIdLst>
  <p:sldIdLst>
    <p:sldId id="256" r:id="rId3"/>
    <p:sldId id="274" r:id="rId5"/>
    <p:sldId id="275" r:id="rId6"/>
    <p:sldId id="276" r:id="rId7"/>
    <p:sldId id="27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6256000" cy="9144000"/>
  <p:notesSz cx="9144000" cy="16256000"/>
  <p:embeddedFontLst>
    <p:embeddedFont>
      <p:font typeface="Liter" panose="02000503030000020004" pitchFamily="34" charset="0"/>
      <p:regular r:id="rId28"/>
    </p:embeddedFont>
    <p:embeddedFont>
      <p:font typeface="Liter" panose="02000503030000020004" pitchFamily="34" charset="-120"/>
      <p:regular r:id="rId29"/>
    </p:embeddedFont>
    <p:embeddedFont>
      <p:font typeface="Liter" panose="02000503030000020004" pitchFamily="34" charset="-122"/>
      <p:regular r:id="rId30"/>
    </p:embeddedFont>
    <p:embeddedFont>
      <p:font typeface="MiSans" pitchFamily="34" charset="-122"/>
      <p:regular r:id="rId31"/>
    </p:embeddedFont>
    <p:embeddedFont>
      <p:font typeface="MiSans" pitchFamily="34" charset="-120"/>
      <p:regular r:id="rId32"/>
    </p:embeddedFont>
    <p:embeddedFont>
      <p:font typeface="得意黑" pitchFamily="34" charset="-122"/>
      <p:italic r:id="rId33"/>
    </p:embeddedFont>
    <p:embeddedFont>
      <p:font typeface="得意黑" pitchFamily="34" charset="-120"/>
      <p:italic r:id="rId34"/>
    </p:embeddedFont>
    <p:embeddedFont>
      <p:font typeface="黑体" panose="02010609060101010101" charset="-122"/>
      <p:regular r:id="rId35"/>
    </p:embeddedFont>
    <p:embeddedFont>
      <p:font typeface="Calibri" panose="020F0502020204030204" charset="0"/>
      <p:regular r:id="rId36"/>
      <p:bold r:id="rId37"/>
      <p:italic r:id="rId38"/>
      <p:boldItalic r:id="rId39"/>
    </p:embeddedFont>
    <p:embeddedFont>
      <p:font typeface="等线" panose="02010600030101010101" charset="-122"/>
      <p:regular r:id="rId40"/>
    </p:embeddedFont>
    <p:embeddedFont>
      <p:font typeface="标准粗黑" panose="02000503000000000000" charset="-122"/>
      <p:regular r:id="rId41"/>
    </p:embeddedFont>
    <p:embeddedFont>
      <p:font typeface="Calibri Light" panose="020F0302020204030204" charset="0"/>
      <p:regular r:id="rId42"/>
      <p:italic r:id="rId43"/>
    </p:embeddedFont>
    <p:embeddedFont>
      <p:font typeface="等线 Light" panose="02010600030101010101" charset="-122"/>
      <p:regular r:id="rId4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4" Type="http://schemas.openxmlformats.org/officeDocument/2006/relationships/font" Target="fonts/font17.fntdata"/><Relationship Id="rId43" Type="http://schemas.openxmlformats.org/officeDocument/2006/relationships/font" Target="fonts/font16.fntdata"/><Relationship Id="rId42" Type="http://schemas.openxmlformats.org/officeDocument/2006/relationships/font" Target="fonts/font15.fntdata"/><Relationship Id="rId41" Type="http://schemas.openxmlformats.org/officeDocument/2006/relationships/font" Target="fonts/font14.fntdata"/><Relationship Id="rId40" Type="http://schemas.openxmlformats.org/officeDocument/2006/relationships/font" Target="fonts/font13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12.fntdata"/><Relationship Id="rId38" Type="http://schemas.openxmlformats.org/officeDocument/2006/relationships/font" Target="fonts/font11.fntdata"/><Relationship Id="rId37" Type="http://schemas.openxmlformats.org/officeDocument/2006/relationships/font" Target="fonts/font10.fntdata"/><Relationship Id="rId36" Type="http://schemas.openxmlformats.org/officeDocument/2006/relationships/font" Target="fonts/font9.fntdata"/><Relationship Id="rId35" Type="http://schemas.openxmlformats.org/officeDocument/2006/relationships/font" Target="fonts/font8.fntdata"/><Relationship Id="rId34" Type="http://schemas.openxmlformats.org/officeDocument/2006/relationships/font" Target="fonts/font7.fntdata"/><Relationship Id="rId33" Type="http://schemas.openxmlformats.org/officeDocument/2006/relationships/font" Target="fonts/font6.fntdata"/><Relationship Id="rId32" Type="http://schemas.openxmlformats.org/officeDocument/2006/relationships/font" Target="fonts/font5.fntdata"/><Relationship Id="rId31" Type="http://schemas.openxmlformats.org/officeDocument/2006/relationships/font" Target="fonts/font4.fntdata"/><Relationship Id="rId30" Type="http://schemas.openxmlformats.org/officeDocument/2006/relationships/font" Target="fonts/font3.fntdata"/><Relationship Id="rId3" Type="http://schemas.openxmlformats.org/officeDocument/2006/relationships/slide" Target="slides/slide1.xml"/><Relationship Id="rId29" Type="http://schemas.openxmlformats.org/officeDocument/2006/relationships/font" Target="fonts/font2.fntdata"/><Relationship Id="rId28" Type="http://schemas.openxmlformats.org/officeDocument/2006/relationships/font" Target="fonts/font1.fntdata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6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6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5440379"/>
            <a:ext cx="39624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15440379"/>
            <a:ext cx="39624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6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文本_2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812800" y="711200"/>
            <a:ext cx="14630400" cy="8128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812800" y="2032000"/>
            <a:ext cx="7112000" cy="541867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0" hasCustomPrompt="1"/>
            <p:custDataLst>
              <p:tags r:id="rId4"/>
            </p:custDataLst>
          </p:nvPr>
        </p:nvSpPr>
        <p:spPr>
          <a:xfrm>
            <a:off x="812800" y="2777067"/>
            <a:ext cx="7112000" cy="5554133"/>
          </a:xfrm>
          <a:custGeom>
            <a:avLst/>
            <a:gdLst>
              <a:gd name="connisteX0" fmla="*/ 0 w 5334000"/>
              <a:gd name="connsiteY0" fmla="*/ 203200 h 4165600"/>
              <a:gd name="connisteX1" fmla="*/ 203200 w 5334000"/>
              <a:gd name="connsiteY1" fmla="*/ 0 h 4165600"/>
              <a:gd name="connisteX2" fmla="*/ 5130800 w 5334000"/>
              <a:gd name="connsiteY2" fmla="*/ 0 h 4165600"/>
              <a:gd name="connisteX3" fmla="*/ 5334000 w 5334000"/>
              <a:gd name="connsiteY3" fmla="*/ 203200 h 4165600"/>
              <a:gd name="connisteX4" fmla="*/ 5334000 w 5334000"/>
              <a:gd name="connsiteY4" fmla="*/ 3962400 h 4165600"/>
              <a:gd name="connisteX5" fmla="*/ 5130800 w 5334000"/>
              <a:gd name="connsiteY5" fmla="*/ 4165600 h 4165600"/>
              <a:gd name="connisteX6" fmla="*/ 203200 w 5334000"/>
              <a:gd name="connsiteY6" fmla="*/ 4165600 h 4165600"/>
              <a:gd name="connisteX7" fmla="*/ 0 w 5334000"/>
              <a:gd name="connsiteY7" fmla="*/ 3962400 h 4165600"/>
              <a:gd name="connisteX8" fmla="*/ 0 w 53340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962400"/>
                </a:lnTo>
                <a:cubicBezTo>
                  <a:pt x="5334000" y="4074624"/>
                  <a:pt x="5243024" y="4165600"/>
                  <a:pt x="51308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1219200" y="3522133"/>
            <a:ext cx="6299200" cy="4064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8331200" y="2032000"/>
            <a:ext cx="7112000" cy="541867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8331200" y="2777067"/>
            <a:ext cx="7112000" cy="5554133"/>
          </a:xfrm>
          <a:custGeom>
            <a:avLst/>
            <a:gdLst>
              <a:gd name="connisteX0" fmla="*/ 0 w 5334000"/>
              <a:gd name="connsiteY0" fmla="*/ 203200 h 4165600"/>
              <a:gd name="connisteX1" fmla="*/ 203200 w 5334000"/>
              <a:gd name="connsiteY1" fmla="*/ 0 h 4165600"/>
              <a:gd name="connisteX2" fmla="*/ 5130800 w 5334000"/>
              <a:gd name="connsiteY2" fmla="*/ 0 h 4165600"/>
              <a:gd name="connisteX3" fmla="*/ 5334000 w 5334000"/>
              <a:gd name="connsiteY3" fmla="*/ 203200 h 4165600"/>
              <a:gd name="connisteX4" fmla="*/ 5334000 w 5334000"/>
              <a:gd name="connsiteY4" fmla="*/ 3962400 h 4165600"/>
              <a:gd name="connisteX5" fmla="*/ 5130800 w 5334000"/>
              <a:gd name="connsiteY5" fmla="*/ 4165600 h 4165600"/>
              <a:gd name="connisteX6" fmla="*/ 203200 w 5334000"/>
              <a:gd name="connsiteY6" fmla="*/ 4165600 h 4165600"/>
              <a:gd name="connisteX7" fmla="*/ 0 w 5334000"/>
              <a:gd name="connsiteY7" fmla="*/ 3962400 h 4165600"/>
              <a:gd name="connisteX8" fmla="*/ 0 w 53340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962400"/>
                </a:lnTo>
                <a:cubicBezTo>
                  <a:pt x="5334000" y="4074624"/>
                  <a:pt x="5243024" y="4165600"/>
                  <a:pt x="51308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8737600" y="3522133"/>
            <a:ext cx="6299200" cy="4064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0" Type="http://schemas.openxmlformats.org/officeDocument/2006/relationships/notesSlide" Target="../notesSlides/notesSlide13.xml"/><Relationship Id="rId1" Type="http://schemas.openxmlformats.org/officeDocument/2006/relationships/tags" Target="../tags/tag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tags" Target="../tags/tag16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vs.gsfc.nasa.gov/1f074e9412779a7e49376ed37a7e79a40672db7a.jpg"/>
          <p:cNvPicPr>
            <a:picLocks noChangeAspect="1"/>
          </p:cNvPicPr>
          <p:nvPr/>
        </p:nvPicPr>
        <p:blipFill>
          <a:blip r:embed="rId1">
            <a:alphaModFix amt="40000"/>
          </a:blip>
          <a:srcRect t="12517" b="12517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5080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0000"/>
                </a:srgbClr>
              </a:gs>
              <a:gs pos="50000">
                <a:srgbClr val="3C6E9E">
                  <a:alpha val="25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14350" y="514350"/>
            <a:ext cx="3530600" cy="469900"/>
          </a:xfrm>
          <a:custGeom>
            <a:avLst/>
            <a:gdLst/>
            <a:ahLst/>
            <a:cxnLst/>
            <a:rect l="l" t="t" r="r" b="b"/>
            <a:pathLst>
              <a:path w="3530600" h="469900">
                <a:moveTo>
                  <a:pt x="234950" y="0"/>
                </a:moveTo>
                <a:lnTo>
                  <a:pt x="3295650" y="0"/>
                </a:lnTo>
                <a:cubicBezTo>
                  <a:pt x="3425322" y="0"/>
                  <a:pt x="3530600" y="105278"/>
                  <a:pt x="3530600" y="234950"/>
                </a:cubicBezTo>
                <a:lnTo>
                  <a:pt x="3530600" y="234950"/>
                </a:lnTo>
                <a:cubicBezTo>
                  <a:pt x="3530600" y="364622"/>
                  <a:pt x="3425322" y="469900"/>
                  <a:pt x="3295650" y="469900"/>
                </a:cubicBezTo>
                <a:lnTo>
                  <a:pt x="234950" y="469900"/>
                </a:lnTo>
                <a:cubicBezTo>
                  <a:pt x="105278" y="469900"/>
                  <a:pt x="0" y="364622"/>
                  <a:pt x="0" y="234950"/>
                </a:cubicBezTo>
                <a:lnTo>
                  <a:pt x="0" y="234950"/>
                </a:lnTo>
                <a:cubicBezTo>
                  <a:pt x="0" y="105278"/>
                  <a:pt x="105278" y="0"/>
                  <a:pt x="234950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  <a:ln w="12700">
            <a:solidFill>
              <a:srgbClr val="3C6E9E">
                <a:alpha val="6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4700" y="622300"/>
            <a:ext cx="3098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400" b="1" kern="0" spc="420" dirty="0">
                <a:solidFill>
                  <a:srgbClr val="8FBC8F"/>
                </a:solidFill>
                <a:latin typeface="Liter" panose="02000503030000020004" pitchFamily="34" charset="0"/>
                <a:ea typeface="宋体" panose="02010600030101010101" pitchFamily="2" charset="-122"/>
                <a:cs typeface="Liter" panose="02000503030000020004" pitchFamily="34" charset="-120"/>
              </a:rPr>
              <a:t>演示文稿</a:t>
            </a:r>
            <a:r>
              <a:rPr lang="en-US" altLang="zh-CN" sz="1400" b="1" kern="0" spc="420" dirty="0">
                <a:solidFill>
                  <a:srgbClr val="8FBC8F"/>
                </a:solidFill>
                <a:latin typeface="Liter" panose="02000503030000020004" pitchFamily="34" charset="0"/>
                <a:ea typeface="宋体" panose="02010600030101010101" pitchFamily="2" charset="-122"/>
                <a:cs typeface="Liter" panose="02000503030000020004" pitchFamily="34" charset="-120"/>
              </a:rPr>
              <a:t> </a:t>
            </a:r>
            <a:r>
              <a:rPr lang="en-US" sz="1400" b="1" kern="0" spc="420" dirty="0">
                <a:solidFill>
                  <a:srgbClr val="8FBC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2025/12/19</a:t>
            </a:r>
            <a:endParaRPr lang="zh-CN" altLang="en-US" sz="1400" b="1" kern="0" spc="420" dirty="0">
              <a:solidFill>
                <a:srgbClr val="8FBC8F"/>
              </a:solidFill>
              <a:latin typeface="Liter" panose="02000503030000020004" pitchFamily="34" charset="0"/>
              <a:ea typeface="宋体" panose="02010600030101010101" pitchFamily="2" charset="-122"/>
              <a:cs typeface="Liter" panose="02000503030000020004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4692273" y="266700"/>
            <a:ext cx="1270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8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2025/12/19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2809280"/>
            <a:ext cx="15798800" cy="2463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88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天气预报的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88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"游戏规则"变了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572720"/>
            <a:ext cx="2032000" cy="76200"/>
          </a:xfrm>
          <a:custGeom>
            <a:avLst/>
            <a:gdLst/>
            <a:ahLst/>
            <a:cxnLst/>
            <a:rect l="l" t="t" r="r" b="b"/>
            <a:pathLst>
              <a:path w="2032000" h="76200">
                <a:moveTo>
                  <a:pt x="0" y="0"/>
                </a:moveTo>
                <a:lnTo>
                  <a:pt x="2032000" y="0"/>
                </a:lnTo>
                <a:lnTo>
                  <a:pt x="2032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C6E9E"/>
              </a:gs>
              <a:gs pos="50000">
                <a:srgbClr val="5F8CA3"/>
              </a:gs>
              <a:gs pos="100000">
                <a:srgbClr val="8FBC8F"/>
              </a:gs>
            </a:gsLst>
            <a:lin ang="0" scaled="1"/>
          </a:gradFill>
        </p:spPr>
      </p:sp>
      <p:sp>
        <p:nvSpPr>
          <p:cNvPr id="9" name="Shape 6"/>
          <p:cNvSpPr/>
          <p:nvPr/>
        </p:nvSpPr>
        <p:spPr>
          <a:xfrm>
            <a:off x="508000" y="605532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C6E9E">
              <a:alpha val="30196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665163" y="619502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8FBC8F"/>
          </a:solidFill>
        </p:spPr>
      </p:sp>
      <p:sp>
        <p:nvSpPr>
          <p:cNvPr id="11" name="Text 8"/>
          <p:cNvSpPr/>
          <p:nvPr/>
        </p:nvSpPr>
        <p:spPr>
          <a:xfrm>
            <a:off x="1168400" y="6088380"/>
            <a:ext cx="2286000" cy="7543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邢雨碟 25120803014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3943945" y="605532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C6E9E">
              <a:alpha val="30196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4101108" y="619502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8FBC8F"/>
          </a:solidFill>
        </p:spPr>
      </p:sp>
      <p:sp>
        <p:nvSpPr>
          <p:cNvPr id="14" name="Text 11"/>
          <p:cNvSpPr/>
          <p:nvPr/>
        </p:nvSpPr>
        <p:spPr>
          <a:xfrm>
            <a:off x="4604385" y="6062980"/>
            <a:ext cx="2550795" cy="932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陈玉 25120803015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13004800" y="83820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5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人工智能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4020800" y="83820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5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气象预测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5036800" y="83820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5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科技创新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49"/>
                            </p:stCondLst>
                            <p:childTnLst>
                              <p:par>
                                <p:cTn id="12" presetID="38" presetClass="exit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lin" valueType="num">
                                      <p:cBhvr>
                                        <p:cTn id="13" dur="24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4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8" presetClass="exit" presetSubtype="0" ac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lin" valueType="num">
                                      <p:cBhvr>
                                        <p:cTn id="17" dur="24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4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build="allAtOnce"/>
      <p:bldP spid="7" grpId="1"/>
      <p:bldP spid="11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citechdaily.com/5321ffcd35d9b4f8a85276deeefa11328d9c0c1d.jpg"/>
          <p:cNvPicPr preferRelativeResize="0">
            <a:picLocks noChangeAspect="1"/>
          </p:cNvPicPr>
          <p:nvPr/>
        </p:nvPicPr>
        <p:blipFill>
          <a:blip r:embed="rId1">
            <a:alphaModFix amt="30000"/>
          </a:blip>
          <a:srcRect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11" name="任意多边形 10"/>
          <p:cNvSpPr/>
          <p:nvPr/>
        </p:nvSpPr>
        <p:spPr>
          <a:xfrm rot="2100000">
            <a:off x="-3525520" y="-185420"/>
            <a:ext cx="9464040" cy="9505315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4642" h="14403">
                <a:moveTo>
                  <a:pt x="0" y="7198"/>
                </a:moveTo>
                <a:lnTo>
                  <a:pt x="2" y="7032"/>
                </a:lnTo>
                <a:lnTo>
                  <a:pt x="3604" y="7032"/>
                </a:lnTo>
                <a:lnTo>
                  <a:pt x="3601" y="7104"/>
                </a:lnTo>
                <a:lnTo>
                  <a:pt x="3600" y="7198"/>
                </a:lnTo>
                <a:cubicBezTo>
                  <a:pt x="3479" y="9218"/>
                  <a:pt x="5558" y="10849"/>
                  <a:pt x="7228" y="10797"/>
                </a:cubicBezTo>
                <a:lnTo>
                  <a:pt x="7228" y="14397"/>
                </a:lnTo>
                <a:cubicBezTo>
                  <a:pt x="3324" y="14523"/>
                  <a:pt x="-158" y="10821"/>
                  <a:pt x="0" y="7198"/>
                </a:cubicBezTo>
                <a:close/>
                <a:moveTo>
                  <a:pt x="11" y="6805"/>
                </a:moveTo>
                <a:cubicBezTo>
                  <a:pt x="28" y="2981"/>
                  <a:pt x="3876" y="-110"/>
                  <a:pt x="7228" y="0"/>
                </a:cubicBezTo>
                <a:lnTo>
                  <a:pt x="7228" y="3600"/>
                </a:lnTo>
                <a:cubicBezTo>
                  <a:pt x="5483" y="3524"/>
                  <a:pt x="3687" y="5208"/>
                  <a:pt x="3622" y="6805"/>
                </a:cubicBezTo>
                <a:lnTo>
                  <a:pt x="11" y="6805"/>
                </a:lnTo>
                <a:close/>
                <a:moveTo>
                  <a:pt x="7454" y="1"/>
                </a:moveTo>
                <a:cubicBezTo>
                  <a:pt x="11097" y="-137"/>
                  <a:pt x="14628" y="3391"/>
                  <a:pt x="14617" y="6805"/>
                </a:cubicBezTo>
                <a:lnTo>
                  <a:pt x="11006" y="6805"/>
                </a:lnTo>
                <a:cubicBezTo>
                  <a:pt x="10910" y="5040"/>
                  <a:pt x="9049" y="3582"/>
                  <a:pt x="7454" y="3601"/>
                </a:cubicBezTo>
                <a:lnTo>
                  <a:pt x="7454" y="1"/>
                </a:lnTo>
                <a:close/>
                <a:moveTo>
                  <a:pt x="14626" y="7032"/>
                </a:moveTo>
                <a:lnTo>
                  <a:pt x="14628" y="7198"/>
                </a:lnTo>
                <a:cubicBezTo>
                  <a:pt x="14846" y="11238"/>
                  <a:pt x="10810" y="14499"/>
                  <a:pt x="7454" y="14396"/>
                </a:cubicBezTo>
                <a:lnTo>
                  <a:pt x="7454" y="10795"/>
                </a:lnTo>
                <a:cubicBezTo>
                  <a:pt x="9394" y="10810"/>
                  <a:pt x="11107" y="8977"/>
                  <a:pt x="11028" y="7198"/>
                </a:cubicBezTo>
                <a:lnTo>
                  <a:pt x="11027" y="7104"/>
                </a:lnTo>
                <a:lnTo>
                  <a:pt x="11024" y="7032"/>
                </a:lnTo>
                <a:lnTo>
                  <a:pt x="14626" y="7032"/>
                </a:lnTo>
                <a:close/>
              </a:path>
            </a:pathLst>
          </a:custGeom>
          <a:blipFill rotWithShape="1">
            <a:blip r:embed="rId2">
              <a:alphaModFix amt="5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流程图: 过程 13"/>
          <p:cNvSpPr/>
          <p:nvPr/>
        </p:nvSpPr>
        <p:spPr>
          <a:xfrm>
            <a:off x="7976870" y="3601085"/>
            <a:ext cx="75565" cy="75565"/>
          </a:xfrm>
          <a:prstGeom prst="flowChart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流程图: 可选过程 16" title="01"/>
          <p:cNvSpPr/>
          <p:nvPr/>
        </p:nvSpPr>
        <p:spPr>
          <a:xfrm>
            <a:off x="6607175" y="2780665"/>
            <a:ext cx="789305" cy="944880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/>
              <a:t>01</a:t>
            </a:r>
            <a:endParaRPr lang="en-US" altLang="zh-CN" sz="3200"/>
          </a:p>
        </p:txBody>
      </p:sp>
      <p:sp>
        <p:nvSpPr>
          <p:cNvPr id="21" name="文本框 20"/>
          <p:cNvSpPr txBox="1"/>
          <p:nvPr/>
        </p:nvSpPr>
        <p:spPr>
          <a:xfrm>
            <a:off x="3451860" y="3561715"/>
            <a:ext cx="5356860" cy="1153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600">
                <a:solidFill>
                  <a:schemeClr val="bg1"/>
                </a:solidFill>
              </a:rPr>
              <a:t>目录</a:t>
            </a:r>
            <a:endParaRPr lang="zh-CN" altLang="en-US" sz="9600">
              <a:solidFill>
                <a:schemeClr val="bg1"/>
              </a:solidFill>
            </a:endParaRPr>
          </a:p>
          <a:p>
            <a:endParaRPr lang="zh-CN" altLang="en-US" sz="9600">
              <a:solidFill>
                <a:schemeClr val="bg1"/>
              </a:solidFill>
            </a:endParaRPr>
          </a:p>
          <a:p>
            <a:endParaRPr lang="en-US" altLang="zh-CN" sz="4000">
              <a:solidFill>
                <a:schemeClr val="bg1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500620" y="2780665"/>
            <a:ext cx="5088890" cy="1478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  <a:sym typeface="+mn-ea"/>
              </a:rPr>
              <a:t> 开篇设问</a:t>
            </a:r>
            <a:endParaRPr lang="en-US" altLang="en-US" sz="7200" b="1" dirty="0">
              <a:solidFill>
                <a:srgbClr val="E0E0E0"/>
              </a:solidFill>
              <a:latin typeface="得意黑" pitchFamily="34" charset="-122"/>
              <a:ea typeface="得意黑" pitchFamily="34" charset="-122"/>
              <a:cs typeface="得意黑" pitchFamily="34" charset="-120"/>
              <a:sym typeface="+mn-ea"/>
            </a:endParaRPr>
          </a:p>
        </p:txBody>
      </p:sp>
      <p:sp>
        <p:nvSpPr>
          <p:cNvPr id="25" name="Text 7"/>
          <p:cNvSpPr/>
          <p:nvPr/>
        </p:nvSpPr>
        <p:spPr>
          <a:xfrm>
            <a:off x="7396480" y="3561715"/>
            <a:ext cx="7019925" cy="1833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2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探索AI天气预测的核心问题与实现路径</a:t>
            </a:r>
            <a:endParaRPr lang="en-US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7808595" y="6515735"/>
            <a:ext cx="50342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highlight>
                  <a:srgbClr val="008000"/>
                </a:highlight>
              </a:rPr>
              <a:t>适用年龄：初中阶段（</a:t>
            </a:r>
            <a:r>
              <a:rPr lang="en-US" altLang="zh-CN" sz="2800">
                <a:highlight>
                  <a:srgbClr val="008000"/>
                </a:highlight>
              </a:rPr>
              <a:t>12-15</a:t>
            </a:r>
            <a:r>
              <a:rPr lang="zh-CN" altLang="en-US" sz="2800">
                <a:highlight>
                  <a:srgbClr val="008000"/>
                </a:highlight>
              </a:rPr>
              <a:t>岁）</a:t>
            </a:r>
            <a:endParaRPr lang="zh-CN" altLang="en-US" sz="2800">
              <a:highlight>
                <a:srgbClr val="0080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alphaModFix amt="3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citechdaily.com/5321ffcd35d9b4f8a85276deeefa11328d9c0c1d.jpg"/>
          <p:cNvPicPr preferRelativeResize="0">
            <a:picLocks noChangeAspect="1"/>
          </p:cNvPicPr>
          <p:nvPr/>
        </p:nvPicPr>
        <p:blipFill>
          <a:blip r:embed="rId1">
            <a:alphaModFix amt="30000"/>
          </a:blip>
          <a:srcRect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14" name="流程图: 过程 13"/>
          <p:cNvSpPr/>
          <p:nvPr/>
        </p:nvSpPr>
        <p:spPr>
          <a:xfrm>
            <a:off x="7976870" y="3601085"/>
            <a:ext cx="75565" cy="75565"/>
          </a:xfrm>
          <a:prstGeom prst="flowChart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流程图: 可选过程 16" title="01"/>
          <p:cNvSpPr/>
          <p:nvPr/>
        </p:nvSpPr>
        <p:spPr>
          <a:xfrm>
            <a:off x="6607175" y="2327910"/>
            <a:ext cx="944245" cy="842010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/>
              <a:t>01</a:t>
            </a:r>
            <a:endParaRPr lang="en-US" altLang="zh-CN" sz="3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0"/>
            <a:ext cx="16329660" cy="9143365"/>
          </a:xfrm>
          <a:prstGeom prst="rect">
            <a:avLst/>
          </a:prstGeom>
          <a:gradFill>
            <a:gsLst>
              <a:gs pos="50000">
                <a:srgbClr val="5F8CA3">
                  <a:alpha val="15000"/>
                </a:srgbClr>
              </a:gs>
              <a:gs pos="100000">
                <a:srgbClr val="1A1D21">
                  <a:alpha val="90000"/>
                </a:srgbClr>
              </a:gs>
            </a:gsLst>
            <a:path path="shape">
              <a:fillToRect l="50000" t="50000" r="50000" b="50000"/>
            </a:path>
            <a:tileRect/>
          </a:gradFill>
        </p:spPr>
      </p:pic>
      <p:sp>
        <p:nvSpPr>
          <p:cNvPr id="5" name="矩形 4"/>
          <p:cNvSpPr/>
          <p:nvPr/>
        </p:nvSpPr>
        <p:spPr>
          <a:xfrm>
            <a:off x="-113665" y="0"/>
            <a:ext cx="16256000" cy="9141460"/>
          </a:xfrm>
          <a:prstGeom prst="rect">
            <a:avLst/>
          </a:prstGeom>
          <a:gradFill>
            <a:gsLst>
              <a:gs pos="13000">
                <a:srgbClr val="5F8CA3">
                  <a:alpha val="15000"/>
                </a:srgbClr>
              </a:gs>
              <a:gs pos="100000">
                <a:srgbClr val="1A1D21">
                  <a:alpha val="90000"/>
                </a:srgbClr>
              </a:gs>
            </a:gsLst>
            <a:lin ang="420000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 useBgFill="1">
        <p:nvSpPr>
          <p:cNvPr id="11" name="任意多边形 10"/>
          <p:cNvSpPr/>
          <p:nvPr/>
        </p:nvSpPr>
        <p:spPr>
          <a:xfrm rot="7380000">
            <a:off x="-3525520" y="-185420"/>
            <a:ext cx="9464040" cy="9505315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4642" h="14403">
                <a:moveTo>
                  <a:pt x="0" y="7198"/>
                </a:moveTo>
                <a:lnTo>
                  <a:pt x="2" y="7032"/>
                </a:lnTo>
                <a:lnTo>
                  <a:pt x="3604" y="7032"/>
                </a:lnTo>
                <a:lnTo>
                  <a:pt x="3601" y="7104"/>
                </a:lnTo>
                <a:lnTo>
                  <a:pt x="3600" y="7198"/>
                </a:lnTo>
                <a:cubicBezTo>
                  <a:pt x="3479" y="9218"/>
                  <a:pt x="5558" y="10849"/>
                  <a:pt x="7228" y="10797"/>
                </a:cubicBezTo>
                <a:lnTo>
                  <a:pt x="7228" y="14397"/>
                </a:lnTo>
                <a:cubicBezTo>
                  <a:pt x="3324" y="14523"/>
                  <a:pt x="-158" y="10821"/>
                  <a:pt x="0" y="7198"/>
                </a:cubicBezTo>
                <a:close/>
                <a:moveTo>
                  <a:pt x="11" y="6805"/>
                </a:moveTo>
                <a:cubicBezTo>
                  <a:pt x="28" y="2981"/>
                  <a:pt x="3876" y="-110"/>
                  <a:pt x="7228" y="0"/>
                </a:cubicBezTo>
                <a:lnTo>
                  <a:pt x="7228" y="3600"/>
                </a:lnTo>
                <a:cubicBezTo>
                  <a:pt x="5483" y="3524"/>
                  <a:pt x="3687" y="5208"/>
                  <a:pt x="3622" y="6805"/>
                </a:cubicBezTo>
                <a:lnTo>
                  <a:pt x="11" y="6805"/>
                </a:lnTo>
                <a:close/>
                <a:moveTo>
                  <a:pt x="7454" y="1"/>
                </a:moveTo>
                <a:cubicBezTo>
                  <a:pt x="11097" y="-137"/>
                  <a:pt x="14628" y="3391"/>
                  <a:pt x="14617" y="6805"/>
                </a:cubicBezTo>
                <a:lnTo>
                  <a:pt x="11006" y="6805"/>
                </a:lnTo>
                <a:cubicBezTo>
                  <a:pt x="10910" y="5040"/>
                  <a:pt x="9049" y="3582"/>
                  <a:pt x="7454" y="3601"/>
                </a:cubicBezTo>
                <a:lnTo>
                  <a:pt x="7454" y="1"/>
                </a:lnTo>
                <a:close/>
                <a:moveTo>
                  <a:pt x="14626" y="7032"/>
                </a:moveTo>
                <a:lnTo>
                  <a:pt x="14628" y="7198"/>
                </a:lnTo>
                <a:cubicBezTo>
                  <a:pt x="14846" y="11238"/>
                  <a:pt x="10810" y="14499"/>
                  <a:pt x="7454" y="14396"/>
                </a:cubicBezTo>
                <a:lnTo>
                  <a:pt x="7454" y="10795"/>
                </a:lnTo>
                <a:cubicBezTo>
                  <a:pt x="9394" y="10810"/>
                  <a:pt x="11107" y="8977"/>
                  <a:pt x="11028" y="7198"/>
                </a:cubicBezTo>
                <a:lnTo>
                  <a:pt x="11027" y="7104"/>
                </a:lnTo>
                <a:lnTo>
                  <a:pt x="11024" y="7032"/>
                </a:lnTo>
                <a:lnTo>
                  <a:pt x="14626" y="703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任意多边形 6"/>
          <p:cNvSpPr/>
          <p:nvPr/>
        </p:nvSpPr>
        <p:spPr>
          <a:xfrm rot="7380000">
            <a:off x="-3524250" y="-184150"/>
            <a:ext cx="9464040" cy="9505315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4642" h="14403">
                <a:moveTo>
                  <a:pt x="0" y="7198"/>
                </a:moveTo>
                <a:lnTo>
                  <a:pt x="2" y="7032"/>
                </a:lnTo>
                <a:lnTo>
                  <a:pt x="3604" y="7032"/>
                </a:lnTo>
                <a:lnTo>
                  <a:pt x="3601" y="7104"/>
                </a:lnTo>
                <a:lnTo>
                  <a:pt x="3600" y="7198"/>
                </a:lnTo>
                <a:cubicBezTo>
                  <a:pt x="3479" y="9218"/>
                  <a:pt x="5558" y="10849"/>
                  <a:pt x="7228" y="10797"/>
                </a:cubicBezTo>
                <a:lnTo>
                  <a:pt x="7228" y="14397"/>
                </a:lnTo>
                <a:cubicBezTo>
                  <a:pt x="3324" y="14523"/>
                  <a:pt x="-158" y="10821"/>
                  <a:pt x="0" y="7198"/>
                </a:cubicBezTo>
                <a:close/>
                <a:moveTo>
                  <a:pt x="11" y="6805"/>
                </a:moveTo>
                <a:cubicBezTo>
                  <a:pt x="28" y="2981"/>
                  <a:pt x="3876" y="-110"/>
                  <a:pt x="7228" y="0"/>
                </a:cubicBezTo>
                <a:lnTo>
                  <a:pt x="7228" y="3600"/>
                </a:lnTo>
                <a:cubicBezTo>
                  <a:pt x="5483" y="3524"/>
                  <a:pt x="3687" y="5208"/>
                  <a:pt x="3622" y="6805"/>
                </a:cubicBezTo>
                <a:lnTo>
                  <a:pt x="11" y="6805"/>
                </a:lnTo>
                <a:close/>
                <a:moveTo>
                  <a:pt x="7454" y="1"/>
                </a:moveTo>
                <a:cubicBezTo>
                  <a:pt x="11097" y="-137"/>
                  <a:pt x="14628" y="3391"/>
                  <a:pt x="14617" y="6805"/>
                </a:cubicBezTo>
                <a:lnTo>
                  <a:pt x="11006" y="6805"/>
                </a:lnTo>
                <a:cubicBezTo>
                  <a:pt x="10910" y="5040"/>
                  <a:pt x="9049" y="3582"/>
                  <a:pt x="7454" y="3601"/>
                </a:cubicBezTo>
                <a:lnTo>
                  <a:pt x="7454" y="1"/>
                </a:lnTo>
                <a:close/>
                <a:moveTo>
                  <a:pt x="14626" y="7032"/>
                </a:moveTo>
                <a:lnTo>
                  <a:pt x="14628" y="7198"/>
                </a:lnTo>
                <a:cubicBezTo>
                  <a:pt x="14846" y="11238"/>
                  <a:pt x="10810" y="14499"/>
                  <a:pt x="7454" y="14396"/>
                </a:cubicBezTo>
                <a:lnTo>
                  <a:pt x="7454" y="10795"/>
                </a:lnTo>
                <a:cubicBezTo>
                  <a:pt x="9394" y="10810"/>
                  <a:pt x="11107" y="8977"/>
                  <a:pt x="11028" y="7198"/>
                </a:cubicBezTo>
                <a:lnTo>
                  <a:pt x="11027" y="7104"/>
                </a:lnTo>
                <a:lnTo>
                  <a:pt x="11024" y="7032"/>
                </a:lnTo>
                <a:lnTo>
                  <a:pt x="14626" y="7032"/>
                </a:lnTo>
                <a:close/>
              </a:path>
            </a:pathLst>
          </a:custGeom>
          <a:blipFill rotWithShape="1">
            <a:blip r:embed="rId3">
              <a:alphaModFix amt="67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54070" y="3187700"/>
            <a:ext cx="7306945" cy="2694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600">
                <a:solidFill>
                  <a:schemeClr val="bg1"/>
                </a:solidFill>
                <a:sym typeface="+mn-ea"/>
              </a:rPr>
              <a:t>目录</a:t>
            </a:r>
            <a:endParaRPr lang="zh-CN" altLang="en-US" sz="9600"/>
          </a:p>
        </p:txBody>
      </p:sp>
      <p:sp>
        <p:nvSpPr>
          <p:cNvPr id="10" name="文本框 9"/>
          <p:cNvSpPr txBox="1"/>
          <p:nvPr/>
        </p:nvSpPr>
        <p:spPr>
          <a:xfrm>
            <a:off x="7200900" y="2305050"/>
            <a:ext cx="7791450" cy="2365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00000"/>
              </a:lnSpc>
            </a:pPr>
            <a:r>
              <a:rPr lang="en-US" altLang="zh-CN" sz="72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  <a:sym typeface="+mn-ea"/>
              </a:rPr>
              <a:t>   </a:t>
            </a:r>
            <a:r>
              <a:rPr lang="zh-CN" altLang="en-US" sz="72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  <a:sym typeface="+mn-ea"/>
              </a:rPr>
              <a:t>传统</a:t>
            </a:r>
            <a:r>
              <a:rPr lang="en-US" sz="72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  <a:sym typeface="+mn-ea"/>
              </a:rPr>
              <a:t>天气预测</a:t>
            </a:r>
            <a:endParaRPr lang="en-US" sz="72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  <a:sym typeface="+mn-ea"/>
              </a:rPr>
              <a:t>   VS AI天气预测</a:t>
            </a:r>
            <a:endParaRPr lang="zh-CN" altLang="en-US" sz="7200"/>
          </a:p>
        </p:txBody>
      </p:sp>
      <p:sp>
        <p:nvSpPr>
          <p:cNvPr id="6" name="Shape 9"/>
          <p:cNvSpPr/>
          <p:nvPr/>
        </p:nvSpPr>
        <p:spPr>
          <a:xfrm>
            <a:off x="6535420" y="2361565"/>
            <a:ext cx="1016000" cy="123952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152400" y="0"/>
                </a:moveTo>
                <a:lnTo>
                  <a:pt x="863600" y="0"/>
                </a:lnTo>
                <a:cubicBezTo>
                  <a:pt x="947712" y="0"/>
                  <a:pt x="1016000" y="68288"/>
                  <a:pt x="1016000" y="152400"/>
                </a:cubicBezTo>
                <a:lnTo>
                  <a:pt x="1016000" y="863600"/>
                </a:lnTo>
                <a:cubicBezTo>
                  <a:pt x="1016000" y="947712"/>
                  <a:pt x="947712" y="1016000"/>
                  <a:pt x="863600" y="1016000"/>
                </a:cubicBezTo>
                <a:lnTo>
                  <a:pt x="152400" y="1016000"/>
                </a:lnTo>
                <a:cubicBezTo>
                  <a:pt x="68288" y="1016000"/>
                  <a:pt x="0" y="947712"/>
                  <a:pt x="0" y="863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CA3"/>
              </a:gs>
              <a:gs pos="100000">
                <a:srgbClr val="3C6E9E"/>
              </a:gs>
            </a:gsLst>
            <a:lin ang="2700000" scaled="1"/>
          </a:gradFill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  <p:txBody>
          <a:bodyPr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  <a:sym typeface="+mn-ea"/>
              </a:rPr>
              <a:t>02</a:t>
            </a:r>
            <a:endParaRPr lang="zh-CN" altLang="en-US" sz="4000"/>
          </a:p>
        </p:txBody>
      </p:sp>
      <p:sp>
        <p:nvSpPr>
          <p:cNvPr id="8" name="文本框 7"/>
          <p:cNvSpPr txBox="1"/>
          <p:nvPr/>
        </p:nvSpPr>
        <p:spPr>
          <a:xfrm>
            <a:off x="7771130" y="4878705"/>
            <a:ext cx="6707505" cy="7804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en-US" sz="32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对比两种方法的核心原理与技术路径</a:t>
            </a:r>
            <a:endParaRPr lang="zh-CN" altLang="en-US" sz="3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citechdaily.com/5321ffcd35d9b4f8a85276deeefa11328d9c0c1d.jpg"/>
          <p:cNvPicPr preferRelativeResize="0">
            <a:picLocks noChangeAspect="1"/>
          </p:cNvPicPr>
          <p:nvPr/>
        </p:nvPicPr>
        <p:blipFill>
          <a:blip r:embed="rId1">
            <a:alphaModFix amt="30000"/>
          </a:blip>
          <a:srcRect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14" name="流程图: 过程 13"/>
          <p:cNvSpPr/>
          <p:nvPr/>
        </p:nvSpPr>
        <p:spPr>
          <a:xfrm>
            <a:off x="7976870" y="3601085"/>
            <a:ext cx="75565" cy="75565"/>
          </a:xfrm>
          <a:prstGeom prst="flowChart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流程图: 可选过程 16" title="01"/>
          <p:cNvSpPr/>
          <p:nvPr/>
        </p:nvSpPr>
        <p:spPr>
          <a:xfrm>
            <a:off x="6607175" y="2327910"/>
            <a:ext cx="944245" cy="842010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/>
              <a:t>01</a:t>
            </a:r>
            <a:endParaRPr lang="en-US" altLang="zh-CN" sz="3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" y="-635"/>
            <a:ext cx="16253460" cy="9145270"/>
          </a:xfrm>
          <a:prstGeom prst="rect">
            <a:avLst/>
          </a:prstGeom>
          <a:gradFill>
            <a:gsLst>
              <a:gs pos="13000">
                <a:srgbClr val="5F8CA3">
                  <a:alpha val="15000"/>
                </a:srgbClr>
              </a:gs>
              <a:gs pos="100000">
                <a:srgbClr val="1A1D21">
                  <a:alpha val="90000"/>
                </a:srgbClr>
              </a:gs>
            </a:gsLst>
            <a:lin ang="4200000" scaled="0"/>
          </a:gradFill>
        </p:spPr>
      </p:pic>
      <p:sp>
        <p:nvSpPr>
          <p:cNvPr id="5" name="矩形 4"/>
          <p:cNvSpPr/>
          <p:nvPr/>
        </p:nvSpPr>
        <p:spPr>
          <a:xfrm>
            <a:off x="3175" y="0"/>
            <a:ext cx="16252825" cy="9143365"/>
          </a:xfrm>
          <a:prstGeom prst="rect">
            <a:avLst/>
          </a:prstGeom>
          <a:gradFill>
            <a:gsLst>
              <a:gs pos="26000">
                <a:srgbClr val="5F8CA3">
                  <a:alpha val="15000"/>
                </a:srgbClr>
              </a:gs>
              <a:gs pos="100000">
                <a:srgbClr val="1A1D21">
                  <a:alpha val="90000"/>
                </a:srgbClr>
              </a:gs>
            </a:gsLst>
            <a:lin ang="42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/>
        </p:nvSpPr>
        <p:spPr>
          <a:xfrm rot="13380000">
            <a:off x="-3525520" y="-185420"/>
            <a:ext cx="9464040" cy="9505315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4642" h="14403">
                <a:moveTo>
                  <a:pt x="0" y="7198"/>
                </a:moveTo>
                <a:lnTo>
                  <a:pt x="2" y="7032"/>
                </a:lnTo>
                <a:lnTo>
                  <a:pt x="3604" y="7032"/>
                </a:lnTo>
                <a:lnTo>
                  <a:pt x="3601" y="7104"/>
                </a:lnTo>
                <a:lnTo>
                  <a:pt x="3600" y="7198"/>
                </a:lnTo>
                <a:cubicBezTo>
                  <a:pt x="3479" y="9218"/>
                  <a:pt x="5558" y="10849"/>
                  <a:pt x="7228" y="10797"/>
                </a:cubicBezTo>
                <a:lnTo>
                  <a:pt x="7228" y="14397"/>
                </a:lnTo>
                <a:cubicBezTo>
                  <a:pt x="3324" y="14523"/>
                  <a:pt x="-158" y="10821"/>
                  <a:pt x="0" y="7198"/>
                </a:cubicBezTo>
                <a:close/>
                <a:moveTo>
                  <a:pt x="11" y="6805"/>
                </a:moveTo>
                <a:cubicBezTo>
                  <a:pt x="28" y="2981"/>
                  <a:pt x="3876" y="-110"/>
                  <a:pt x="7228" y="0"/>
                </a:cubicBezTo>
                <a:lnTo>
                  <a:pt x="7228" y="3600"/>
                </a:lnTo>
                <a:cubicBezTo>
                  <a:pt x="5483" y="3524"/>
                  <a:pt x="3687" y="5208"/>
                  <a:pt x="3622" y="6805"/>
                </a:cubicBezTo>
                <a:lnTo>
                  <a:pt x="11" y="6805"/>
                </a:lnTo>
                <a:close/>
                <a:moveTo>
                  <a:pt x="7454" y="1"/>
                </a:moveTo>
                <a:cubicBezTo>
                  <a:pt x="11097" y="-137"/>
                  <a:pt x="14628" y="3391"/>
                  <a:pt x="14617" y="6805"/>
                </a:cubicBezTo>
                <a:lnTo>
                  <a:pt x="11006" y="6805"/>
                </a:lnTo>
                <a:cubicBezTo>
                  <a:pt x="10910" y="5040"/>
                  <a:pt x="9049" y="3582"/>
                  <a:pt x="7454" y="3601"/>
                </a:cubicBezTo>
                <a:lnTo>
                  <a:pt x="7454" y="1"/>
                </a:lnTo>
                <a:close/>
                <a:moveTo>
                  <a:pt x="14626" y="7032"/>
                </a:moveTo>
                <a:lnTo>
                  <a:pt x="14628" y="7198"/>
                </a:lnTo>
                <a:cubicBezTo>
                  <a:pt x="14846" y="11238"/>
                  <a:pt x="10810" y="14499"/>
                  <a:pt x="7454" y="14396"/>
                </a:cubicBezTo>
                <a:lnTo>
                  <a:pt x="7454" y="10795"/>
                </a:lnTo>
                <a:cubicBezTo>
                  <a:pt x="9394" y="10810"/>
                  <a:pt x="11107" y="8977"/>
                  <a:pt x="11028" y="7198"/>
                </a:cubicBezTo>
                <a:lnTo>
                  <a:pt x="11027" y="7104"/>
                </a:lnTo>
                <a:lnTo>
                  <a:pt x="11024" y="7032"/>
                </a:lnTo>
                <a:lnTo>
                  <a:pt x="14626" y="7032"/>
                </a:lnTo>
                <a:close/>
              </a:path>
            </a:pathLst>
          </a:custGeom>
          <a:blipFill rotWithShape="1">
            <a:blip r:embed="rId3">
              <a:alphaModFix amt="5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458210" y="3883025"/>
            <a:ext cx="7618730" cy="842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600">
                <a:solidFill>
                  <a:schemeClr val="bg1"/>
                </a:solidFill>
                <a:sym typeface="+mn-ea"/>
              </a:rPr>
              <a:t>目录</a:t>
            </a:r>
            <a:endParaRPr lang="zh-CN" altLang="en-US" sz="9600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421370" y="2774315"/>
            <a:ext cx="7870190" cy="1286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72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  <a:sym typeface="+mn-ea"/>
              </a:rPr>
              <a:t>AI天气预测的优点</a:t>
            </a:r>
            <a:endParaRPr lang="zh-CN" altLang="en-US" sz="7200"/>
          </a:p>
        </p:txBody>
      </p:sp>
      <p:sp>
        <p:nvSpPr>
          <p:cNvPr id="16" name="Shape 14"/>
          <p:cNvSpPr/>
          <p:nvPr/>
        </p:nvSpPr>
        <p:spPr>
          <a:xfrm>
            <a:off x="7036435" y="2773045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152400" y="0"/>
                </a:moveTo>
                <a:lnTo>
                  <a:pt x="863600" y="0"/>
                </a:lnTo>
                <a:cubicBezTo>
                  <a:pt x="947712" y="0"/>
                  <a:pt x="1016000" y="68288"/>
                  <a:pt x="1016000" y="152400"/>
                </a:cubicBezTo>
                <a:lnTo>
                  <a:pt x="1016000" y="863600"/>
                </a:lnTo>
                <a:cubicBezTo>
                  <a:pt x="1016000" y="947712"/>
                  <a:pt x="947712" y="1016000"/>
                  <a:pt x="863600" y="1016000"/>
                </a:cubicBezTo>
                <a:lnTo>
                  <a:pt x="152400" y="1016000"/>
                </a:lnTo>
                <a:cubicBezTo>
                  <a:pt x="68288" y="1016000"/>
                  <a:pt x="0" y="947712"/>
                  <a:pt x="0" y="863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8FBC8F"/>
              </a:gs>
              <a:gs pos="100000">
                <a:srgbClr val="5F8CA3"/>
              </a:gs>
            </a:gsLst>
            <a:lin ang="2700000" scaled="1"/>
          </a:gradFill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  <p:txBody>
          <a:bodyPr/>
          <a:p>
            <a:pPr algn="ctr">
              <a:lnSpc>
                <a:spcPct val="130000"/>
              </a:lnSpc>
            </a:pPr>
            <a:r>
              <a:rPr lang="en-US" sz="3600" b="1" dirty="0">
                <a:solidFill>
                  <a:srgbClr val="1A1D21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  <a:sym typeface="+mn-ea"/>
              </a:rPr>
              <a:t>03</a:t>
            </a:r>
            <a:endParaRPr lang="zh-CN" altLang="en-US" sz="3600"/>
          </a:p>
        </p:txBody>
      </p:sp>
      <p:sp>
        <p:nvSpPr>
          <p:cNvPr id="8" name="文本框 7"/>
          <p:cNvSpPr txBox="1"/>
          <p:nvPr/>
        </p:nvSpPr>
        <p:spPr>
          <a:xfrm>
            <a:off x="8649335" y="4274185"/>
            <a:ext cx="6693535" cy="1768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40000"/>
              </a:lnSpc>
            </a:pPr>
            <a:r>
              <a:rPr lang="en-US" sz="32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展示AI技术在气象预测领域的突破性优势</a:t>
            </a:r>
            <a:endParaRPr lang="zh-CN" altLang="en-US" sz="3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citechdaily.com/5321ffcd35d9b4f8a85276deeefa11328d9c0c1d.jpg"/>
          <p:cNvPicPr preferRelativeResize="0">
            <a:picLocks noChangeAspect="1"/>
          </p:cNvPicPr>
          <p:nvPr/>
        </p:nvPicPr>
        <p:blipFill>
          <a:blip r:embed="rId1">
            <a:alphaModFix amt="30000"/>
          </a:blip>
          <a:srcRect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14" name="流程图: 过程 13"/>
          <p:cNvSpPr/>
          <p:nvPr/>
        </p:nvSpPr>
        <p:spPr>
          <a:xfrm>
            <a:off x="7976870" y="3601085"/>
            <a:ext cx="75565" cy="75565"/>
          </a:xfrm>
          <a:prstGeom prst="flowChart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流程图: 可选过程 16" title="01"/>
          <p:cNvSpPr/>
          <p:nvPr/>
        </p:nvSpPr>
        <p:spPr>
          <a:xfrm>
            <a:off x="6607175" y="2327910"/>
            <a:ext cx="944245" cy="842010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/>
              <a:t>01</a:t>
            </a:r>
            <a:endParaRPr lang="en-US" altLang="zh-CN" sz="3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985" y="0"/>
            <a:ext cx="16193135" cy="910082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0"/>
            <a:ext cx="16186150" cy="9100185"/>
          </a:xfrm>
          <a:prstGeom prst="rect">
            <a:avLst/>
          </a:prstGeom>
          <a:gradFill>
            <a:gsLst>
              <a:gs pos="0">
                <a:srgbClr val="1A1D21">
                  <a:alpha val="95000"/>
                </a:srgbClr>
              </a:gs>
              <a:gs pos="82000">
                <a:srgbClr val="2B4660">
                  <a:alpha val="100000"/>
                </a:srgbClr>
              </a:gs>
              <a:gs pos="0">
                <a:srgbClr val="3C6E9E">
                  <a:alpha val="15000"/>
                </a:srgbClr>
              </a:gs>
              <a:gs pos="100000">
                <a:srgbClr val="1A1D21">
                  <a:alpha val="90000"/>
                </a:srgbClr>
              </a:gs>
            </a:gsLst>
            <a:lin ang="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/>
        </p:nvSpPr>
        <p:spPr>
          <a:xfrm rot="19560000">
            <a:off x="-3525520" y="-185420"/>
            <a:ext cx="9464040" cy="9505315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4642" h="14403">
                <a:moveTo>
                  <a:pt x="0" y="7198"/>
                </a:moveTo>
                <a:lnTo>
                  <a:pt x="2" y="7032"/>
                </a:lnTo>
                <a:lnTo>
                  <a:pt x="3604" y="7032"/>
                </a:lnTo>
                <a:lnTo>
                  <a:pt x="3601" y="7104"/>
                </a:lnTo>
                <a:lnTo>
                  <a:pt x="3600" y="7198"/>
                </a:lnTo>
                <a:cubicBezTo>
                  <a:pt x="3479" y="9218"/>
                  <a:pt x="5558" y="10849"/>
                  <a:pt x="7228" y="10797"/>
                </a:cubicBezTo>
                <a:lnTo>
                  <a:pt x="7228" y="14397"/>
                </a:lnTo>
                <a:cubicBezTo>
                  <a:pt x="3324" y="14523"/>
                  <a:pt x="-158" y="10821"/>
                  <a:pt x="0" y="7198"/>
                </a:cubicBezTo>
                <a:close/>
                <a:moveTo>
                  <a:pt x="11" y="6805"/>
                </a:moveTo>
                <a:cubicBezTo>
                  <a:pt x="28" y="2981"/>
                  <a:pt x="3876" y="-110"/>
                  <a:pt x="7228" y="0"/>
                </a:cubicBezTo>
                <a:lnTo>
                  <a:pt x="7228" y="3600"/>
                </a:lnTo>
                <a:cubicBezTo>
                  <a:pt x="5483" y="3524"/>
                  <a:pt x="3687" y="5208"/>
                  <a:pt x="3622" y="6805"/>
                </a:cubicBezTo>
                <a:lnTo>
                  <a:pt x="11" y="6805"/>
                </a:lnTo>
                <a:close/>
                <a:moveTo>
                  <a:pt x="7454" y="1"/>
                </a:moveTo>
                <a:cubicBezTo>
                  <a:pt x="11097" y="-137"/>
                  <a:pt x="14628" y="3391"/>
                  <a:pt x="14617" y="6805"/>
                </a:cubicBezTo>
                <a:lnTo>
                  <a:pt x="11006" y="6805"/>
                </a:lnTo>
                <a:cubicBezTo>
                  <a:pt x="10910" y="5040"/>
                  <a:pt x="9049" y="3582"/>
                  <a:pt x="7454" y="3601"/>
                </a:cubicBezTo>
                <a:lnTo>
                  <a:pt x="7454" y="1"/>
                </a:lnTo>
                <a:close/>
                <a:moveTo>
                  <a:pt x="14626" y="7032"/>
                </a:moveTo>
                <a:lnTo>
                  <a:pt x="14628" y="7198"/>
                </a:lnTo>
                <a:cubicBezTo>
                  <a:pt x="14846" y="11238"/>
                  <a:pt x="10810" y="14499"/>
                  <a:pt x="7454" y="14396"/>
                </a:cubicBezTo>
                <a:lnTo>
                  <a:pt x="7454" y="10795"/>
                </a:lnTo>
                <a:cubicBezTo>
                  <a:pt x="9394" y="10810"/>
                  <a:pt x="11107" y="8977"/>
                  <a:pt x="11028" y="7198"/>
                </a:cubicBezTo>
                <a:lnTo>
                  <a:pt x="11027" y="7104"/>
                </a:lnTo>
                <a:lnTo>
                  <a:pt x="11024" y="7032"/>
                </a:lnTo>
                <a:lnTo>
                  <a:pt x="14626" y="7032"/>
                </a:lnTo>
                <a:close/>
              </a:path>
            </a:pathLst>
          </a:custGeom>
          <a:blipFill rotWithShape="1">
            <a:blip r:embed="rId3">
              <a:alphaModFix amt="59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354705" y="4076065"/>
            <a:ext cx="6959600" cy="2434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600">
                <a:solidFill>
                  <a:schemeClr val="bg1"/>
                </a:solidFill>
                <a:sym typeface="+mn-ea"/>
              </a:rPr>
              <a:t>目录</a:t>
            </a:r>
            <a:endParaRPr lang="zh-CN" altLang="en-US" sz="9600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922895" y="2581910"/>
            <a:ext cx="5282565" cy="1547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72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  <a:sym typeface="+mn-ea"/>
              </a:rPr>
              <a:t> 展望与结语</a:t>
            </a:r>
            <a:endParaRPr lang="zh-CN" altLang="en-US" sz="7200"/>
          </a:p>
        </p:txBody>
      </p:sp>
      <p:sp>
        <p:nvSpPr>
          <p:cNvPr id="21" name="Shape 19"/>
          <p:cNvSpPr/>
          <p:nvPr/>
        </p:nvSpPr>
        <p:spPr>
          <a:xfrm>
            <a:off x="6906895" y="266065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152400" y="0"/>
                </a:moveTo>
                <a:lnTo>
                  <a:pt x="863600" y="0"/>
                </a:lnTo>
                <a:cubicBezTo>
                  <a:pt x="947712" y="0"/>
                  <a:pt x="1016000" y="68288"/>
                  <a:pt x="1016000" y="152400"/>
                </a:cubicBezTo>
                <a:lnTo>
                  <a:pt x="1016000" y="863600"/>
                </a:lnTo>
                <a:cubicBezTo>
                  <a:pt x="1016000" y="947712"/>
                  <a:pt x="947712" y="1016000"/>
                  <a:pt x="863600" y="1016000"/>
                </a:cubicBezTo>
                <a:lnTo>
                  <a:pt x="152400" y="1016000"/>
                </a:lnTo>
                <a:cubicBezTo>
                  <a:pt x="68288" y="1016000"/>
                  <a:pt x="0" y="947712"/>
                  <a:pt x="0" y="863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/>
              </a:gs>
              <a:gs pos="100000">
                <a:srgbClr val="8FBC8F"/>
              </a:gs>
            </a:gsLst>
            <a:lin ang="2700000" scaled="1"/>
          </a:gradFill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  <p:txBody>
          <a:bodyPr/>
          <a:p>
            <a:pPr algn="ctr">
              <a:lnSpc>
                <a:spcPct val="140000"/>
              </a:lnSpc>
            </a:pPr>
            <a:r>
              <a:rPr lang="en-US" sz="32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  <a:sym typeface="+mn-ea"/>
              </a:rPr>
              <a:t>04</a:t>
            </a:r>
            <a:endParaRPr lang="zh-CN" altLang="en-US" sz="3200"/>
          </a:p>
        </p:txBody>
      </p:sp>
      <p:sp>
        <p:nvSpPr>
          <p:cNvPr id="8" name="文本框 7"/>
          <p:cNvSpPr txBox="1"/>
          <p:nvPr/>
        </p:nvSpPr>
        <p:spPr>
          <a:xfrm>
            <a:off x="8121015" y="3898265"/>
            <a:ext cx="6729095" cy="1325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40000"/>
              </a:lnSpc>
            </a:pPr>
            <a:r>
              <a:rPr lang="en-US" sz="32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探讨未来发展趋势与AI技术的温度</a:t>
            </a:r>
            <a:endParaRPr lang="zh-CN" altLang="en-US" sz="3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citechdaily.com/5321ffcd35d9b4f8a85276deeefa11328d9c0c1d.jpg"/>
          <p:cNvPicPr>
            <a:picLocks noChangeAspect="1"/>
          </p:cNvPicPr>
          <p:nvPr/>
        </p:nvPicPr>
        <p:blipFill>
          <a:blip r:embed="rId1">
            <a:alphaModFix amt="30000"/>
          </a:blip>
          <a:srcRect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3C6E9E">
                  <a:alpha val="15000"/>
                </a:srgbClr>
              </a:gs>
              <a:gs pos="100000">
                <a:srgbClr val="1A1D21">
                  <a:alpha val="90000"/>
                </a:srgbClr>
              </a:gs>
            </a:gsLst>
            <a:lin ang="0" scaled="1"/>
          </a:gradFill>
        </p:spPr>
        <p:txBody>
          <a:bodyPr/>
          <a:p>
            <a:r>
              <a:rPr lang="en-US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  <a:sym typeface="+mn-ea"/>
              </a:rPr>
              <a:t>开篇</a:t>
            </a:r>
            <a:endParaRPr lang="en-US" altLang="en-US" b="1" dirty="0">
              <a:solidFill>
                <a:srgbClr val="E0E0E0"/>
              </a:solidFill>
              <a:latin typeface="得意黑" pitchFamily="34" charset="-122"/>
              <a:ea typeface="得意黑" pitchFamily="34" charset="-122"/>
              <a:cs typeface="得意黑" pitchFamily="34" charset="-120"/>
              <a:sym typeface="+mn-ea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08000" y="2755900"/>
            <a:ext cx="1422400" cy="1422400"/>
          </a:xfrm>
          <a:custGeom>
            <a:avLst/>
            <a:gdLst/>
            <a:ahLst/>
            <a:cxnLst/>
            <a:rect l="l" t="t" r="r" b="b"/>
            <a:pathLst>
              <a:path w="1422400" h="1422400">
                <a:moveTo>
                  <a:pt x="304806" y="0"/>
                </a:moveTo>
                <a:lnTo>
                  <a:pt x="1117594" y="0"/>
                </a:lnTo>
                <a:cubicBezTo>
                  <a:pt x="1285821" y="0"/>
                  <a:pt x="1422400" y="136579"/>
                  <a:pt x="1422400" y="304806"/>
                </a:cubicBezTo>
                <a:lnTo>
                  <a:pt x="1422400" y="1117594"/>
                </a:lnTo>
                <a:cubicBezTo>
                  <a:pt x="1422400" y="1285821"/>
                  <a:pt x="1285821" y="1422400"/>
                  <a:pt x="1117594" y="1422400"/>
                </a:cubicBezTo>
                <a:lnTo>
                  <a:pt x="304806" y="1422400"/>
                </a:lnTo>
                <a:cubicBezTo>
                  <a:pt x="136579" y="1422400"/>
                  <a:pt x="0" y="1285821"/>
                  <a:pt x="0" y="1117594"/>
                </a:cubicBezTo>
                <a:lnTo>
                  <a:pt x="0" y="304806"/>
                </a:lnTo>
                <a:cubicBezTo>
                  <a:pt x="0" y="136579"/>
                  <a:pt x="136579" y="0"/>
                  <a:pt x="304806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/>
              </a:gs>
              <a:gs pos="100000">
                <a:srgbClr val="5F8CA3"/>
              </a:gs>
            </a:gsLst>
            <a:lin ang="2700000" scaled="1"/>
          </a:gradFill>
          <a:effectLst>
            <a:outerShdw blurRad="635000" dist="317500" dir="5400000" algn="bl" rotWithShape="0">
              <a:srgbClr val="000000">
                <a:alpha val="25098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923528" y="3086100"/>
            <a:ext cx="9779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235200" y="2959100"/>
            <a:ext cx="76200" cy="1016000"/>
          </a:xfrm>
          <a:custGeom>
            <a:avLst/>
            <a:gdLst/>
            <a:ahLst/>
            <a:cxnLst/>
            <a:rect l="l" t="t" r="r" b="b"/>
            <a:pathLst>
              <a:path w="76200" h="1016000">
                <a:moveTo>
                  <a:pt x="0" y="0"/>
                </a:moveTo>
                <a:lnTo>
                  <a:pt x="76200" y="0"/>
                </a:lnTo>
                <a:lnTo>
                  <a:pt x="762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C6E9E"/>
              </a:gs>
              <a:gs pos="0">
                <a:srgbClr val="FFFFFF"/>
              </a:gs>
              <a:gs pos="100000">
                <a:srgbClr val="8FBC8F"/>
              </a:gs>
            </a:gsLst>
            <a:lin ang="5400000" scaled="1"/>
          </a:gradFill>
        </p:spPr>
      </p:sp>
      <p:sp>
        <p:nvSpPr>
          <p:cNvPr id="7" name="Text 4"/>
          <p:cNvSpPr/>
          <p:nvPr/>
        </p:nvSpPr>
        <p:spPr>
          <a:xfrm>
            <a:off x="2616200" y="2717800"/>
            <a:ext cx="3009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420" dirty="0">
                <a:solidFill>
                  <a:srgbClr val="8FBC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CHAPTER ONE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616200" y="3073400"/>
            <a:ext cx="4421505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开篇设</a:t>
            </a:r>
            <a:r>
              <a:rPr lang="zh-CN" altLang="en-US" sz="72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问</a:t>
            </a:r>
            <a:endParaRPr lang="zh-CN" altLang="en-US" sz="7200" b="1" dirty="0">
              <a:solidFill>
                <a:srgbClr val="E0E0E0"/>
              </a:solidFill>
              <a:latin typeface="得意黑" pitchFamily="34" charset="-122"/>
              <a:ea typeface="得意黑" pitchFamily="34" charset="-122"/>
              <a:cs typeface="得意黑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336800" y="4724400"/>
            <a:ext cx="62103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当AI能够以分钟级的速度完成全球天气预报，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这背后究竟隐藏着怎样的技术革命？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336800" y="6121400"/>
            <a:ext cx="314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5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探索人工智能气象预测的核心奥秘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469900"/>
            <a:ext cx="609600" cy="108000"/>
          </a:xfrm>
          <a:custGeom>
            <a:avLst/>
            <a:gdLst/>
            <a:ahLst/>
            <a:cxnLst/>
            <a:rect l="l" t="t" r="r" b="b"/>
            <a:pathLst>
              <a:path w="609600" h="50800">
                <a:moveTo>
                  <a:pt x="0" y="0"/>
                </a:moveTo>
                <a:lnTo>
                  <a:pt x="609600" y="0"/>
                </a:lnTo>
                <a:lnTo>
                  <a:pt x="609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C6E9E"/>
              </a:gs>
              <a:gs pos="100000">
                <a:srgbClr val="8FBC8F"/>
              </a:gs>
            </a:gsLst>
            <a:lin ang="0" scaled="1"/>
          </a:gradFill>
        </p:spPr>
        <p:txBody>
          <a:bodyPr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320800" y="367030"/>
            <a:ext cx="1752600" cy="3949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80" dirty="0">
                <a:solidFill>
                  <a:srgbClr val="8FBC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 QUESTION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887095"/>
            <a:ext cx="15544800" cy="1099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这是如何做到的？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69900" y="2367280"/>
            <a:ext cx="7302500" cy="5709920"/>
          </a:xfrm>
          <a:custGeom>
            <a:avLst/>
            <a:gdLst/>
            <a:ahLst/>
            <a:cxnLst/>
            <a:rect l="l" t="t" r="r" b="b"/>
            <a:pathLst>
              <a:path w="7404100" h="6134100">
                <a:moveTo>
                  <a:pt x="304803" y="0"/>
                </a:moveTo>
                <a:lnTo>
                  <a:pt x="7099297" y="0"/>
                </a:lnTo>
                <a:cubicBezTo>
                  <a:pt x="7267522" y="0"/>
                  <a:pt x="7404100" y="136578"/>
                  <a:pt x="7404100" y="304803"/>
                </a:cubicBezTo>
                <a:lnTo>
                  <a:pt x="7404100" y="5829297"/>
                </a:lnTo>
                <a:cubicBezTo>
                  <a:pt x="7404100" y="5997522"/>
                  <a:pt x="7267522" y="6134100"/>
                  <a:pt x="7099297" y="6134100"/>
                </a:cubicBezTo>
                <a:lnTo>
                  <a:pt x="304803" y="6134100"/>
                </a:lnTo>
                <a:cubicBezTo>
                  <a:pt x="136578" y="6134100"/>
                  <a:pt x="0" y="5997522"/>
                  <a:pt x="0" y="5829297"/>
                </a:cubicBezTo>
                <a:lnTo>
                  <a:pt x="0" y="304803"/>
                </a:lnTo>
                <a:cubicBezTo>
                  <a:pt x="0" y="136578"/>
                  <a:pt x="136578" y="0"/>
                  <a:pt x="304803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CA3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5F8CA3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22800" y="2367280"/>
            <a:ext cx="3251200" cy="3251200"/>
          </a:xfrm>
          <a:custGeom>
            <a:avLst/>
            <a:gdLst/>
            <a:ahLst/>
            <a:cxnLst/>
            <a:rect l="l" t="t" r="r" b="b"/>
            <a:pathLst>
              <a:path w="3251200" h="3251200">
                <a:moveTo>
                  <a:pt x="1625600" y="0"/>
                </a:moveTo>
                <a:lnTo>
                  <a:pt x="1625600" y="0"/>
                </a:lnTo>
                <a:cubicBezTo>
                  <a:pt x="2522793" y="0"/>
                  <a:pt x="3251200" y="728407"/>
                  <a:pt x="3251200" y="1625600"/>
                </a:cubicBezTo>
                <a:lnTo>
                  <a:pt x="3251200" y="1625600"/>
                </a:lnTo>
                <a:cubicBezTo>
                  <a:pt x="3251200" y="2522793"/>
                  <a:pt x="2522793" y="3251200"/>
                  <a:pt x="1625600" y="3251200"/>
                </a:cubicBezTo>
                <a:lnTo>
                  <a:pt x="1625600" y="3251200"/>
                </a:lnTo>
                <a:cubicBezTo>
                  <a:pt x="728407" y="3251200"/>
                  <a:pt x="0" y="2522793"/>
                  <a:pt x="0" y="1625600"/>
                </a:cubicBezTo>
                <a:lnTo>
                  <a:pt x="0" y="1625600"/>
                </a:lnTo>
                <a:cubicBezTo>
                  <a:pt x="0" y="728407"/>
                  <a:pt x="728407" y="0"/>
                  <a:pt x="1625600" y="0"/>
                </a:cubicBezTo>
                <a:close/>
              </a:path>
            </a:pathLst>
          </a:custGeom>
          <a:solidFill>
            <a:srgbClr val="5F8CA3">
              <a:alpha val="10196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8331200" y="2399665"/>
            <a:ext cx="6953250" cy="5658485"/>
          </a:xfrm>
          <a:custGeom>
            <a:avLst/>
            <a:gdLst/>
            <a:ahLst/>
            <a:cxnLst/>
            <a:rect l="l" t="t" r="r" b="b"/>
            <a:pathLst>
              <a:path w="7404100" h="6134100">
                <a:moveTo>
                  <a:pt x="304803" y="0"/>
                </a:moveTo>
                <a:lnTo>
                  <a:pt x="7099297" y="0"/>
                </a:lnTo>
                <a:cubicBezTo>
                  <a:pt x="7267522" y="0"/>
                  <a:pt x="7404100" y="136578"/>
                  <a:pt x="7404100" y="304803"/>
                </a:cubicBezTo>
                <a:lnTo>
                  <a:pt x="7404100" y="5829297"/>
                </a:lnTo>
                <a:cubicBezTo>
                  <a:pt x="7404100" y="5997522"/>
                  <a:pt x="7267522" y="6134100"/>
                  <a:pt x="7099297" y="6134100"/>
                </a:cubicBezTo>
                <a:lnTo>
                  <a:pt x="304803" y="6134100"/>
                </a:lnTo>
                <a:cubicBezTo>
                  <a:pt x="136578" y="6134100"/>
                  <a:pt x="0" y="5997522"/>
                  <a:pt x="0" y="5829297"/>
                </a:cubicBezTo>
                <a:lnTo>
                  <a:pt x="0" y="304803"/>
                </a:lnTo>
                <a:cubicBezTo>
                  <a:pt x="0" y="136578"/>
                  <a:pt x="136578" y="0"/>
                  <a:pt x="304803" y="0"/>
                </a:cubicBezTo>
                <a:close/>
              </a:path>
            </a:pathLst>
          </a:custGeom>
          <a:gradFill flip="none" rotWithShape="1">
            <a:gsLst>
              <a:gs pos="0">
                <a:srgbClr val="8FBC8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8FBC8F">
                <a:alpha val="4000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2033250" y="2367280"/>
            <a:ext cx="3251200" cy="3251200"/>
          </a:xfrm>
          <a:custGeom>
            <a:avLst/>
            <a:gdLst/>
            <a:ahLst/>
            <a:cxnLst/>
            <a:rect l="l" t="t" r="r" b="b"/>
            <a:pathLst>
              <a:path w="3251200" h="3251200">
                <a:moveTo>
                  <a:pt x="1625600" y="0"/>
                </a:moveTo>
                <a:lnTo>
                  <a:pt x="1625600" y="0"/>
                </a:lnTo>
                <a:cubicBezTo>
                  <a:pt x="2522793" y="0"/>
                  <a:pt x="3251200" y="728407"/>
                  <a:pt x="3251200" y="1625600"/>
                </a:cubicBezTo>
                <a:lnTo>
                  <a:pt x="3251200" y="1625600"/>
                </a:lnTo>
                <a:cubicBezTo>
                  <a:pt x="3251200" y="2522793"/>
                  <a:pt x="2522793" y="3251200"/>
                  <a:pt x="1625600" y="3251200"/>
                </a:cubicBezTo>
                <a:lnTo>
                  <a:pt x="1625600" y="3251200"/>
                </a:lnTo>
                <a:cubicBezTo>
                  <a:pt x="728407" y="3251200"/>
                  <a:pt x="0" y="2522793"/>
                  <a:pt x="0" y="1625600"/>
                </a:cubicBezTo>
                <a:lnTo>
                  <a:pt x="0" y="1625600"/>
                </a:lnTo>
                <a:cubicBezTo>
                  <a:pt x="0" y="728407"/>
                  <a:pt x="728407" y="0"/>
                  <a:pt x="1625600" y="0"/>
                </a:cubicBezTo>
                <a:close/>
              </a:path>
            </a:pathLst>
          </a:custGeom>
          <a:solidFill>
            <a:srgbClr val="8FBC8F">
              <a:alpha val="14902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337300" y="84582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10" name="Text 8"/>
          <p:cNvSpPr/>
          <p:nvPr/>
        </p:nvSpPr>
        <p:spPr>
          <a:xfrm>
            <a:off x="6540500" y="83820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5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效率提升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54900" y="8407400"/>
            <a:ext cx="12700" cy="203200"/>
          </a:xfrm>
          <a:custGeom>
            <a:avLst/>
            <a:gdLst/>
            <a:ahLst/>
            <a:cxnLst/>
            <a:rect l="l" t="t" r="r" b="b"/>
            <a:pathLst>
              <a:path w="12700" h="203200">
                <a:moveTo>
                  <a:pt x="0" y="0"/>
                </a:moveTo>
                <a:lnTo>
                  <a:pt x="12700" y="0"/>
                </a:lnTo>
                <a:lnTo>
                  <a:pt x="12700" y="203200"/>
                </a:lnTo>
                <a:lnTo>
                  <a:pt x="0" y="203200"/>
                </a:lnTo>
                <a:lnTo>
                  <a:pt x="0" y="0"/>
                </a:lnTo>
                <a:close/>
              </a:path>
            </a:pathLst>
          </a:custGeom>
          <a:solidFill>
            <a:srgbClr val="E0E0E0">
              <a:alpha val="20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7670800" y="84582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13" name="Text 11"/>
          <p:cNvSpPr/>
          <p:nvPr/>
        </p:nvSpPr>
        <p:spPr>
          <a:xfrm>
            <a:off x="7874000" y="83820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5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精度优化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788400" y="8407400"/>
            <a:ext cx="12700" cy="203200"/>
          </a:xfrm>
          <a:custGeom>
            <a:avLst/>
            <a:gdLst/>
            <a:ahLst/>
            <a:cxnLst/>
            <a:rect l="l" t="t" r="r" b="b"/>
            <a:pathLst>
              <a:path w="12700" h="203200">
                <a:moveTo>
                  <a:pt x="0" y="0"/>
                </a:moveTo>
                <a:lnTo>
                  <a:pt x="12700" y="0"/>
                </a:lnTo>
                <a:lnTo>
                  <a:pt x="12700" y="203200"/>
                </a:lnTo>
                <a:lnTo>
                  <a:pt x="0" y="203200"/>
                </a:lnTo>
                <a:lnTo>
                  <a:pt x="0" y="0"/>
                </a:lnTo>
                <a:close/>
              </a:path>
            </a:pathLst>
          </a:custGeom>
          <a:solidFill>
            <a:srgbClr val="E0E0E0">
              <a:alpha val="2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9004300" y="84582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16" name="Text 14"/>
          <p:cNvSpPr/>
          <p:nvPr/>
        </p:nvSpPr>
        <p:spPr>
          <a:xfrm>
            <a:off x="9207500" y="83820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5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技术革新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943100" y="2400300"/>
            <a:ext cx="4838065" cy="394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3200" dirty="0">
                <a:solidFill>
                  <a:srgbClr val="0070C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传统天气预测</a:t>
            </a:r>
            <a:r>
              <a:rPr lang="zh-CN" altLang="en-US" sz="3200" dirty="0">
                <a:solidFill>
                  <a:srgbClr val="0070C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全球一周天气情况需要大约</a:t>
            </a:r>
            <a:r>
              <a:rPr lang="en-US" altLang="zh-CN" sz="5400" b="1" dirty="0">
                <a:solidFill>
                  <a:srgbClr val="0070C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6</a:t>
            </a:r>
            <a:r>
              <a:rPr lang="zh-CN" altLang="en-US" sz="5400" b="1" dirty="0">
                <a:solidFill>
                  <a:srgbClr val="0070C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小时</a:t>
            </a:r>
            <a:endParaRPr lang="zh-CN" altLang="en-US" sz="5400" b="1" dirty="0">
              <a:solidFill>
                <a:srgbClr val="0070C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27100" y="376174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5F8CA3">
              <a:alpha val="30196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1117600" y="396494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ubicBezTo>
                  <a:pt x="0" y="68288"/>
                  <a:pt x="68288" y="0"/>
                  <a:pt x="152400" y="0"/>
                </a:cubicBezTo>
                <a:close/>
                <a:moveTo>
                  <a:pt x="138113" y="71438"/>
                </a:moveTo>
                <a:lnTo>
                  <a:pt x="138113" y="152400"/>
                </a:lnTo>
                <a:cubicBezTo>
                  <a:pt x="138113" y="157163"/>
                  <a:pt x="140494" y="161627"/>
                  <a:pt x="144482" y="164306"/>
                </a:cubicBezTo>
                <a:lnTo>
                  <a:pt x="201632" y="202406"/>
                </a:lnTo>
                <a:cubicBezTo>
                  <a:pt x="208181" y="206812"/>
                  <a:pt x="217051" y="205026"/>
                  <a:pt x="221456" y="198418"/>
                </a:cubicBezTo>
                <a:cubicBezTo>
                  <a:pt x="225862" y="191810"/>
                  <a:pt x="224076" y="182999"/>
                  <a:pt x="217468" y="178594"/>
                </a:cubicBezTo>
                <a:lnTo>
                  <a:pt x="166688" y="144780"/>
                </a:lnTo>
                <a:lnTo>
                  <a:pt x="166688" y="71438"/>
                </a:lnTo>
                <a:cubicBezTo>
                  <a:pt x="166688" y="63520"/>
                  <a:pt x="160318" y="57150"/>
                  <a:pt x="152400" y="57150"/>
                </a:cubicBezTo>
                <a:cubicBezTo>
                  <a:pt x="144482" y="57150"/>
                  <a:pt x="138113" y="63520"/>
                  <a:pt x="138113" y="71438"/>
                </a:cubicBezTo>
                <a:close/>
              </a:path>
            </a:pathLst>
          </a:custGeom>
          <a:solidFill>
            <a:srgbClr val="E0E0E0"/>
          </a:solidFill>
        </p:spPr>
      </p:sp>
      <p:sp>
        <p:nvSpPr>
          <p:cNvPr id="29" name="Text 27"/>
          <p:cNvSpPr/>
          <p:nvPr/>
        </p:nvSpPr>
        <p:spPr>
          <a:xfrm>
            <a:off x="9766300" y="2870200"/>
            <a:ext cx="4688840" cy="319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rgbClr val="92D05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AI天气预测</a:t>
            </a:r>
            <a:r>
              <a:rPr lang="zh-CN" altLang="en-US" sz="3200" b="1" dirty="0">
                <a:solidFill>
                  <a:srgbClr val="92D05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同等精度预测仅需</a:t>
            </a:r>
            <a:r>
              <a:rPr lang="zh-CN" altLang="en-US" sz="5400" b="1" dirty="0">
                <a:solidFill>
                  <a:srgbClr val="92D05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几分钟</a:t>
            </a:r>
            <a:endParaRPr lang="zh-CN" altLang="en-US" sz="5400" b="1" dirty="0">
              <a:solidFill>
                <a:srgbClr val="92D05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801100" y="376174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8FBC8F">
              <a:alpha val="4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9004300" y="396494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1A1D21"/>
          </a:solid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19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500" fill="hold"/>
                                        <p:tgtEl>
                                          <p:spTgt spid="19"/>
                                        </p:tgtEl>
                                      </p:cBhvr>
                                      <p:by x="150000" y="150000"/>
                                      <p:from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</p:cBhvr>
                                      <p:by x="150000" y="150000"/>
                                      <p:from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9" grpId="1"/>
      <p:bldP spid="29" grpId="0"/>
      <p:bldP spid="29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ff85f6081092a99a11a738ea486321aa405b718a.jpg"/>
          <p:cNvPicPr>
            <a:picLocks noChangeAspect="1"/>
          </p:cNvPicPr>
          <p:nvPr/>
        </p:nvPicPr>
        <p:blipFill>
          <a:blip r:embed="rId1">
            <a:alphaModFix amt="25000"/>
          </a:blip>
          <a:srcRect t="3125" b="3125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50000">
                <a:srgbClr val="5F8CA3">
                  <a:alpha val="15000"/>
                </a:srgbClr>
              </a:gs>
              <a:gs pos="100000">
                <a:srgbClr val="1A1D21">
                  <a:alpha val="90000"/>
                </a:srgbClr>
              </a:gs>
            </a:gsLst>
            <a:path path="shape">
              <a:fillToRect l="50000" t="50000" r="50000" b="50000"/>
            </a:path>
            <a:tileRect/>
          </a:gradFill>
        </p:spPr>
        <p:txBody>
          <a:bodyPr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08000" y="2755900"/>
            <a:ext cx="1422400" cy="1422400"/>
          </a:xfrm>
          <a:custGeom>
            <a:avLst/>
            <a:gdLst/>
            <a:ahLst/>
            <a:cxnLst/>
            <a:rect l="l" t="t" r="r" b="b"/>
            <a:pathLst>
              <a:path w="1422400" h="1422400">
                <a:moveTo>
                  <a:pt x="304806" y="0"/>
                </a:moveTo>
                <a:lnTo>
                  <a:pt x="1117594" y="0"/>
                </a:lnTo>
                <a:cubicBezTo>
                  <a:pt x="1285821" y="0"/>
                  <a:pt x="1422400" y="136579"/>
                  <a:pt x="1422400" y="304806"/>
                </a:cubicBezTo>
                <a:lnTo>
                  <a:pt x="1422400" y="1117594"/>
                </a:lnTo>
                <a:cubicBezTo>
                  <a:pt x="1422400" y="1285821"/>
                  <a:pt x="1285821" y="1422400"/>
                  <a:pt x="1117594" y="1422400"/>
                </a:cubicBezTo>
                <a:lnTo>
                  <a:pt x="304806" y="1422400"/>
                </a:lnTo>
                <a:cubicBezTo>
                  <a:pt x="136579" y="1422400"/>
                  <a:pt x="0" y="1285821"/>
                  <a:pt x="0" y="1117594"/>
                </a:cubicBezTo>
                <a:lnTo>
                  <a:pt x="0" y="304806"/>
                </a:lnTo>
                <a:cubicBezTo>
                  <a:pt x="0" y="136579"/>
                  <a:pt x="136579" y="0"/>
                  <a:pt x="304806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CA3"/>
              </a:gs>
              <a:gs pos="100000">
                <a:srgbClr val="3C6E9E"/>
              </a:gs>
            </a:gsLst>
            <a:lin ang="2700000" scaled="1"/>
          </a:gradFill>
          <a:effectLst>
            <a:outerShdw blurRad="635000" dist="317500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73919" y="3086100"/>
            <a:ext cx="10668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235200" y="2959100"/>
            <a:ext cx="76200" cy="1016000"/>
          </a:xfrm>
          <a:custGeom>
            <a:avLst/>
            <a:gdLst/>
            <a:ahLst/>
            <a:cxnLst/>
            <a:rect l="l" t="t" r="r" b="b"/>
            <a:pathLst>
              <a:path w="76200" h="1016000">
                <a:moveTo>
                  <a:pt x="0" y="0"/>
                </a:moveTo>
                <a:lnTo>
                  <a:pt x="76200" y="0"/>
                </a:lnTo>
                <a:lnTo>
                  <a:pt x="762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F8CA3"/>
              </a:gs>
              <a:gs pos="0">
                <a:srgbClr val="FFFFFF"/>
              </a:gs>
              <a:gs pos="100000">
                <a:srgbClr val="8FBC8F"/>
              </a:gs>
            </a:gsLst>
            <a:lin ang="5400000" scaled="1"/>
          </a:gradFill>
        </p:spPr>
      </p:sp>
      <p:sp>
        <p:nvSpPr>
          <p:cNvPr id="8" name="Text 5"/>
          <p:cNvSpPr/>
          <p:nvPr/>
        </p:nvSpPr>
        <p:spPr>
          <a:xfrm>
            <a:off x="2744470" y="2040890"/>
            <a:ext cx="5588000" cy="33718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传统天气预测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VS AI天气预测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311400" y="5204460"/>
            <a:ext cx="5435600" cy="2105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2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从"解方程"到"找规律"，</a:t>
            </a:r>
            <a:endParaRPr lang="en-US" sz="3200" dirty="0"/>
          </a:p>
          <a:p>
            <a:pPr>
              <a:lnSpc>
                <a:spcPct val="140000"/>
              </a:lnSpc>
            </a:pPr>
            <a:r>
              <a:rPr lang="en-US" sz="32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两种截然不同的技术哲学碰撞。</a:t>
            </a:r>
            <a:endParaRPr 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09600"/>
            <a:ext cx="609600" cy="50800"/>
          </a:xfrm>
          <a:custGeom>
            <a:avLst/>
            <a:gdLst/>
            <a:ahLst/>
            <a:cxnLst/>
            <a:rect l="l" t="t" r="r" b="b"/>
            <a:pathLst>
              <a:path w="609600" h="50800">
                <a:moveTo>
                  <a:pt x="0" y="0"/>
                </a:moveTo>
                <a:lnTo>
                  <a:pt x="609600" y="0"/>
                </a:lnTo>
                <a:lnTo>
                  <a:pt x="609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F8CA3"/>
              </a:gs>
              <a:gs pos="100000">
                <a:srgbClr val="8FBC8F"/>
              </a:gs>
            </a:gsLst>
            <a:lin ang="0" scaled="1"/>
          </a:gradFill>
        </p:spPr>
      </p:sp>
      <p:sp>
        <p:nvSpPr>
          <p:cNvPr id="3" name="Text 1"/>
          <p:cNvSpPr/>
          <p:nvPr/>
        </p:nvSpPr>
        <p:spPr>
          <a:xfrm>
            <a:off x="1320800" y="508000"/>
            <a:ext cx="2654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80" dirty="0">
                <a:solidFill>
                  <a:srgbClr val="8FBC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TRADITIONAL METHOD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914400"/>
            <a:ext cx="15544800" cy="10115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传统天气预测方法——"解方程"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616585" y="3328035"/>
            <a:ext cx="4902200" cy="3731260"/>
          </a:xfrm>
          <a:custGeom>
            <a:avLst/>
            <a:gdLst/>
            <a:ahLst/>
            <a:cxnLst/>
            <a:rect l="l" t="t" r="r" b="b"/>
            <a:pathLst>
              <a:path w="4902200" h="2197100">
                <a:moveTo>
                  <a:pt x="203210" y="0"/>
                </a:moveTo>
                <a:lnTo>
                  <a:pt x="4698990" y="0"/>
                </a:lnTo>
                <a:cubicBezTo>
                  <a:pt x="4811220" y="0"/>
                  <a:pt x="4902200" y="90980"/>
                  <a:pt x="4902200" y="203210"/>
                </a:cubicBezTo>
                <a:lnTo>
                  <a:pt x="4902200" y="1993890"/>
                </a:lnTo>
                <a:cubicBezTo>
                  <a:pt x="4902200" y="2106120"/>
                  <a:pt x="4811220" y="2197100"/>
                  <a:pt x="4698990" y="2197100"/>
                </a:cubicBezTo>
                <a:lnTo>
                  <a:pt x="203210" y="2197100"/>
                </a:lnTo>
                <a:cubicBezTo>
                  <a:pt x="90980" y="2197100"/>
                  <a:pt x="0" y="2106120"/>
                  <a:pt x="0" y="1993890"/>
                </a:cubicBezTo>
                <a:lnTo>
                  <a:pt x="0" y="203210"/>
                </a:lnTo>
                <a:cubicBezTo>
                  <a:pt x="0" y="91055"/>
                  <a:pt x="91055" y="0"/>
                  <a:pt x="203210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C6E9E">
                <a:alpha val="4000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679440" y="3294380"/>
            <a:ext cx="4902200" cy="3685540"/>
          </a:xfrm>
          <a:custGeom>
            <a:avLst/>
            <a:gdLst/>
            <a:ahLst/>
            <a:cxnLst/>
            <a:rect l="l" t="t" r="r" b="b"/>
            <a:pathLst>
              <a:path w="4902200" h="2197100">
                <a:moveTo>
                  <a:pt x="203210" y="0"/>
                </a:moveTo>
                <a:lnTo>
                  <a:pt x="4698990" y="0"/>
                </a:lnTo>
                <a:cubicBezTo>
                  <a:pt x="4811220" y="0"/>
                  <a:pt x="4902200" y="90980"/>
                  <a:pt x="4902200" y="203210"/>
                </a:cubicBezTo>
                <a:lnTo>
                  <a:pt x="4902200" y="1993890"/>
                </a:lnTo>
                <a:cubicBezTo>
                  <a:pt x="4902200" y="2106120"/>
                  <a:pt x="4811220" y="2197100"/>
                  <a:pt x="4698990" y="2197100"/>
                </a:cubicBezTo>
                <a:lnTo>
                  <a:pt x="203210" y="2197100"/>
                </a:lnTo>
                <a:cubicBezTo>
                  <a:pt x="90980" y="2197100"/>
                  <a:pt x="0" y="2106120"/>
                  <a:pt x="0" y="1993890"/>
                </a:cubicBezTo>
                <a:lnTo>
                  <a:pt x="0" y="203210"/>
                </a:lnTo>
                <a:cubicBezTo>
                  <a:pt x="0" y="91055"/>
                  <a:pt x="91055" y="0"/>
                  <a:pt x="20321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CA3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5F8CA3">
                <a:alpha val="40000"/>
              </a:srgbClr>
            </a:solidFill>
            <a:prstDash val="solid"/>
          </a:ln>
        </p:spPr>
      </p:sp>
      <p:grpSp>
        <p:nvGrpSpPr>
          <p:cNvPr id="38" name="组合 37"/>
          <p:cNvGrpSpPr/>
          <p:nvPr/>
        </p:nvGrpSpPr>
        <p:grpSpPr>
          <a:xfrm>
            <a:off x="810895" y="3585845"/>
            <a:ext cx="4395470" cy="2988945"/>
            <a:chOff x="1277" y="5647"/>
            <a:chExt cx="6922" cy="4707"/>
          </a:xfrm>
        </p:grpSpPr>
        <p:sp>
          <p:nvSpPr>
            <p:cNvPr id="8" name="Text 6"/>
            <p:cNvSpPr/>
            <p:nvPr/>
          </p:nvSpPr>
          <p:spPr>
            <a:xfrm>
              <a:off x="2775" y="5648"/>
              <a:ext cx="3576" cy="10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3200" b="1" dirty="0">
                  <a:solidFill>
                    <a:srgbClr val="E0E0E0"/>
                  </a:solidFill>
                  <a:latin typeface="得意黑" pitchFamily="34" charset="-122"/>
                  <a:ea typeface="得意黑" pitchFamily="34" charset="-122"/>
                  <a:cs typeface="得意黑" pitchFamily="34" charset="-120"/>
                  <a:sym typeface="+mn-ea"/>
                </a:rPr>
                <a:t>数据采集</a:t>
              </a:r>
              <a:endParaRPr lang="en-US" sz="32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  <a:sym typeface="+mn-ea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277" y="7344"/>
              <a:ext cx="6923" cy="301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2400" dirty="0">
                  <a:solidFill>
                    <a:srgbClr val="E0E0E0">
                      <a:alpha val="85000"/>
                    </a:srgbClr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  <a:sym typeface="+mn-ea"/>
                </a:rPr>
                <a:t>通过百叶箱、雨量计、风向风标等方式收集。按场景分为地面、高空及卫星三类。</a:t>
              </a:r>
              <a:endParaRPr lang="en-US" sz="2400" dirty="0"/>
            </a:p>
            <a:p>
              <a:pPr>
                <a:lnSpc>
                  <a:spcPct val="140000"/>
                </a:lnSpc>
              </a:pPr>
              <a:endParaRPr lang="en-US" sz="24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1277" y="5647"/>
              <a:ext cx="1120" cy="1120"/>
            </a:xfrm>
            <a:custGeom>
              <a:avLst/>
              <a:gdLst/>
              <a:ahLst/>
              <a:cxnLst/>
              <a:rect l="l" t="t" r="r" b="b"/>
              <a:pathLst>
                <a:path w="711200" h="711200">
                  <a:moveTo>
                    <a:pt x="152403" y="0"/>
                  </a:moveTo>
                  <a:lnTo>
                    <a:pt x="558797" y="0"/>
                  </a:lnTo>
                  <a:cubicBezTo>
                    <a:pt x="642910" y="0"/>
                    <a:pt x="711200" y="68290"/>
                    <a:pt x="711200" y="152403"/>
                  </a:cubicBezTo>
                  <a:lnTo>
                    <a:pt x="711200" y="558797"/>
                  </a:lnTo>
                  <a:cubicBezTo>
                    <a:pt x="711200" y="642910"/>
                    <a:pt x="642910" y="711200"/>
                    <a:pt x="558797" y="711200"/>
                  </a:cubicBezTo>
                  <a:lnTo>
                    <a:pt x="152403" y="711200"/>
                  </a:lnTo>
                  <a:cubicBezTo>
                    <a:pt x="68290" y="711200"/>
                    <a:pt x="0" y="642910"/>
                    <a:pt x="0" y="558797"/>
                  </a:cubicBezTo>
                  <a:lnTo>
                    <a:pt x="0" y="152403"/>
                  </a:lnTo>
                  <a:cubicBezTo>
                    <a:pt x="0" y="68290"/>
                    <a:pt x="68290" y="0"/>
                    <a:pt x="152403" y="0"/>
                  </a:cubicBezTo>
                  <a:close/>
                </a:path>
              </a:pathLst>
            </a:custGeom>
            <a:solidFill>
              <a:srgbClr val="5F8CA3">
                <a:alpha val="40000"/>
              </a:srgbClr>
            </a:solidFill>
          </p:spPr>
        </p:sp>
        <p:sp>
          <p:nvSpPr>
            <p:cNvPr id="13" name="Shape 11"/>
            <p:cNvSpPr/>
            <p:nvPr/>
          </p:nvSpPr>
          <p:spPr>
            <a:xfrm>
              <a:off x="1600" y="5979"/>
              <a:ext cx="480" cy="48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38113" y="0"/>
                  </a:moveTo>
                  <a:cubicBezTo>
                    <a:pt x="230148" y="0"/>
                    <a:pt x="304800" y="74652"/>
                    <a:pt x="304800" y="166688"/>
                  </a:cubicBezTo>
                  <a:cubicBezTo>
                    <a:pt x="304800" y="174605"/>
                    <a:pt x="298430" y="180975"/>
                    <a:pt x="290513" y="180975"/>
                  </a:cubicBezTo>
                  <a:cubicBezTo>
                    <a:pt x="282595" y="180975"/>
                    <a:pt x="276225" y="174605"/>
                    <a:pt x="276225" y="166688"/>
                  </a:cubicBezTo>
                  <a:cubicBezTo>
                    <a:pt x="276225" y="90428"/>
                    <a:pt x="214372" y="28575"/>
                    <a:pt x="138113" y="28575"/>
                  </a:cubicBezTo>
                  <a:cubicBezTo>
                    <a:pt x="130195" y="28575"/>
                    <a:pt x="123825" y="22205"/>
                    <a:pt x="123825" y="14288"/>
                  </a:cubicBezTo>
                  <a:cubicBezTo>
                    <a:pt x="123825" y="6370"/>
                    <a:pt x="130195" y="0"/>
                    <a:pt x="138113" y="0"/>
                  </a:cubicBezTo>
                  <a:close/>
                  <a:moveTo>
                    <a:pt x="123825" y="71438"/>
                  </a:moveTo>
                  <a:cubicBezTo>
                    <a:pt x="123825" y="63520"/>
                    <a:pt x="130195" y="57150"/>
                    <a:pt x="138113" y="57150"/>
                  </a:cubicBezTo>
                  <a:cubicBezTo>
                    <a:pt x="198596" y="57150"/>
                    <a:pt x="247650" y="106204"/>
                    <a:pt x="247650" y="166688"/>
                  </a:cubicBezTo>
                  <a:cubicBezTo>
                    <a:pt x="247650" y="174605"/>
                    <a:pt x="241280" y="180975"/>
                    <a:pt x="233363" y="180975"/>
                  </a:cubicBezTo>
                  <a:cubicBezTo>
                    <a:pt x="225445" y="180975"/>
                    <a:pt x="219075" y="174605"/>
                    <a:pt x="219075" y="166688"/>
                  </a:cubicBezTo>
                  <a:cubicBezTo>
                    <a:pt x="219075" y="121980"/>
                    <a:pt x="182820" y="85725"/>
                    <a:pt x="138113" y="85725"/>
                  </a:cubicBezTo>
                  <a:cubicBezTo>
                    <a:pt x="130195" y="85725"/>
                    <a:pt x="123825" y="79355"/>
                    <a:pt x="123825" y="71438"/>
                  </a:cubicBezTo>
                  <a:close/>
                  <a:moveTo>
                    <a:pt x="15716" y="84951"/>
                  </a:moveTo>
                  <a:cubicBezTo>
                    <a:pt x="20955" y="74295"/>
                    <a:pt x="35004" y="73104"/>
                    <a:pt x="43398" y="81498"/>
                  </a:cubicBezTo>
                  <a:lnTo>
                    <a:pt x="119896" y="157996"/>
                  </a:lnTo>
                  <a:lnTo>
                    <a:pt x="138946" y="138946"/>
                  </a:lnTo>
                  <a:cubicBezTo>
                    <a:pt x="146387" y="131505"/>
                    <a:pt x="158472" y="131505"/>
                    <a:pt x="165914" y="138946"/>
                  </a:cubicBezTo>
                  <a:cubicBezTo>
                    <a:pt x="173355" y="146387"/>
                    <a:pt x="173355" y="158472"/>
                    <a:pt x="165914" y="165914"/>
                  </a:cubicBezTo>
                  <a:lnTo>
                    <a:pt x="146864" y="184964"/>
                  </a:lnTo>
                  <a:lnTo>
                    <a:pt x="223361" y="261461"/>
                  </a:lnTo>
                  <a:cubicBezTo>
                    <a:pt x="231755" y="269855"/>
                    <a:pt x="230505" y="283845"/>
                    <a:pt x="219908" y="289143"/>
                  </a:cubicBezTo>
                  <a:cubicBezTo>
                    <a:pt x="199549" y="299204"/>
                    <a:pt x="176689" y="304860"/>
                    <a:pt x="152460" y="304860"/>
                  </a:cubicBezTo>
                  <a:cubicBezTo>
                    <a:pt x="68282" y="304860"/>
                    <a:pt x="60" y="236637"/>
                    <a:pt x="60" y="152460"/>
                  </a:cubicBezTo>
                  <a:cubicBezTo>
                    <a:pt x="60" y="128230"/>
                    <a:pt x="5715" y="105311"/>
                    <a:pt x="15776" y="85011"/>
                  </a:cubicBez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id="41" name="组合 40"/>
          <p:cNvGrpSpPr/>
          <p:nvPr/>
        </p:nvGrpSpPr>
        <p:grpSpPr>
          <a:xfrm>
            <a:off x="5990590" y="3423920"/>
            <a:ext cx="4381500" cy="2899410"/>
            <a:chOff x="9434" y="5392"/>
            <a:chExt cx="6900" cy="4566"/>
          </a:xfrm>
        </p:grpSpPr>
        <p:sp>
          <p:nvSpPr>
            <p:cNvPr id="6" name="Shape 4"/>
            <p:cNvSpPr/>
            <p:nvPr/>
          </p:nvSpPr>
          <p:spPr>
            <a:xfrm>
              <a:off x="9943" y="5392"/>
              <a:ext cx="1120" cy="1120"/>
            </a:xfrm>
            <a:custGeom>
              <a:avLst/>
              <a:gdLst/>
              <a:ahLst/>
              <a:cxnLst/>
              <a:rect l="l" t="t" r="r" b="b"/>
              <a:pathLst>
                <a:path w="711200" h="711200">
                  <a:moveTo>
                    <a:pt x="152403" y="0"/>
                  </a:moveTo>
                  <a:lnTo>
                    <a:pt x="558797" y="0"/>
                  </a:lnTo>
                  <a:cubicBezTo>
                    <a:pt x="642910" y="0"/>
                    <a:pt x="711200" y="68290"/>
                    <a:pt x="711200" y="152403"/>
                  </a:cubicBezTo>
                  <a:lnTo>
                    <a:pt x="711200" y="558797"/>
                  </a:lnTo>
                  <a:cubicBezTo>
                    <a:pt x="711200" y="642910"/>
                    <a:pt x="642910" y="711200"/>
                    <a:pt x="558797" y="711200"/>
                  </a:cubicBezTo>
                  <a:lnTo>
                    <a:pt x="152403" y="711200"/>
                  </a:lnTo>
                  <a:cubicBezTo>
                    <a:pt x="68290" y="711200"/>
                    <a:pt x="0" y="642910"/>
                    <a:pt x="0" y="558797"/>
                  </a:cubicBezTo>
                  <a:lnTo>
                    <a:pt x="0" y="152403"/>
                  </a:lnTo>
                  <a:cubicBezTo>
                    <a:pt x="0" y="68290"/>
                    <a:pt x="68290" y="0"/>
                    <a:pt x="152403" y="0"/>
                  </a:cubicBezTo>
                  <a:close/>
                </a:path>
              </a:pathLst>
            </a:custGeom>
            <a:solidFill>
              <a:srgbClr val="3C6E9E">
                <a:alpha val="40000"/>
              </a:srgbClr>
            </a:solidFill>
          </p:spPr>
        </p:sp>
        <p:sp>
          <p:nvSpPr>
            <p:cNvPr id="7" name="Shape 5"/>
            <p:cNvSpPr/>
            <p:nvPr/>
          </p:nvSpPr>
          <p:spPr>
            <a:xfrm>
              <a:off x="10203" y="5730"/>
              <a:ext cx="600" cy="48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342900" y="28575"/>
                  </a:moveTo>
                  <a:cubicBezTo>
                    <a:pt x="342900" y="21967"/>
                    <a:pt x="339507" y="15835"/>
                    <a:pt x="333851" y="12383"/>
                  </a:cubicBezTo>
                  <a:cubicBezTo>
                    <a:pt x="328196" y="8930"/>
                    <a:pt x="321231" y="8573"/>
                    <a:pt x="315337" y="11549"/>
                  </a:cubicBezTo>
                  <a:lnTo>
                    <a:pt x="246162" y="46137"/>
                  </a:lnTo>
                  <a:lnTo>
                    <a:pt x="139363" y="10478"/>
                  </a:lnTo>
                  <a:cubicBezTo>
                    <a:pt x="134541" y="8870"/>
                    <a:pt x="129361" y="9227"/>
                    <a:pt x="124837" y="11490"/>
                  </a:cubicBezTo>
                  <a:lnTo>
                    <a:pt x="48637" y="49590"/>
                  </a:lnTo>
                  <a:cubicBezTo>
                    <a:pt x="42148" y="52864"/>
                    <a:pt x="38100" y="59472"/>
                    <a:pt x="38100" y="66675"/>
                  </a:cubicBezTo>
                  <a:lnTo>
                    <a:pt x="38100" y="276225"/>
                  </a:lnTo>
                  <a:cubicBezTo>
                    <a:pt x="38100" y="282833"/>
                    <a:pt x="41493" y="288965"/>
                    <a:pt x="47149" y="292418"/>
                  </a:cubicBezTo>
                  <a:cubicBezTo>
                    <a:pt x="52804" y="295870"/>
                    <a:pt x="59769" y="296227"/>
                    <a:pt x="65663" y="293251"/>
                  </a:cubicBezTo>
                  <a:lnTo>
                    <a:pt x="134779" y="258663"/>
                  </a:lnTo>
                  <a:lnTo>
                    <a:pt x="237946" y="293072"/>
                  </a:lnTo>
                  <a:cubicBezTo>
                    <a:pt x="235387" y="289262"/>
                    <a:pt x="232886" y="285274"/>
                    <a:pt x="230445" y="281226"/>
                  </a:cubicBezTo>
                  <a:cubicBezTo>
                    <a:pt x="223897" y="270331"/>
                    <a:pt x="217408" y="257830"/>
                    <a:pt x="212586" y="244435"/>
                  </a:cubicBezTo>
                  <a:lnTo>
                    <a:pt x="152340" y="224373"/>
                  </a:lnTo>
                  <a:lnTo>
                    <a:pt x="152340" y="55007"/>
                  </a:lnTo>
                  <a:lnTo>
                    <a:pt x="228540" y="80427"/>
                  </a:lnTo>
                  <a:lnTo>
                    <a:pt x="228540" y="139541"/>
                  </a:lnTo>
                  <a:cubicBezTo>
                    <a:pt x="246995" y="118229"/>
                    <a:pt x="274380" y="104775"/>
                    <a:pt x="304740" y="104775"/>
                  </a:cubicBezTo>
                  <a:cubicBezTo>
                    <a:pt x="318195" y="104775"/>
                    <a:pt x="331053" y="107394"/>
                    <a:pt x="342840" y="112216"/>
                  </a:cubicBezTo>
                  <a:lnTo>
                    <a:pt x="342900" y="28575"/>
                  </a:lnTo>
                  <a:close/>
                  <a:moveTo>
                    <a:pt x="304800" y="133350"/>
                  </a:moveTo>
                  <a:cubicBezTo>
                    <a:pt x="265331" y="133350"/>
                    <a:pt x="233363" y="164783"/>
                    <a:pt x="233363" y="203537"/>
                  </a:cubicBezTo>
                  <a:cubicBezTo>
                    <a:pt x="233363" y="244554"/>
                    <a:pt x="271522" y="293072"/>
                    <a:pt x="292060" y="316230"/>
                  </a:cubicBezTo>
                  <a:cubicBezTo>
                    <a:pt x="298966" y="323969"/>
                    <a:pt x="310694" y="323969"/>
                    <a:pt x="317599" y="316230"/>
                  </a:cubicBezTo>
                  <a:cubicBezTo>
                    <a:pt x="338138" y="293072"/>
                    <a:pt x="376297" y="244554"/>
                    <a:pt x="376297" y="203537"/>
                  </a:cubicBezTo>
                  <a:cubicBezTo>
                    <a:pt x="376297" y="164783"/>
                    <a:pt x="344329" y="133350"/>
                    <a:pt x="304860" y="133350"/>
                  </a:cubicBezTo>
                  <a:close/>
                  <a:moveTo>
                    <a:pt x="280987" y="204787"/>
                  </a:moveTo>
                  <a:cubicBezTo>
                    <a:pt x="280987" y="191645"/>
                    <a:pt x="291658" y="180975"/>
                    <a:pt x="304800" y="180975"/>
                  </a:cubicBezTo>
                  <a:cubicBezTo>
                    <a:pt x="317942" y="180975"/>
                    <a:pt x="328613" y="191645"/>
                    <a:pt x="328613" y="204787"/>
                  </a:cubicBezTo>
                  <a:cubicBezTo>
                    <a:pt x="328613" y="217930"/>
                    <a:pt x="317942" y="228600"/>
                    <a:pt x="304800" y="228600"/>
                  </a:cubicBezTo>
                  <a:cubicBezTo>
                    <a:pt x="291658" y="228600"/>
                    <a:pt x="280987" y="217930"/>
                    <a:pt x="280987" y="204787"/>
                  </a:cubicBez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10793" y="5674"/>
              <a:ext cx="4188" cy="83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3200" b="1" dirty="0">
                  <a:solidFill>
                    <a:srgbClr val="E0E0E0"/>
                  </a:solidFill>
                  <a:latin typeface="得意黑" pitchFamily="34" charset="-122"/>
                  <a:ea typeface="得意黑" pitchFamily="34" charset="-122"/>
                  <a:cs typeface="得意黑" pitchFamily="34" charset="-120"/>
                  <a:sym typeface="+mn-ea"/>
                </a:rPr>
                <a:t>天气图分析</a:t>
              </a:r>
              <a:endParaRPr lang="en-US" sz="32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  <a:sym typeface="+mn-ea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9434" y="7688"/>
              <a:ext cx="6900" cy="2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2400" dirty="0">
                  <a:solidFill>
                    <a:srgbClr val="E0E0E0">
                      <a:alpha val="85000"/>
                    </a:srgbClr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  <a:sym typeface="+mn-ea"/>
                </a:rPr>
                <a:t>依据天气动力学原理，对气象观测数据进行操作与推断的技术过程，为天气预报提供物理依据。</a:t>
              </a:r>
              <a:endParaRPr lang="zh-CN" altLang="en-US" sz="2400"/>
            </a:p>
            <a:p>
              <a:pPr>
                <a:lnSpc>
                  <a:spcPct val="140000"/>
                </a:lnSpc>
              </a:pPr>
              <a:endParaRPr lang="en-US" sz="2400" dirty="0"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0843895" y="3294380"/>
            <a:ext cx="4902200" cy="3718560"/>
            <a:chOff x="17077" y="5188"/>
            <a:chExt cx="7720" cy="5856"/>
          </a:xfrm>
        </p:grpSpPr>
        <p:sp>
          <p:nvSpPr>
            <p:cNvPr id="17" name="Shape 15"/>
            <p:cNvSpPr/>
            <p:nvPr/>
          </p:nvSpPr>
          <p:spPr>
            <a:xfrm>
              <a:off x="17077" y="5188"/>
              <a:ext cx="7720" cy="5856"/>
            </a:xfrm>
            <a:custGeom>
              <a:avLst/>
              <a:gdLst/>
              <a:ahLst/>
              <a:cxnLst/>
              <a:rect l="l" t="t" r="r" b="b"/>
              <a:pathLst>
                <a:path w="4902200" h="2197100">
                  <a:moveTo>
                    <a:pt x="203210" y="0"/>
                  </a:moveTo>
                  <a:lnTo>
                    <a:pt x="4698990" y="0"/>
                  </a:lnTo>
                  <a:cubicBezTo>
                    <a:pt x="4811220" y="0"/>
                    <a:pt x="4902200" y="90980"/>
                    <a:pt x="4902200" y="203210"/>
                  </a:cubicBezTo>
                  <a:lnTo>
                    <a:pt x="4902200" y="1993890"/>
                  </a:lnTo>
                  <a:cubicBezTo>
                    <a:pt x="4902200" y="2106120"/>
                    <a:pt x="4811220" y="2197100"/>
                    <a:pt x="4698990" y="2197100"/>
                  </a:cubicBezTo>
                  <a:lnTo>
                    <a:pt x="203210" y="2197100"/>
                  </a:lnTo>
                  <a:cubicBezTo>
                    <a:pt x="90980" y="2197100"/>
                    <a:pt x="0" y="2106120"/>
                    <a:pt x="0" y="1993890"/>
                  </a:cubicBezTo>
                  <a:lnTo>
                    <a:pt x="0" y="203210"/>
                  </a:lnTo>
                  <a:cubicBezTo>
                    <a:pt x="0" y="91055"/>
                    <a:pt x="91055" y="0"/>
                    <a:pt x="20321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8FBC8F">
                    <a:alpha val="2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2700000" scaled="1"/>
            </a:gradFill>
            <a:ln w="12700">
              <a:solidFill>
                <a:srgbClr val="8FBC8F">
                  <a:alpha val="40000"/>
                </a:srgbClr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17567" y="5640"/>
              <a:ext cx="1120" cy="1120"/>
            </a:xfrm>
            <a:custGeom>
              <a:avLst/>
              <a:gdLst/>
              <a:ahLst/>
              <a:cxnLst/>
              <a:rect l="l" t="t" r="r" b="b"/>
              <a:pathLst>
                <a:path w="711200" h="711200">
                  <a:moveTo>
                    <a:pt x="152403" y="0"/>
                  </a:moveTo>
                  <a:lnTo>
                    <a:pt x="558797" y="0"/>
                  </a:lnTo>
                  <a:cubicBezTo>
                    <a:pt x="642910" y="0"/>
                    <a:pt x="711200" y="68290"/>
                    <a:pt x="711200" y="152403"/>
                  </a:cubicBezTo>
                  <a:lnTo>
                    <a:pt x="711200" y="558797"/>
                  </a:lnTo>
                  <a:cubicBezTo>
                    <a:pt x="711200" y="642910"/>
                    <a:pt x="642910" y="711200"/>
                    <a:pt x="558797" y="711200"/>
                  </a:cubicBezTo>
                  <a:lnTo>
                    <a:pt x="152403" y="711200"/>
                  </a:lnTo>
                  <a:cubicBezTo>
                    <a:pt x="68290" y="711200"/>
                    <a:pt x="0" y="642910"/>
                    <a:pt x="0" y="558797"/>
                  </a:cubicBezTo>
                  <a:lnTo>
                    <a:pt x="0" y="152403"/>
                  </a:lnTo>
                  <a:cubicBezTo>
                    <a:pt x="0" y="68290"/>
                    <a:pt x="68290" y="0"/>
                    <a:pt x="152403" y="0"/>
                  </a:cubicBezTo>
                  <a:close/>
                </a:path>
              </a:pathLst>
            </a:custGeom>
            <a:solidFill>
              <a:srgbClr val="8FBC8F">
                <a:alpha val="40000"/>
              </a:srgbClr>
            </a:solidFill>
          </p:spPr>
        </p:sp>
        <p:sp>
          <p:nvSpPr>
            <p:cNvPr id="19" name="Shape 17"/>
            <p:cNvSpPr/>
            <p:nvPr/>
          </p:nvSpPr>
          <p:spPr>
            <a:xfrm>
              <a:off x="17941" y="5979"/>
              <a:ext cx="420" cy="48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38100" y="19050"/>
                  </a:moveTo>
                  <a:cubicBezTo>
                    <a:pt x="17085" y="19050"/>
                    <a:pt x="0" y="36135"/>
                    <a:pt x="0" y="57150"/>
                  </a:cubicBezTo>
                  <a:lnTo>
                    <a:pt x="0" y="95250"/>
                  </a:lnTo>
                  <a:cubicBezTo>
                    <a:pt x="0" y="116265"/>
                    <a:pt x="17085" y="133350"/>
                    <a:pt x="38100" y="133350"/>
                  </a:cubicBezTo>
                  <a:lnTo>
                    <a:pt x="228600" y="133350"/>
                  </a:lnTo>
                  <a:cubicBezTo>
                    <a:pt x="249615" y="133350"/>
                    <a:pt x="266700" y="116265"/>
                    <a:pt x="266700" y="95250"/>
                  </a:cubicBezTo>
                  <a:lnTo>
                    <a:pt x="266700" y="57150"/>
                  </a:lnTo>
                  <a:cubicBezTo>
                    <a:pt x="266700" y="36135"/>
                    <a:pt x="249615" y="19050"/>
                    <a:pt x="228600" y="19050"/>
                  </a:cubicBezTo>
                  <a:lnTo>
                    <a:pt x="38100" y="19050"/>
                  </a:lnTo>
                  <a:close/>
                  <a:moveTo>
                    <a:pt x="166688" y="61912"/>
                  </a:moveTo>
                  <a:cubicBezTo>
                    <a:pt x="174573" y="61912"/>
                    <a:pt x="180975" y="68315"/>
                    <a:pt x="180975" y="76200"/>
                  </a:cubicBezTo>
                  <a:cubicBezTo>
                    <a:pt x="180975" y="84085"/>
                    <a:pt x="174573" y="90488"/>
                    <a:pt x="166688" y="90488"/>
                  </a:cubicBezTo>
                  <a:cubicBezTo>
                    <a:pt x="158802" y="90488"/>
                    <a:pt x="152400" y="84085"/>
                    <a:pt x="152400" y="76200"/>
                  </a:cubicBezTo>
                  <a:cubicBezTo>
                    <a:pt x="152400" y="68315"/>
                    <a:pt x="158802" y="61912"/>
                    <a:pt x="166688" y="61912"/>
                  </a:cubicBezTo>
                  <a:close/>
                  <a:moveTo>
                    <a:pt x="200025" y="76200"/>
                  </a:moveTo>
                  <a:cubicBezTo>
                    <a:pt x="200025" y="68315"/>
                    <a:pt x="206427" y="61912"/>
                    <a:pt x="214313" y="61912"/>
                  </a:cubicBezTo>
                  <a:cubicBezTo>
                    <a:pt x="222198" y="61912"/>
                    <a:pt x="228600" y="68315"/>
                    <a:pt x="228600" y="76200"/>
                  </a:cubicBezTo>
                  <a:cubicBezTo>
                    <a:pt x="228600" y="84085"/>
                    <a:pt x="222198" y="90488"/>
                    <a:pt x="214313" y="90488"/>
                  </a:cubicBezTo>
                  <a:cubicBezTo>
                    <a:pt x="206427" y="90488"/>
                    <a:pt x="200025" y="84085"/>
                    <a:pt x="200025" y="76200"/>
                  </a:cubicBezTo>
                  <a:close/>
                  <a:moveTo>
                    <a:pt x="38100" y="171450"/>
                  </a:moveTo>
                  <a:cubicBezTo>
                    <a:pt x="17085" y="171450"/>
                    <a:pt x="0" y="188535"/>
                    <a:pt x="0" y="209550"/>
                  </a:cubicBezTo>
                  <a:lnTo>
                    <a:pt x="0" y="247650"/>
                  </a:lnTo>
                  <a:cubicBezTo>
                    <a:pt x="0" y="268665"/>
                    <a:pt x="17085" y="285750"/>
                    <a:pt x="38100" y="285750"/>
                  </a:cubicBezTo>
                  <a:lnTo>
                    <a:pt x="228600" y="285750"/>
                  </a:lnTo>
                  <a:cubicBezTo>
                    <a:pt x="249615" y="285750"/>
                    <a:pt x="266700" y="268665"/>
                    <a:pt x="266700" y="247650"/>
                  </a:cubicBezTo>
                  <a:lnTo>
                    <a:pt x="266700" y="209550"/>
                  </a:lnTo>
                  <a:cubicBezTo>
                    <a:pt x="266700" y="188535"/>
                    <a:pt x="249615" y="171450"/>
                    <a:pt x="228600" y="171450"/>
                  </a:cubicBezTo>
                  <a:lnTo>
                    <a:pt x="38100" y="171450"/>
                  </a:lnTo>
                  <a:close/>
                  <a:moveTo>
                    <a:pt x="166688" y="214313"/>
                  </a:moveTo>
                  <a:cubicBezTo>
                    <a:pt x="174573" y="214313"/>
                    <a:pt x="180975" y="220715"/>
                    <a:pt x="180975" y="228600"/>
                  </a:cubicBezTo>
                  <a:cubicBezTo>
                    <a:pt x="180975" y="236485"/>
                    <a:pt x="174573" y="242888"/>
                    <a:pt x="166688" y="242888"/>
                  </a:cubicBezTo>
                  <a:cubicBezTo>
                    <a:pt x="158802" y="242888"/>
                    <a:pt x="152400" y="236485"/>
                    <a:pt x="152400" y="228600"/>
                  </a:cubicBezTo>
                  <a:cubicBezTo>
                    <a:pt x="152400" y="220715"/>
                    <a:pt x="158802" y="214313"/>
                    <a:pt x="166688" y="214313"/>
                  </a:cubicBezTo>
                  <a:close/>
                  <a:moveTo>
                    <a:pt x="200025" y="228600"/>
                  </a:moveTo>
                  <a:cubicBezTo>
                    <a:pt x="200025" y="220715"/>
                    <a:pt x="206427" y="214313"/>
                    <a:pt x="214313" y="214313"/>
                  </a:cubicBezTo>
                  <a:cubicBezTo>
                    <a:pt x="222198" y="214313"/>
                    <a:pt x="228600" y="220715"/>
                    <a:pt x="228600" y="228600"/>
                  </a:cubicBezTo>
                  <a:cubicBezTo>
                    <a:pt x="228600" y="236485"/>
                    <a:pt x="222198" y="242888"/>
                    <a:pt x="214313" y="242888"/>
                  </a:cubicBezTo>
                  <a:cubicBezTo>
                    <a:pt x="206427" y="242888"/>
                    <a:pt x="200025" y="236485"/>
                    <a:pt x="200025" y="228600"/>
                  </a:cubicBezTo>
                  <a:close/>
                </a:path>
              </a:pathLst>
            </a:custGeom>
            <a:solidFill>
              <a:srgbClr val="1A1D21"/>
            </a:solidFill>
          </p:spPr>
        </p:sp>
        <p:sp>
          <p:nvSpPr>
            <p:cNvPr id="20" name="Text 18"/>
            <p:cNvSpPr/>
            <p:nvPr/>
          </p:nvSpPr>
          <p:spPr>
            <a:xfrm>
              <a:off x="18927" y="5668"/>
              <a:ext cx="3224" cy="113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3200" b="1" dirty="0">
                  <a:solidFill>
                    <a:srgbClr val="E0E0E0"/>
                  </a:solidFill>
                  <a:latin typeface="得意黑" pitchFamily="34" charset="-122"/>
                  <a:ea typeface="得意黑" pitchFamily="34" charset="-122"/>
                  <a:cs typeface="得意黑" pitchFamily="34" charset="-120"/>
                </a:rPr>
                <a:t>数值预报</a:t>
              </a:r>
              <a:endParaRPr lang="en-US" sz="32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17567" y="6767"/>
              <a:ext cx="6900" cy="323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2400" dirty="0">
                  <a:solidFill>
                    <a:srgbClr val="E0E0E0">
                      <a:alpha val="85000"/>
                    </a:srgbClr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基于数学模型和超级计算的气象数据可视化，为精准、定量的天气预报提供科学支撑。</a:t>
              </a:r>
              <a:endParaRPr lang="en-US" sz="24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</p:grpSp>
      <p:sp>
        <p:nvSpPr>
          <p:cNvPr id="31" name="Shape 29"/>
          <p:cNvSpPr/>
          <p:nvPr/>
        </p:nvSpPr>
        <p:spPr>
          <a:xfrm>
            <a:off x="533400" y="8420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77788" y="55563"/>
                </a:moveTo>
                <a:cubicBezTo>
                  <a:pt x="77788" y="49429"/>
                  <a:pt x="82767" y="44450"/>
                  <a:pt x="88900" y="44450"/>
                </a:cubicBezTo>
                <a:cubicBezTo>
                  <a:pt x="95033" y="44450"/>
                  <a:pt x="100013" y="49429"/>
                  <a:pt x="100013" y="55563"/>
                </a:cubicBezTo>
                <a:cubicBezTo>
                  <a:pt x="100013" y="61696"/>
                  <a:pt x="95033" y="66675"/>
                  <a:pt x="88900" y="66675"/>
                </a:cubicBezTo>
                <a:cubicBezTo>
                  <a:pt x="82767" y="66675"/>
                  <a:pt x="77788" y="61696"/>
                  <a:pt x="77788" y="55563"/>
                </a:cubicBezTo>
                <a:close/>
                <a:moveTo>
                  <a:pt x="75009" y="77788"/>
                </a:moveTo>
                <a:lnTo>
                  <a:pt x="91678" y="77788"/>
                </a:lnTo>
                <a:cubicBezTo>
                  <a:pt x="96297" y="77788"/>
                  <a:pt x="100013" y="81503"/>
                  <a:pt x="100013" y="86122"/>
                </a:cubicBezTo>
                <a:lnTo>
                  <a:pt x="100013" y="116681"/>
                </a:lnTo>
                <a:lnTo>
                  <a:pt x="102791" y="116681"/>
                </a:lnTo>
                <a:cubicBezTo>
                  <a:pt x="107409" y="116681"/>
                  <a:pt x="111125" y="120397"/>
                  <a:pt x="111125" y="125016"/>
                </a:cubicBezTo>
                <a:cubicBezTo>
                  <a:pt x="111125" y="129634"/>
                  <a:pt x="107409" y="133350"/>
                  <a:pt x="102791" y="133350"/>
                </a:cubicBezTo>
                <a:lnTo>
                  <a:pt x="75009" y="133350"/>
                </a:lnTo>
                <a:cubicBezTo>
                  <a:pt x="70391" y="133350"/>
                  <a:pt x="66675" y="129634"/>
                  <a:pt x="66675" y="125016"/>
                </a:cubicBezTo>
                <a:cubicBezTo>
                  <a:pt x="66675" y="120397"/>
                  <a:pt x="70391" y="116681"/>
                  <a:pt x="75009" y="116681"/>
                </a:cubicBezTo>
                <a:lnTo>
                  <a:pt x="83344" y="116681"/>
                </a:lnTo>
                <a:lnTo>
                  <a:pt x="83344" y="94456"/>
                </a:lnTo>
                <a:lnTo>
                  <a:pt x="75009" y="94456"/>
                </a:lnTo>
                <a:cubicBezTo>
                  <a:pt x="70391" y="94456"/>
                  <a:pt x="66675" y="90741"/>
                  <a:pt x="66675" y="86122"/>
                </a:cubicBezTo>
                <a:cubicBezTo>
                  <a:pt x="66675" y="81503"/>
                  <a:pt x="70391" y="77788"/>
                  <a:pt x="75009" y="77788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32" name="Text 30"/>
          <p:cNvSpPr/>
          <p:nvPr/>
        </p:nvSpPr>
        <p:spPr>
          <a:xfrm>
            <a:off x="831850" y="8382000"/>
            <a:ext cx="2933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5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基于数学物理方程的确定性预测方法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446000" y="83820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4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数值模拟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360400" y="8382000"/>
            <a:ext cx="266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4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3741400" y="83820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4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方程求解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655800" y="8382000"/>
            <a:ext cx="266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4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5036800" y="83820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4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超级计算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accel="5000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55559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185098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entr" presetSubtype="0" accel="5000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532986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1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50328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entr" presetSubtype="0" accel="5000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563611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2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817852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09600"/>
            <a:ext cx="609600" cy="50800"/>
          </a:xfrm>
          <a:custGeom>
            <a:avLst/>
            <a:gdLst/>
            <a:ahLst/>
            <a:cxnLst/>
            <a:rect l="l" t="t" r="r" b="b"/>
            <a:pathLst>
              <a:path w="609600" h="50800">
                <a:moveTo>
                  <a:pt x="0" y="0"/>
                </a:moveTo>
                <a:lnTo>
                  <a:pt x="609600" y="0"/>
                </a:lnTo>
                <a:lnTo>
                  <a:pt x="609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F8CA3"/>
              </a:gs>
              <a:gs pos="100000">
                <a:srgbClr val="8FBC8F"/>
              </a:gs>
            </a:gsLst>
            <a:lin ang="0" scaled="1"/>
          </a:gradFill>
        </p:spPr>
      </p:sp>
      <p:sp>
        <p:nvSpPr>
          <p:cNvPr id="3" name="Text 1"/>
          <p:cNvSpPr/>
          <p:nvPr/>
        </p:nvSpPr>
        <p:spPr>
          <a:xfrm>
            <a:off x="1320800" y="508000"/>
            <a:ext cx="158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80" dirty="0">
                <a:solidFill>
                  <a:srgbClr val="8FBC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914400"/>
            <a:ext cx="15544800" cy="7816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传统方法的局限与挑战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584200" y="1848485"/>
            <a:ext cx="7442200" cy="2485390"/>
          </a:xfrm>
          <a:custGeom>
            <a:avLst/>
            <a:gdLst/>
            <a:ahLst/>
            <a:cxnLst/>
            <a:rect l="l" t="t" r="r" b="b"/>
            <a:pathLst>
              <a:path w="7442200" h="2286000">
                <a:moveTo>
                  <a:pt x="50800" y="0"/>
                </a:moveTo>
                <a:lnTo>
                  <a:pt x="7238997" y="0"/>
                </a:lnTo>
                <a:cubicBezTo>
                  <a:pt x="7351223" y="0"/>
                  <a:pt x="7442200" y="90977"/>
                  <a:pt x="7442200" y="203203"/>
                </a:cubicBezTo>
                <a:lnTo>
                  <a:pt x="7442200" y="2082797"/>
                </a:lnTo>
                <a:cubicBezTo>
                  <a:pt x="7442200" y="2195023"/>
                  <a:pt x="7351223" y="2286000"/>
                  <a:pt x="7238997" y="2286000"/>
                </a:cubicBezTo>
                <a:lnTo>
                  <a:pt x="50800" y="2286000"/>
                </a:lnTo>
                <a:cubicBezTo>
                  <a:pt x="22763" y="2286000"/>
                  <a:pt x="0" y="2263237"/>
                  <a:pt x="0" y="223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6" name="Shape 4"/>
          <p:cNvSpPr/>
          <p:nvPr/>
        </p:nvSpPr>
        <p:spPr>
          <a:xfrm>
            <a:off x="533400" y="2065337"/>
            <a:ext cx="50800" cy="2286000"/>
          </a:xfrm>
          <a:custGeom>
            <a:avLst/>
            <a:gdLst/>
            <a:ahLst/>
            <a:cxnLst/>
            <a:rect l="l" t="t" r="r" b="b"/>
            <a:pathLst>
              <a:path w="50800" h="2286000">
                <a:moveTo>
                  <a:pt x="5080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50800" y="2286000"/>
                </a:lnTo>
                <a:cubicBezTo>
                  <a:pt x="22763" y="2286000"/>
                  <a:pt x="0" y="2263237"/>
                  <a:pt x="0" y="223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6E9E"/>
          </a:solidFill>
        </p:spPr>
      </p:sp>
      <p:sp>
        <p:nvSpPr>
          <p:cNvPr id="7" name="Shape 5"/>
          <p:cNvSpPr/>
          <p:nvPr/>
        </p:nvSpPr>
        <p:spPr>
          <a:xfrm>
            <a:off x="825500" y="2283143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C6E9E">
              <a:alpha val="30196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870585" y="2272030"/>
            <a:ext cx="734060" cy="733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79600" y="2334260"/>
            <a:ext cx="5943600" cy="532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8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混沌效应与确定性极限</a:t>
            </a:r>
            <a:endParaRPr lang="en-US" sz="2800" b="1" dirty="0">
              <a:solidFill>
                <a:srgbClr val="E0E0E0"/>
              </a:solidFill>
              <a:latin typeface="得意黑" pitchFamily="34" charset="-122"/>
              <a:ea typeface="得意黑" pitchFamily="34" charset="-122"/>
              <a:cs typeface="得意黑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79600" y="2929255"/>
            <a:ext cx="5905500" cy="1416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无论初始场多么精确，微小的误差都会随着时间数级增长。洛伦兹发现的"蝴蝶效应"揭示了确定性混沌系统的内在局限性，使得长期预报变得极为困难。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305800" y="1878965"/>
            <a:ext cx="7442200" cy="2472055"/>
          </a:xfrm>
          <a:custGeom>
            <a:avLst/>
            <a:gdLst/>
            <a:ahLst/>
            <a:cxnLst/>
            <a:rect l="l" t="t" r="r" b="b"/>
            <a:pathLst>
              <a:path w="7442200" h="2286000">
                <a:moveTo>
                  <a:pt x="50800" y="0"/>
                </a:moveTo>
                <a:lnTo>
                  <a:pt x="7238997" y="0"/>
                </a:lnTo>
                <a:cubicBezTo>
                  <a:pt x="7351223" y="0"/>
                  <a:pt x="7442200" y="90977"/>
                  <a:pt x="7442200" y="203203"/>
                </a:cubicBezTo>
                <a:lnTo>
                  <a:pt x="7442200" y="2082797"/>
                </a:lnTo>
                <a:cubicBezTo>
                  <a:pt x="7442200" y="2195023"/>
                  <a:pt x="7351223" y="2286000"/>
                  <a:pt x="7238997" y="2286000"/>
                </a:cubicBezTo>
                <a:lnTo>
                  <a:pt x="50800" y="2286000"/>
                </a:lnTo>
                <a:cubicBezTo>
                  <a:pt x="22763" y="2286000"/>
                  <a:pt x="0" y="2263237"/>
                  <a:pt x="0" y="223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CA3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12" name="Shape 10"/>
          <p:cNvSpPr/>
          <p:nvPr/>
        </p:nvSpPr>
        <p:spPr>
          <a:xfrm>
            <a:off x="8305800" y="2065337"/>
            <a:ext cx="50800" cy="2286000"/>
          </a:xfrm>
          <a:custGeom>
            <a:avLst/>
            <a:gdLst/>
            <a:ahLst/>
            <a:cxnLst/>
            <a:rect l="l" t="t" r="r" b="b"/>
            <a:pathLst>
              <a:path w="50800" h="2286000">
                <a:moveTo>
                  <a:pt x="5080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50800" y="2286000"/>
                </a:lnTo>
                <a:cubicBezTo>
                  <a:pt x="22763" y="2286000"/>
                  <a:pt x="0" y="2263237"/>
                  <a:pt x="0" y="223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8CA3"/>
          </a:solidFill>
        </p:spPr>
      </p:sp>
      <p:sp>
        <p:nvSpPr>
          <p:cNvPr id="13" name="Shape 11"/>
          <p:cNvSpPr/>
          <p:nvPr/>
        </p:nvSpPr>
        <p:spPr>
          <a:xfrm>
            <a:off x="8636000" y="2149793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F8CA3">
              <a:alpha val="30196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8877379" y="2370138"/>
            <a:ext cx="533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52000" y="2150110"/>
            <a:ext cx="5943600" cy="747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8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观测网络的不完备性</a:t>
            </a:r>
            <a:endParaRPr lang="en-US" sz="2800" b="1" dirty="0">
              <a:solidFill>
                <a:srgbClr val="E0E0E0"/>
              </a:solidFill>
              <a:latin typeface="得意黑" pitchFamily="34" charset="-122"/>
              <a:ea typeface="得意黑" pitchFamily="34" charset="-122"/>
              <a:cs typeface="得意黑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652000" y="2929255"/>
            <a:ext cx="5905500" cy="1244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气象观测站分布不均，在海洋、高原、极地等关键区域存在大量"盲点"。这种空间覆盖的不完整性导致初始场误差，直接影响预报精度。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33400" y="4719955"/>
            <a:ext cx="15214600" cy="2241550"/>
          </a:xfrm>
          <a:custGeom>
            <a:avLst/>
            <a:gdLst/>
            <a:ahLst/>
            <a:cxnLst/>
            <a:rect l="l" t="t" r="r" b="b"/>
            <a:pathLst>
              <a:path w="15214600" h="1917700">
                <a:moveTo>
                  <a:pt x="50800" y="0"/>
                </a:moveTo>
                <a:lnTo>
                  <a:pt x="15011401" y="0"/>
                </a:lnTo>
                <a:cubicBezTo>
                  <a:pt x="15123624" y="0"/>
                  <a:pt x="15214600" y="90976"/>
                  <a:pt x="15214600" y="203199"/>
                </a:cubicBezTo>
                <a:lnTo>
                  <a:pt x="15214600" y="1714501"/>
                </a:lnTo>
                <a:cubicBezTo>
                  <a:pt x="15214600" y="1826724"/>
                  <a:pt x="15123624" y="1917700"/>
                  <a:pt x="15011401" y="1917700"/>
                </a:cubicBezTo>
                <a:lnTo>
                  <a:pt x="50800" y="1917700"/>
                </a:lnTo>
                <a:cubicBezTo>
                  <a:pt x="22744" y="1917700"/>
                  <a:pt x="0" y="1894956"/>
                  <a:pt x="0" y="18669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8FBC8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18" name="Shape 16"/>
          <p:cNvSpPr/>
          <p:nvPr/>
        </p:nvSpPr>
        <p:spPr>
          <a:xfrm>
            <a:off x="533400" y="4719638"/>
            <a:ext cx="50800" cy="1917700"/>
          </a:xfrm>
          <a:custGeom>
            <a:avLst/>
            <a:gdLst/>
            <a:ahLst/>
            <a:cxnLst/>
            <a:rect l="l" t="t" r="r" b="b"/>
            <a:pathLst>
              <a:path w="50800" h="1917700">
                <a:moveTo>
                  <a:pt x="50800" y="0"/>
                </a:moveTo>
                <a:lnTo>
                  <a:pt x="50800" y="0"/>
                </a:lnTo>
                <a:lnTo>
                  <a:pt x="50800" y="1917700"/>
                </a:lnTo>
                <a:lnTo>
                  <a:pt x="50800" y="1917700"/>
                </a:lnTo>
                <a:cubicBezTo>
                  <a:pt x="22763" y="1917700"/>
                  <a:pt x="0" y="1894937"/>
                  <a:pt x="0" y="18669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19" name="Shape 17"/>
          <p:cNvSpPr/>
          <p:nvPr/>
        </p:nvSpPr>
        <p:spPr>
          <a:xfrm>
            <a:off x="863600" y="5024438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FBC8F">
              <a:alpha val="30196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1094184" y="5202238"/>
            <a:ext cx="5461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1D21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79600" y="5024755"/>
            <a:ext cx="13716000" cy="8134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8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预报员主观性的双刃剑</a:t>
            </a:r>
            <a:endParaRPr lang="en-US" sz="2800" b="1" dirty="0">
              <a:solidFill>
                <a:srgbClr val="E0E0E0"/>
              </a:solidFill>
              <a:latin typeface="得意黑" pitchFamily="34" charset="-122"/>
              <a:ea typeface="得意黑" pitchFamily="34" charset="-122"/>
              <a:cs typeface="得意黑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879600" y="5583555"/>
            <a:ext cx="13677900" cy="12179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人类预报员的经验和直觉在预报过程中扮演重要角色，但过度依赖个人经验可能导致重大失误。主观判断的不确定性成为影响预报一致性和可靠性的关键因素。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09600"/>
            <a:ext cx="609600" cy="50800"/>
          </a:xfrm>
          <a:custGeom>
            <a:avLst/>
            <a:gdLst/>
            <a:ahLst/>
            <a:cxnLst/>
            <a:rect l="l" t="t" r="r" b="b"/>
            <a:pathLst>
              <a:path w="609600" h="50800">
                <a:moveTo>
                  <a:pt x="0" y="0"/>
                </a:moveTo>
                <a:lnTo>
                  <a:pt x="609600" y="0"/>
                </a:lnTo>
                <a:lnTo>
                  <a:pt x="609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FBC8F"/>
              </a:gs>
              <a:gs pos="100000">
                <a:srgbClr val="3C6E9E"/>
              </a:gs>
            </a:gsLst>
            <a:lin ang="0" scaled="1"/>
          </a:gradFill>
        </p:spPr>
      </p:sp>
      <p:sp>
        <p:nvSpPr>
          <p:cNvPr id="3" name="Text 1"/>
          <p:cNvSpPr/>
          <p:nvPr/>
        </p:nvSpPr>
        <p:spPr>
          <a:xfrm>
            <a:off x="1320800" y="508000"/>
            <a:ext cx="158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80" dirty="0">
                <a:solidFill>
                  <a:srgbClr val="8FBC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AI PRINCIPLE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AI天气预测原理——"找规律"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514350" y="1885950"/>
            <a:ext cx="4864100" cy="2914015"/>
          </a:xfrm>
          <a:custGeom>
            <a:avLst/>
            <a:gdLst/>
            <a:ahLst/>
            <a:cxnLst/>
            <a:rect l="l" t="t" r="r" b="b"/>
            <a:pathLst>
              <a:path w="4864100" h="2527300">
                <a:moveTo>
                  <a:pt x="203195" y="0"/>
                </a:moveTo>
                <a:lnTo>
                  <a:pt x="4660905" y="0"/>
                </a:lnTo>
                <a:cubicBezTo>
                  <a:pt x="4773127" y="0"/>
                  <a:pt x="4864100" y="90973"/>
                  <a:pt x="4864100" y="203195"/>
                </a:cubicBezTo>
                <a:lnTo>
                  <a:pt x="4864100" y="2324105"/>
                </a:lnTo>
                <a:cubicBezTo>
                  <a:pt x="4864100" y="2436327"/>
                  <a:pt x="4773127" y="2527300"/>
                  <a:pt x="4660905" y="2527300"/>
                </a:cubicBezTo>
                <a:lnTo>
                  <a:pt x="203195" y="2527300"/>
                </a:lnTo>
                <a:cubicBezTo>
                  <a:pt x="90973" y="2527300"/>
                  <a:pt x="0" y="2436327"/>
                  <a:pt x="0" y="2324105"/>
                </a:cubicBezTo>
                <a:lnTo>
                  <a:pt x="0" y="203195"/>
                </a:lnTo>
                <a:cubicBezTo>
                  <a:pt x="0" y="90973"/>
                  <a:pt x="90973" y="0"/>
                  <a:pt x="203195" y="0"/>
                </a:cubicBezTo>
                <a:close/>
              </a:path>
            </a:pathLst>
          </a:custGeom>
          <a:gradFill flip="none" rotWithShape="1">
            <a:gsLst>
              <a:gs pos="0">
                <a:srgbClr val="8FBC8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8FBC8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5500" y="21971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8FBC8F">
              <a:alpha val="4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1062831" y="2349500"/>
            <a:ext cx="3937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1D21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89100" y="2247900"/>
            <a:ext cx="248539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数据采集与预处理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5500" y="3111500"/>
            <a:ext cx="4343400" cy="13995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将过去40年的全球天气数据变成一本厚厚的"天气变化连环册"。通过数据清洗、归一化和特征工程，构建高质量的训练数据集</a:t>
            </a:r>
            <a:r>
              <a:rPr lang="en-US" sz="16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95950" y="1885950"/>
            <a:ext cx="4864100" cy="2878455"/>
          </a:xfrm>
          <a:custGeom>
            <a:avLst/>
            <a:gdLst/>
            <a:ahLst/>
            <a:cxnLst/>
            <a:rect l="l" t="t" r="r" b="b"/>
            <a:pathLst>
              <a:path w="4864100" h="2527300">
                <a:moveTo>
                  <a:pt x="203195" y="0"/>
                </a:moveTo>
                <a:lnTo>
                  <a:pt x="4660905" y="0"/>
                </a:lnTo>
                <a:cubicBezTo>
                  <a:pt x="4773127" y="0"/>
                  <a:pt x="4864100" y="90973"/>
                  <a:pt x="4864100" y="203195"/>
                </a:cubicBezTo>
                <a:lnTo>
                  <a:pt x="4864100" y="2324105"/>
                </a:lnTo>
                <a:cubicBezTo>
                  <a:pt x="4864100" y="2436327"/>
                  <a:pt x="4773127" y="2527300"/>
                  <a:pt x="4660905" y="2527300"/>
                </a:cubicBezTo>
                <a:lnTo>
                  <a:pt x="203195" y="2527300"/>
                </a:lnTo>
                <a:cubicBezTo>
                  <a:pt x="90973" y="2527300"/>
                  <a:pt x="0" y="2436327"/>
                  <a:pt x="0" y="2324105"/>
                </a:cubicBezTo>
                <a:lnTo>
                  <a:pt x="0" y="203195"/>
                </a:lnTo>
                <a:cubicBezTo>
                  <a:pt x="0" y="90973"/>
                  <a:pt x="90973" y="0"/>
                  <a:pt x="203195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C6E9E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07100" y="21971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C6E9E">
              <a:alpha val="40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6224588" y="2349500"/>
            <a:ext cx="431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70700" y="2247900"/>
            <a:ext cx="280416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机器学习模型训练</a:t>
            </a:r>
            <a:endParaRPr lang="en-US" sz="2400" b="1" dirty="0">
              <a:solidFill>
                <a:srgbClr val="E0E0E0"/>
              </a:solidFill>
              <a:latin typeface="得意黑" pitchFamily="34" charset="-122"/>
              <a:ea typeface="得意黑" pitchFamily="34" charset="-122"/>
              <a:cs typeface="得意黑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07100" y="3111500"/>
            <a:ext cx="4343400" cy="13995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AI的任务不是解方程而是刷题，学习画面与画面之间变化的规律。通过深度学习网络提取时空特征，建立预测模型</a:t>
            </a:r>
            <a:r>
              <a:rPr lang="en-US" sz="16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877550" y="1885950"/>
            <a:ext cx="4864100" cy="2860675"/>
          </a:xfrm>
          <a:custGeom>
            <a:avLst/>
            <a:gdLst/>
            <a:ahLst/>
            <a:cxnLst/>
            <a:rect l="l" t="t" r="r" b="b"/>
            <a:pathLst>
              <a:path w="4864100" h="2527300">
                <a:moveTo>
                  <a:pt x="203195" y="0"/>
                </a:moveTo>
                <a:lnTo>
                  <a:pt x="4660905" y="0"/>
                </a:lnTo>
                <a:cubicBezTo>
                  <a:pt x="4773127" y="0"/>
                  <a:pt x="4864100" y="90973"/>
                  <a:pt x="4864100" y="203195"/>
                </a:cubicBezTo>
                <a:lnTo>
                  <a:pt x="4864100" y="2324105"/>
                </a:lnTo>
                <a:cubicBezTo>
                  <a:pt x="4864100" y="2436327"/>
                  <a:pt x="4773127" y="2527300"/>
                  <a:pt x="4660905" y="2527300"/>
                </a:cubicBezTo>
                <a:lnTo>
                  <a:pt x="203195" y="2527300"/>
                </a:lnTo>
                <a:cubicBezTo>
                  <a:pt x="90973" y="2527300"/>
                  <a:pt x="0" y="2436327"/>
                  <a:pt x="0" y="2324105"/>
                </a:cubicBezTo>
                <a:lnTo>
                  <a:pt x="0" y="203195"/>
                </a:lnTo>
                <a:cubicBezTo>
                  <a:pt x="0" y="90973"/>
                  <a:pt x="90973" y="0"/>
                  <a:pt x="203195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CA3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5F8CA3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188700" y="21971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5F8CA3">
              <a:alpha val="40000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11403608" y="2349500"/>
            <a:ext cx="431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52300" y="2247900"/>
            <a:ext cx="2901950" cy="560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预测结果生成与优化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188700" y="3111500"/>
            <a:ext cx="4343400" cy="146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将数据输入给已经训练好的AI模型，调动内化知识，比对画面并计算生成天气预报。通过集成学习和后处理技术进一步提升精度。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14350" y="5124450"/>
            <a:ext cx="7454900" cy="2816860"/>
          </a:xfrm>
          <a:custGeom>
            <a:avLst/>
            <a:gdLst/>
            <a:ahLst/>
            <a:cxnLst/>
            <a:rect l="l" t="t" r="r" b="b"/>
            <a:pathLst>
              <a:path w="7454900" h="2603500">
                <a:moveTo>
                  <a:pt x="203203" y="0"/>
                </a:moveTo>
                <a:lnTo>
                  <a:pt x="7251697" y="0"/>
                </a:lnTo>
                <a:cubicBezTo>
                  <a:pt x="7363923" y="0"/>
                  <a:pt x="7454900" y="90977"/>
                  <a:pt x="7454900" y="203203"/>
                </a:cubicBezTo>
                <a:lnTo>
                  <a:pt x="7454900" y="2400297"/>
                </a:lnTo>
                <a:cubicBezTo>
                  <a:pt x="7454900" y="2512523"/>
                  <a:pt x="7363923" y="2603500"/>
                  <a:pt x="7251697" y="2603500"/>
                </a:cubicBezTo>
                <a:lnTo>
                  <a:pt x="203203" y="2603500"/>
                </a:lnTo>
                <a:cubicBezTo>
                  <a:pt x="90977" y="2603500"/>
                  <a:pt x="0" y="2512523"/>
                  <a:pt x="0" y="24002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gradFill flip="none" rotWithShape="1">
            <a:gsLst>
              <a:gs pos="0">
                <a:srgbClr val="8FBC8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8FBC8F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1700" y="54927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25" name="Text 23"/>
          <p:cNvSpPr/>
          <p:nvPr/>
        </p:nvSpPr>
        <p:spPr>
          <a:xfrm>
            <a:off x="1456055" y="5339080"/>
            <a:ext cx="6354445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数据驱动方法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5500" y="6077585"/>
            <a:ext cx="6946900" cy="14820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AI天气预测不依赖于对物理过程的显式建模，而是从历史数据中学习大气运动的隐含规律。这种方法能够捕捉到难以用数学方程描述的复杂非线性关系。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55625" y="842010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101714" y="133350"/>
                </a:moveTo>
                <a:cubicBezTo>
                  <a:pt x="104249" y="125606"/>
                  <a:pt x="109319" y="118591"/>
                  <a:pt x="115049" y="112549"/>
                </a:cubicBezTo>
                <a:cubicBezTo>
                  <a:pt x="126405" y="100603"/>
                  <a:pt x="133350" y="84455"/>
                  <a:pt x="133350" y="66675"/>
                </a:cubicBezTo>
                <a:cubicBezTo>
                  <a:pt x="133350" y="29865"/>
                  <a:pt x="103485" y="0"/>
                  <a:pt x="66675" y="0"/>
                </a:cubicBezTo>
                <a:cubicBezTo>
                  <a:pt x="29865" y="0"/>
                  <a:pt x="0" y="29865"/>
                  <a:pt x="0" y="66675"/>
                </a:cubicBezTo>
                <a:cubicBezTo>
                  <a:pt x="0" y="84455"/>
                  <a:pt x="6945" y="100603"/>
                  <a:pt x="18301" y="112549"/>
                </a:cubicBezTo>
                <a:cubicBezTo>
                  <a:pt x="24031" y="118591"/>
                  <a:pt x="29136" y="125606"/>
                  <a:pt x="31636" y="133350"/>
                </a:cubicBezTo>
                <a:lnTo>
                  <a:pt x="101679" y="133350"/>
                </a:lnTo>
                <a:close/>
                <a:moveTo>
                  <a:pt x="100013" y="150019"/>
                </a:moveTo>
                <a:lnTo>
                  <a:pt x="33337" y="150019"/>
                </a:lnTo>
                <a:lnTo>
                  <a:pt x="33337" y="155575"/>
                </a:lnTo>
                <a:cubicBezTo>
                  <a:pt x="33337" y="170924"/>
                  <a:pt x="45770" y="183356"/>
                  <a:pt x="61119" y="183356"/>
                </a:cubicBezTo>
                <a:lnTo>
                  <a:pt x="72231" y="183356"/>
                </a:lnTo>
                <a:cubicBezTo>
                  <a:pt x="87580" y="183356"/>
                  <a:pt x="100013" y="170924"/>
                  <a:pt x="100013" y="155575"/>
                </a:cubicBezTo>
                <a:lnTo>
                  <a:pt x="100013" y="150019"/>
                </a:lnTo>
                <a:close/>
                <a:moveTo>
                  <a:pt x="63897" y="38894"/>
                </a:moveTo>
                <a:cubicBezTo>
                  <a:pt x="50076" y="38894"/>
                  <a:pt x="38894" y="50076"/>
                  <a:pt x="38894" y="63897"/>
                </a:cubicBezTo>
                <a:cubicBezTo>
                  <a:pt x="38894" y="68516"/>
                  <a:pt x="35178" y="72231"/>
                  <a:pt x="30559" y="72231"/>
                </a:cubicBezTo>
                <a:cubicBezTo>
                  <a:pt x="25941" y="72231"/>
                  <a:pt x="22225" y="68516"/>
                  <a:pt x="22225" y="63897"/>
                </a:cubicBezTo>
                <a:cubicBezTo>
                  <a:pt x="22225" y="40873"/>
                  <a:pt x="40873" y="22225"/>
                  <a:pt x="63897" y="22225"/>
                </a:cubicBezTo>
                <a:cubicBezTo>
                  <a:pt x="68516" y="22225"/>
                  <a:pt x="72231" y="25941"/>
                  <a:pt x="72231" y="30559"/>
                </a:cubicBezTo>
                <a:cubicBezTo>
                  <a:pt x="72231" y="35178"/>
                  <a:pt x="68516" y="38894"/>
                  <a:pt x="63897" y="38894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32" name="Text 30"/>
          <p:cNvSpPr/>
          <p:nvPr/>
        </p:nvSpPr>
        <p:spPr>
          <a:xfrm>
            <a:off x="831850" y="8382000"/>
            <a:ext cx="2578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5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基于模式识别的智能化预测范式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623800" y="83820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4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深度学习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538200" y="8382000"/>
            <a:ext cx="266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4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3919200" y="83820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4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特征提取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833600" y="8382000"/>
            <a:ext cx="266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4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5214600" y="8382000"/>
            <a:ext cx="622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4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端到端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74074/Downloads/Gemini_Generated_Image_olykweolykweolyk.pngGemini_Generated_Image_olykweolykweolyk"/>
          <p:cNvPicPr>
            <a:picLocks noChangeAspect="1"/>
          </p:cNvPicPr>
          <p:nvPr/>
        </p:nvPicPr>
        <p:blipFill>
          <a:blip r:embed="rId1">
            <a:alphaModFix amt="25000"/>
          </a:blip>
          <a:srcRect t="21875" b="21875"/>
          <a:stretch>
            <a:fillRect/>
          </a:stretch>
        </p:blipFill>
        <p:spPr>
          <a:xfrm>
            <a:off x="-332105" y="178435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508000" y="2755900"/>
            <a:ext cx="1422400" cy="1422400"/>
          </a:xfrm>
          <a:custGeom>
            <a:avLst/>
            <a:gdLst/>
            <a:ahLst/>
            <a:cxnLst/>
            <a:rect l="l" t="t" r="r" b="b"/>
            <a:pathLst>
              <a:path w="1422400" h="1422400">
                <a:moveTo>
                  <a:pt x="304806" y="0"/>
                </a:moveTo>
                <a:lnTo>
                  <a:pt x="1117594" y="0"/>
                </a:lnTo>
                <a:cubicBezTo>
                  <a:pt x="1285821" y="0"/>
                  <a:pt x="1422400" y="136579"/>
                  <a:pt x="1422400" y="304806"/>
                </a:cubicBezTo>
                <a:lnTo>
                  <a:pt x="1422400" y="1117594"/>
                </a:lnTo>
                <a:cubicBezTo>
                  <a:pt x="1422400" y="1285821"/>
                  <a:pt x="1285821" y="1422400"/>
                  <a:pt x="1117594" y="1422400"/>
                </a:cubicBezTo>
                <a:lnTo>
                  <a:pt x="304806" y="1422400"/>
                </a:lnTo>
                <a:cubicBezTo>
                  <a:pt x="136579" y="1422400"/>
                  <a:pt x="0" y="1285821"/>
                  <a:pt x="0" y="1117594"/>
                </a:cubicBezTo>
                <a:lnTo>
                  <a:pt x="0" y="304806"/>
                </a:lnTo>
                <a:cubicBezTo>
                  <a:pt x="0" y="136579"/>
                  <a:pt x="136579" y="0"/>
                  <a:pt x="304806" y="0"/>
                </a:cubicBezTo>
                <a:close/>
              </a:path>
            </a:pathLst>
          </a:custGeom>
          <a:gradFill flip="none" rotWithShape="1">
            <a:gsLst>
              <a:gs pos="0">
                <a:srgbClr val="8FBC8F"/>
              </a:gs>
              <a:gs pos="100000">
                <a:srgbClr val="5F8CA3"/>
              </a:gs>
            </a:gsLst>
            <a:lin ang="2700000" scaled="1"/>
          </a:gradFill>
          <a:effectLst>
            <a:outerShdw blurRad="635000" dist="317500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67767" y="3086100"/>
            <a:ext cx="10795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1A1D21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235200" y="2959100"/>
            <a:ext cx="76200" cy="1016000"/>
          </a:xfrm>
          <a:custGeom>
            <a:avLst/>
            <a:gdLst/>
            <a:ahLst/>
            <a:cxnLst/>
            <a:rect l="l" t="t" r="r" b="b"/>
            <a:pathLst>
              <a:path w="76200" h="1016000">
                <a:moveTo>
                  <a:pt x="0" y="0"/>
                </a:moveTo>
                <a:lnTo>
                  <a:pt x="76200" y="0"/>
                </a:lnTo>
                <a:lnTo>
                  <a:pt x="762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FBC8F"/>
              </a:gs>
              <a:gs pos="0">
                <a:srgbClr val="FFFFFF"/>
              </a:gs>
              <a:gs pos="100000">
                <a:srgbClr val="3C6E9E"/>
              </a:gs>
            </a:gsLst>
            <a:lin ang="5400000" scaled="1"/>
          </a:gradFill>
        </p:spPr>
      </p:sp>
      <p:sp>
        <p:nvSpPr>
          <p:cNvPr id="8" name="Text 5"/>
          <p:cNvSpPr/>
          <p:nvPr/>
        </p:nvSpPr>
        <p:spPr>
          <a:xfrm>
            <a:off x="2616200" y="2501900"/>
            <a:ext cx="5521325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AI天气预测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的优点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311400" y="5295900"/>
            <a:ext cx="5321300" cy="14141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“AI</a:t>
            </a:r>
            <a:r>
              <a:rPr lang="zh-CN" altLang="en-US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轻轻扇动的翅膀，会引起怎样的一场飓风</a:t>
            </a:r>
            <a:r>
              <a:rPr lang="en-US" altLang="zh-CN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”</a:t>
            </a:r>
            <a:endParaRPr lang="en-US" altLang="zh-CN"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09600"/>
            <a:ext cx="609600" cy="50800"/>
          </a:xfrm>
          <a:custGeom>
            <a:avLst/>
            <a:gdLst/>
            <a:ahLst/>
            <a:cxnLst/>
            <a:rect l="l" t="t" r="r" b="b"/>
            <a:pathLst>
              <a:path w="609600" h="50800">
                <a:moveTo>
                  <a:pt x="0" y="0"/>
                </a:moveTo>
                <a:lnTo>
                  <a:pt x="609600" y="0"/>
                </a:lnTo>
                <a:lnTo>
                  <a:pt x="609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FBC8F"/>
              </a:gs>
              <a:gs pos="100000">
                <a:srgbClr val="3C6E9E"/>
              </a:gs>
            </a:gsLst>
            <a:lin ang="0" scaled="1"/>
          </a:gradFill>
        </p:spPr>
      </p:sp>
      <p:sp>
        <p:nvSpPr>
          <p:cNvPr id="3" name="Text 1"/>
          <p:cNvSpPr/>
          <p:nvPr/>
        </p:nvSpPr>
        <p:spPr>
          <a:xfrm>
            <a:off x="1320800" y="508000"/>
            <a:ext cx="1803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80" dirty="0">
                <a:solidFill>
                  <a:srgbClr val="8FBC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ADVANTAGE 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预测精准度提升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2728595"/>
            <a:ext cx="6859905" cy="6332855"/>
          </a:xfrm>
          <a:custGeom>
            <a:avLst/>
            <a:gdLst/>
            <a:ahLst/>
            <a:cxnLst/>
            <a:rect l="l" t="t" r="r" b="b"/>
            <a:pathLst>
              <a:path w="9131300" h="7175500">
                <a:moveTo>
                  <a:pt x="304815" y="0"/>
                </a:moveTo>
                <a:lnTo>
                  <a:pt x="8826485" y="0"/>
                </a:lnTo>
                <a:cubicBezTo>
                  <a:pt x="8994830" y="0"/>
                  <a:pt x="9131300" y="136470"/>
                  <a:pt x="9131300" y="304815"/>
                </a:cubicBezTo>
                <a:lnTo>
                  <a:pt x="9131300" y="6870685"/>
                </a:lnTo>
                <a:cubicBezTo>
                  <a:pt x="9131300" y="7039030"/>
                  <a:pt x="8994830" y="7175500"/>
                  <a:pt x="8826485" y="7175500"/>
                </a:cubicBezTo>
                <a:lnTo>
                  <a:pt x="304815" y="7175500"/>
                </a:lnTo>
                <a:cubicBezTo>
                  <a:pt x="136470" y="7175500"/>
                  <a:pt x="0" y="7039030"/>
                  <a:pt x="0" y="6870685"/>
                </a:cubicBezTo>
                <a:lnTo>
                  <a:pt x="0" y="304815"/>
                </a:lnTo>
                <a:cubicBezTo>
                  <a:pt x="0" y="136583"/>
                  <a:pt x="136583" y="0"/>
                  <a:pt x="304815" y="0"/>
                </a:cubicBezTo>
                <a:close/>
              </a:path>
            </a:pathLst>
          </a:custGeom>
          <a:gradFill flip="none" rotWithShape="1">
            <a:gsLst>
              <a:gs pos="0">
                <a:srgbClr val="8FBC8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8FBC8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36900" y="3215323"/>
            <a:ext cx="1562100" cy="1397000"/>
          </a:xfrm>
          <a:custGeom>
            <a:avLst/>
            <a:gdLst/>
            <a:ahLst/>
            <a:cxnLst/>
            <a:rect l="l" t="t" r="r" b="b"/>
            <a:pathLst>
              <a:path w="1562100" h="1397000">
                <a:moveTo>
                  <a:pt x="203194" y="0"/>
                </a:moveTo>
                <a:lnTo>
                  <a:pt x="1358906" y="0"/>
                </a:lnTo>
                <a:cubicBezTo>
                  <a:pt x="1471052" y="0"/>
                  <a:pt x="1562100" y="91048"/>
                  <a:pt x="1562100" y="203194"/>
                </a:cubicBezTo>
                <a:lnTo>
                  <a:pt x="1562100" y="1193806"/>
                </a:lnTo>
                <a:cubicBezTo>
                  <a:pt x="1562100" y="1306027"/>
                  <a:pt x="1471127" y="1397000"/>
                  <a:pt x="1358906" y="1397000"/>
                </a:cubicBezTo>
                <a:lnTo>
                  <a:pt x="203194" y="1397000"/>
                </a:lnTo>
                <a:cubicBezTo>
                  <a:pt x="91048" y="1397000"/>
                  <a:pt x="0" y="1305952"/>
                  <a:pt x="0" y="1193806"/>
                </a:cubicBezTo>
                <a:lnTo>
                  <a:pt x="0" y="203194"/>
                </a:lnTo>
                <a:cubicBezTo>
                  <a:pt x="0" y="90973"/>
                  <a:pt x="90973" y="0"/>
                  <a:pt x="203194" y="0"/>
                </a:cubicBezTo>
                <a:close/>
              </a:path>
            </a:pathLst>
          </a:custGeom>
          <a:solidFill>
            <a:srgbClr val="8FBC8F">
              <a:alpha val="2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3563620" y="353282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666750" y="381000"/>
                </a:moveTo>
                <a:cubicBezTo>
                  <a:pt x="666750" y="223290"/>
                  <a:pt x="538710" y="95250"/>
                  <a:pt x="381000" y="95250"/>
                </a:cubicBezTo>
                <a:cubicBezTo>
                  <a:pt x="223290" y="95250"/>
                  <a:pt x="95250" y="223290"/>
                  <a:pt x="95250" y="381000"/>
                </a:cubicBezTo>
                <a:cubicBezTo>
                  <a:pt x="95250" y="538710"/>
                  <a:pt x="223290" y="666750"/>
                  <a:pt x="381000" y="666750"/>
                </a:cubicBezTo>
                <a:cubicBezTo>
                  <a:pt x="538710" y="666750"/>
                  <a:pt x="666750" y="538710"/>
                  <a:pt x="666750" y="381000"/>
                </a:cubicBezTo>
                <a:close/>
                <a:moveTo>
                  <a:pt x="0" y="381000"/>
                </a:moveTo>
                <a:cubicBezTo>
                  <a:pt x="0" y="170720"/>
                  <a:pt x="170720" y="0"/>
                  <a:pt x="381000" y="0"/>
                </a:cubicBezTo>
                <a:cubicBezTo>
                  <a:pt x="591280" y="0"/>
                  <a:pt x="762000" y="170720"/>
                  <a:pt x="762000" y="381000"/>
                </a:cubicBezTo>
                <a:cubicBezTo>
                  <a:pt x="762000" y="591280"/>
                  <a:pt x="591280" y="762000"/>
                  <a:pt x="381000" y="762000"/>
                </a:cubicBezTo>
                <a:cubicBezTo>
                  <a:pt x="170720" y="762000"/>
                  <a:pt x="0" y="591280"/>
                  <a:pt x="0" y="381000"/>
                </a:cubicBezTo>
                <a:close/>
                <a:moveTo>
                  <a:pt x="381000" y="500063"/>
                </a:moveTo>
                <a:cubicBezTo>
                  <a:pt x="446712" y="500063"/>
                  <a:pt x="500063" y="446712"/>
                  <a:pt x="500063" y="381000"/>
                </a:cubicBezTo>
                <a:cubicBezTo>
                  <a:pt x="500063" y="315288"/>
                  <a:pt x="446712" y="261938"/>
                  <a:pt x="381000" y="261938"/>
                </a:cubicBezTo>
                <a:cubicBezTo>
                  <a:pt x="315288" y="261938"/>
                  <a:pt x="261938" y="315288"/>
                  <a:pt x="261938" y="381000"/>
                </a:cubicBezTo>
                <a:cubicBezTo>
                  <a:pt x="261938" y="446712"/>
                  <a:pt x="315288" y="500063"/>
                  <a:pt x="381000" y="500063"/>
                </a:cubicBezTo>
                <a:close/>
                <a:moveTo>
                  <a:pt x="381000" y="166688"/>
                </a:moveTo>
                <a:cubicBezTo>
                  <a:pt x="499282" y="166688"/>
                  <a:pt x="595313" y="262718"/>
                  <a:pt x="595313" y="381000"/>
                </a:cubicBezTo>
                <a:cubicBezTo>
                  <a:pt x="595313" y="499282"/>
                  <a:pt x="499282" y="595313"/>
                  <a:pt x="381000" y="595313"/>
                </a:cubicBezTo>
                <a:cubicBezTo>
                  <a:pt x="262718" y="595313"/>
                  <a:pt x="166688" y="499282"/>
                  <a:pt x="166688" y="381000"/>
                </a:cubicBezTo>
                <a:cubicBezTo>
                  <a:pt x="166688" y="262718"/>
                  <a:pt x="262718" y="166688"/>
                  <a:pt x="381000" y="166688"/>
                </a:cubicBezTo>
                <a:close/>
                <a:moveTo>
                  <a:pt x="333375" y="381000"/>
                </a:moveTo>
                <a:cubicBezTo>
                  <a:pt x="333375" y="354715"/>
                  <a:pt x="354715" y="333375"/>
                  <a:pt x="381000" y="333375"/>
                </a:cubicBezTo>
                <a:cubicBezTo>
                  <a:pt x="407285" y="333375"/>
                  <a:pt x="428625" y="354715"/>
                  <a:pt x="428625" y="381000"/>
                </a:cubicBezTo>
                <a:cubicBezTo>
                  <a:pt x="428625" y="407285"/>
                  <a:pt x="407285" y="428625"/>
                  <a:pt x="381000" y="428625"/>
                </a:cubicBezTo>
                <a:cubicBezTo>
                  <a:pt x="354715" y="428625"/>
                  <a:pt x="333375" y="407285"/>
                  <a:pt x="333375" y="381000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8" name="Text 6"/>
          <p:cNvSpPr/>
          <p:nvPr/>
        </p:nvSpPr>
        <p:spPr>
          <a:xfrm>
            <a:off x="622300" y="4983480"/>
            <a:ext cx="652018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9600" b="1" dirty="0">
                <a:solidFill>
                  <a:srgbClr val="8FBC8F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20%+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0900" y="6304280"/>
            <a:ext cx="654939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全球7天预测误差降低幅度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24200" y="6964363"/>
            <a:ext cx="1625600" cy="76200"/>
          </a:xfrm>
          <a:custGeom>
            <a:avLst/>
            <a:gdLst/>
            <a:ahLst/>
            <a:cxnLst/>
            <a:rect l="l" t="t" r="r" b="b"/>
            <a:pathLst>
              <a:path w="1625600" h="76200">
                <a:moveTo>
                  <a:pt x="0" y="0"/>
                </a:moveTo>
                <a:lnTo>
                  <a:pt x="1625600" y="0"/>
                </a:lnTo>
                <a:lnTo>
                  <a:pt x="16256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C6E9E"/>
              </a:gs>
              <a:gs pos="50000">
                <a:srgbClr val="5F8CA3"/>
              </a:gs>
              <a:gs pos="100000">
                <a:srgbClr val="8FBC8F"/>
              </a:gs>
            </a:gsLst>
            <a:lin ang="0" scaled="1"/>
          </a:gradFill>
        </p:spPr>
      </p:sp>
      <p:sp>
        <p:nvSpPr>
          <p:cNvPr id="11" name="Text 9"/>
          <p:cNvSpPr/>
          <p:nvPr/>
        </p:nvSpPr>
        <p:spPr>
          <a:xfrm>
            <a:off x="846455" y="7294880"/>
            <a:ext cx="6527800" cy="368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相较于最先进的传统预报系统，AI模型实现了全面超越</a:t>
            </a:r>
            <a:endParaRPr lang="en-US" sz="1600" dirty="0"/>
          </a:p>
        </p:txBody>
      </p:sp>
      <p:sp>
        <p:nvSpPr>
          <p:cNvPr id="12" name="Shape 10"/>
          <p:cNvSpPr/>
          <p:nvPr>
            <p:custDataLst>
              <p:tags r:id="rId1"/>
            </p:custDataLst>
          </p:nvPr>
        </p:nvSpPr>
        <p:spPr>
          <a:xfrm>
            <a:off x="8693150" y="1885950"/>
            <a:ext cx="6838950" cy="3340100"/>
          </a:xfrm>
          <a:custGeom>
            <a:avLst/>
            <a:gdLst/>
            <a:ahLst/>
            <a:cxnLst/>
            <a:rect l="l" t="t" r="r" b="b"/>
            <a:pathLst>
              <a:path w="5778500" h="3340100">
                <a:moveTo>
                  <a:pt x="203212" y="0"/>
                </a:moveTo>
                <a:lnTo>
                  <a:pt x="5575288" y="0"/>
                </a:lnTo>
                <a:cubicBezTo>
                  <a:pt x="5687519" y="0"/>
                  <a:pt x="5778500" y="90981"/>
                  <a:pt x="5778500" y="203212"/>
                </a:cubicBezTo>
                <a:lnTo>
                  <a:pt x="5778500" y="3136888"/>
                </a:lnTo>
                <a:cubicBezTo>
                  <a:pt x="5778500" y="3249119"/>
                  <a:pt x="5687519" y="3340100"/>
                  <a:pt x="5575288" y="3340100"/>
                </a:cubicBezTo>
                <a:lnTo>
                  <a:pt x="203212" y="3340100"/>
                </a:lnTo>
                <a:cubicBezTo>
                  <a:pt x="90981" y="3340100"/>
                  <a:pt x="0" y="3249119"/>
                  <a:pt x="0" y="3136888"/>
                </a:cubicBezTo>
                <a:lnTo>
                  <a:pt x="0" y="203212"/>
                </a:lnTo>
                <a:cubicBezTo>
                  <a:pt x="0" y="91056"/>
                  <a:pt x="91056" y="0"/>
                  <a:pt x="203212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C6E9E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>
            <p:custDataLst>
              <p:tags r:id="rId2"/>
            </p:custDataLst>
          </p:nvPr>
        </p:nvSpPr>
        <p:spPr>
          <a:xfrm>
            <a:off x="9795510" y="240220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8FBC8F"/>
          </a:solidFill>
        </p:spPr>
      </p:sp>
      <p:sp>
        <p:nvSpPr>
          <p:cNvPr id="14" name="Text 12"/>
          <p:cNvSpPr/>
          <p:nvPr>
            <p:custDataLst>
              <p:tags r:id="rId3"/>
            </p:custDataLst>
          </p:nvPr>
        </p:nvSpPr>
        <p:spPr>
          <a:xfrm>
            <a:off x="10650855" y="2197100"/>
            <a:ext cx="3558540" cy="714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数据驱动优势</a:t>
            </a:r>
            <a:endParaRPr lang="en-US" sz="1600" dirty="0"/>
          </a:p>
        </p:txBody>
      </p:sp>
      <p:sp>
        <p:nvSpPr>
          <p:cNvPr id="15" name="Text 13"/>
          <p:cNvSpPr/>
          <p:nvPr>
            <p:custDataLst>
              <p:tags r:id="rId4"/>
            </p:custDataLst>
          </p:nvPr>
        </p:nvSpPr>
        <p:spPr>
          <a:xfrm>
            <a:off x="9581515" y="2919095"/>
            <a:ext cx="5950585" cy="1945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AI是数据驱动的，通过学习海量历史气象数据中的模式和规律，AI能够识别出传统方法难以捕捉的复杂非线性关系。</a:t>
            </a:r>
            <a:endParaRPr lang="en-US" sz="2000" dirty="0">
              <a:solidFill>
                <a:srgbClr val="E0E0E0">
                  <a:alpha val="85000"/>
                </a:srgb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2" name="Shape 20"/>
          <p:cNvSpPr/>
          <p:nvPr>
            <p:custDataLst>
              <p:tags r:id="rId5"/>
            </p:custDataLst>
          </p:nvPr>
        </p:nvSpPr>
        <p:spPr>
          <a:xfrm>
            <a:off x="8759825" y="5410835"/>
            <a:ext cx="6981825" cy="2975610"/>
          </a:xfrm>
          <a:custGeom>
            <a:avLst/>
            <a:gdLst/>
            <a:ahLst/>
            <a:cxnLst/>
            <a:rect l="l" t="t" r="r" b="b"/>
            <a:pathLst>
              <a:path w="5778500" h="2222500">
                <a:moveTo>
                  <a:pt x="203203" y="0"/>
                </a:moveTo>
                <a:lnTo>
                  <a:pt x="5575297" y="0"/>
                </a:lnTo>
                <a:cubicBezTo>
                  <a:pt x="5687523" y="0"/>
                  <a:pt x="5778500" y="90977"/>
                  <a:pt x="5778500" y="203203"/>
                </a:cubicBezTo>
                <a:lnTo>
                  <a:pt x="5778500" y="2019297"/>
                </a:lnTo>
                <a:cubicBezTo>
                  <a:pt x="5778500" y="2131523"/>
                  <a:pt x="5687523" y="2222500"/>
                  <a:pt x="5575297" y="2222500"/>
                </a:cubicBezTo>
                <a:lnTo>
                  <a:pt x="203203" y="2222500"/>
                </a:lnTo>
                <a:cubicBezTo>
                  <a:pt x="90977" y="2222500"/>
                  <a:pt x="0" y="2131523"/>
                  <a:pt x="0" y="20192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CA3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5F8CA3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>
            <p:custDataLst>
              <p:tags r:id="rId6"/>
            </p:custDataLst>
          </p:nvPr>
        </p:nvSpPr>
        <p:spPr>
          <a:xfrm>
            <a:off x="9950450" y="5905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47638" y="52388"/>
                </a:moveTo>
                <a:lnTo>
                  <a:pt x="195263" y="52388"/>
                </a:lnTo>
                <a:lnTo>
                  <a:pt x="195263" y="80962"/>
                </a:lnTo>
                <a:lnTo>
                  <a:pt x="147638" y="80962"/>
                </a:lnTo>
                <a:lnTo>
                  <a:pt x="147638" y="52388"/>
                </a:lnTo>
                <a:close/>
                <a:moveTo>
                  <a:pt x="142875" y="19050"/>
                </a:moveTo>
                <a:cubicBezTo>
                  <a:pt x="127099" y="19050"/>
                  <a:pt x="114300" y="31849"/>
                  <a:pt x="114300" y="47625"/>
                </a:cubicBezTo>
                <a:lnTo>
                  <a:pt x="114300" y="85725"/>
                </a:lnTo>
                <a:cubicBezTo>
                  <a:pt x="114300" y="101501"/>
                  <a:pt x="127099" y="114300"/>
                  <a:pt x="142875" y="114300"/>
                </a:cubicBezTo>
                <a:lnTo>
                  <a:pt x="152400" y="114300"/>
                </a:lnTo>
                <a:lnTo>
                  <a:pt x="152400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76200" y="171450"/>
                </a:lnTo>
                <a:lnTo>
                  <a:pt x="76200" y="190500"/>
                </a:lnTo>
                <a:lnTo>
                  <a:pt x="66675" y="190500"/>
                </a:lnTo>
                <a:cubicBezTo>
                  <a:pt x="50899" y="190500"/>
                  <a:pt x="38100" y="203299"/>
                  <a:pt x="38100" y="219075"/>
                </a:cubicBezTo>
                <a:lnTo>
                  <a:pt x="38100" y="257175"/>
                </a:lnTo>
                <a:cubicBezTo>
                  <a:pt x="38100" y="272951"/>
                  <a:pt x="50899" y="285750"/>
                  <a:pt x="66675" y="285750"/>
                </a:cubicBezTo>
                <a:lnTo>
                  <a:pt x="123825" y="285750"/>
                </a:lnTo>
                <a:cubicBezTo>
                  <a:pt x="139601" y="285750"/>
                  <a:pt x="152400" y="272951"/>
                  <a:pt x="152400" y="257175"/>
                </a:cubicBezTo>
                <a:lnTo>
                  <a:pt x="152400" y="219075"/>
                </a:lnTo>
                <a:cubicBezTo>
                  <a:pt x="152400" y="203299"/>
                  <a:pt x="139601" y="190500"/>
                  <a:pt x="123825" y="190500"/>
                </a:cubicBezTo>
                <a:lnTo>
                  <a:pt x="114300" y="190500"/>
                </a:lnTo>
                <a:lnTo>
                  <a:pt x="114300" y="171450"/>
                </a:lnTo>
                <a:lnTo>
                  <a:pt x="228600" y="171450"/>
                </a:lnTo>
                <a:lnTo>
                  <a:pt x="228600" y="190500"/>
                </a:lnTo>
                <a:lnTo>
                  <a:pt x="219075" y="190500"/>
                </a:lnTo>
                <a:cubicBezTo>
                  <a:pt x="203299" y="190500"/>
                  <a:pt x="190500" y="203299"/>
                  <a:pt x="190500" y="219075"/>
                </a:cubicBezTo>
                <a:lnTo>
                  <a:pt x="190500" y="257175"/>
                </a:lnTo>
                <a:cubicBezTo>
                  <a:pt x="190500" y="272951"/>
                  <a:pt x="203299" y="285750"/>
                  <a:pt x="219075" y="285750"/>
                </a:cubicBezTo>
                <a:lnTo>
                  <a:pt x="276225" y="285750"/>
                </a:lnTo>
                <a:cubicBezTo>
                  <a:pt x="292001" y="285750"/>
                  <a:pt x="304800" y="272951"/>
                  <a:pt x="304800" y="257175"/>
                </a:cubicBezTo>
                <a:lnTo>
                  <a:pt x="304800" y="219075"/>
                </a:lnTo>
                <a:cubicBezTo>
                  <a:pt x="304800" y="203299"/>
                  <a:pt x="292001" y="190500"/>
                  <a:pt x="276225" y="190500"/>
                </a:cubicBezTo>
                <a:lnTo>
                  <a:pt x="266700" y="190500"/>
                </a:lnTo>
                <a:lnTo>
                  <a:pt x="266700" y="171450"/>
                </a:lnTo>
                <a:lnTo>
                  <a:pt x="323850" y="171450"/>
                </a:lnTo>
                <a:cubicBezTo>
                  <a:pt x="334387" y="171450"/>
                  <a:pt x="342900" y="162937"/>
                  <a:pt x="342900" y="152400"/>
                </a:cubicBezTo>
                <a:cubicBezTo>
                  <a:pt x="342900" y="141863"/>
                  <a:pt x="334387" y="133350"/>
                  <a:pt x="323850" y="133350"/>
                </a:cubicBezTo>
                <a:lnTo>
                  <a:pt x="190500" y="133350"/>
                </a:lnTo>
                <a:lnTo>
                  <a:pt x="190500" y="114300"/>
                </a:lnTo>
                <a:lnTo>
                  <a:pt x="200025" y="114300"/>
                </a:lnTo>
                <a:cubicBezTo>
                  <a:pt x="215801" y="114300"/>
                  <a:pt x="228600" y="101501"/>
                  <a:pt x="228600" y="85725"/>
                </a:cubicBezTo>
                <a:lnTo>
                  <a:pt x="228600" y="47625"/>
                </a:lnTo>
                <a:cubicBezTo>
                  <a:pt x="228600" y="31849"/>
                  <a:pt x="215801" y="19050"/>
                  <a:pt x="200025" y="19050"/>
                </a:cubicBezTo>
                <a:lnTo>
                  <a:pt x="142875" y="19050"/>
                </a:lnTo>
                <a:close/>
                <a:moveTo>
                  <a:pt x="266700" y="223838"/>
                </a:moveTo>
                <a:lnTo>
                  <a:pt x="271463" y="223838"/>
                </a:lnTo>
                <a:lnTo>
                  <a:pt x="271463" y="252413"/>
                </a:lnTo>
                <a:lnTo>
                  <a:pt x="223838" y="252413"/>
                </a:lnTo>
                <a:lnTo>
                  <a:pt x="223838" y="223838"/>
                </a:lnTo>
                <a:lnTo>
                  <a:pt x="266700" y="223838"/>
                </a:lnTo>
                <a:close/>
                <a:moveTo>
                  <a:pt x="114300" y="223838"/>
                </a:moveTo>
                <a:lnTo>
                  <a:pt x="119062" y="223838"/>
                </a:lnTo>
                <a:lnTo>
                  <a:pt x="119062" y="252413"/>
                </a:lnTo>
                <a:lnTo>
                  <a:pt x="71438" y="252413"/>
                </a:lnTo>
                <a:lnTo>
                  <a:pt x="71438" y="223838"/>
                </a:lnTo>
                <a:lnTo>
                  <a:pt x="114300" y="223838"/>
                </a:lnTo>
                <a:close/>
              </a:path>
            </a:pathLst>
          </a:custGeom>
          <a:solidFill>
            <a:srgbClr val="5F8CA3"/>
          </a:solidFill>
        </p:spPr>
      </p:sp>
      <p:sp>
        <p:nvSpPr>
          <p:cNvPr id="24" name="Text 22"/>
          <p:cNvSpPr/>
          <p:nvPr>
            <p:custDataLst>
              <p:tags r:id="rId7"/>
            </p:custDataLst>
          </p:nvPr>
        </p:nvSpPr>
        <p:spPr>
          <a:xfrm>
            <a:off x="10661015" y="5854700"/>
            <a:ext cx="4921885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全局优化能力</a:t>
            </a:r>
            <a:endParaRPr lang="en-US" sz="1600" dirty="0"/>
          </a:p>
        </p:txBody>
      </p:sp>
      <p:sp>
        <p:nvSpPr>
          <p:cNvPr id="25" name="Text 23"/>
          <p:cNvSpPr/>
          <p:nvPr>
            <p:custDataLst>
              <p:tags r:id="rId8"/>
            </p:custDataLst>
          </p:nvPr>
        </p:nvSpPr>
        <p:spPr>
          <a:xfrm>
            <a:off x="9581515" y="6464300"/>
            <a:ext cx="5950585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深度学习网络能够在高维参数空间中寻找最优解，避免了传统方法中简化和近似带来的误差积累。这种端到端的学习方式使得预测结果更加精确可靠。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09600"/>
            <a:ext cx="609600" cy="50800"/>
          </a:xfrm>
          <a:custGeom>
            <a:avLst/>
            <a:gdLst/>
            <a:ahLst/>
            <a:cxnLst/>
            <a:rect l="l" t="t" r="r" b="b"/>
            <a:pathLst>
              <a:path w="609600" h="50800">
                <a:moveTo>
                  <a:pt x="0" y="0"/>
                </a:moveTo>
                <a:lnTo>
                  <a:pt x="609600" y="0"/>
                </a:lnTo>
                <a:lnTo>
                  <a:pt x="609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FBC8F"/>
              </a:gs>
              <a:gs pos="100000">
                <a:srgbClr val="3C6E9E"/>
              </a:gs>
            </a:gsLst>
            <a:lin ang="0" scaled="1"/>
          </a:gradFill>
        </p:spPr>
      </p:sp>
      <p:sp>
        <p:nvSpPr>
          <p:cNvPr id="3" name="Text 1"/>
          <p:cNvSpPr/>
          <p:nvPr/>
        </p:nvSpPr>
        <p:spPr>
          <a:xfrm>
            <a:off x="1320800" y="508000"/>
            <a:ext cx="1828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80" dirty="0">
                <a:solidFill>
                  <a:srgbClr val="8FBC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ADVANTAGE 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响应速度更快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885950"/>
            <a:ext cx="7454900" cy="3441700"/>
          </a:xfrm>
          <a:custGeom>
            <a:avLst/>
            <a:gdLst/>
            <a:ahLst/>
            <a:cxnLst/>
            <a:rect l="l" t="t" r="r" b="b"/>
            <a:pathLst>
              <a:path w="7454900" h="3441700">
                <a:moveTo>
                  <a:pt x="203198" y="0"/>
                </a:moveTo>
                <a:lnTo>
                  <a:pt x="7251702" y="0"/>
                </a:lnTo>
                <a:cubicBezTo>
                  <a:pt x="7363925" y="0"/>
                  <a:pt x="7454900" y="90975"/>
                  <a:pt x="7454900" y="203198"/>
                </a:cubicBezTo>
                <a:lnTo>
                  <a:pt x="7454900" y="3238502"/>
                </a:lnTo>
                <a:cubicBezTo>
                  <a:pt x="7454900" y="3350725"/>
                  <a:pt x="7363925" y="3441700"/>
                  <a:pt x="7251702" y="3441700"/>
                </a:cubicBezTo>
                <a:lnTo>
                  <a:pt x="203198" y="3441700"/>
                </a:lnTo>
                <a:cubicBezTo>
                  <a:pt x="90975" y="3441700"/>
                  <a:pt x="0" y="3350725"/>
                  <a:pt x="0" y="3238502"/>
                </a:cubicBezTo>
                <a:lnTo>
                  <a:pt x="0" y="203198"/>
                </a:lnTo>
                <a:cubicBezTo>
                  <a:pt x="0" y="91050"/>
                  <a:pt x="91050" y="0"/>
                  <a:pt x="203198" y="0"/>
                </a:cubicBezTo>
                <a:close/>
              </a:path>
            </a:pathLst>
          </a:custGeom>
          <a:gradFill flip="none" rotWithShape="1">
            <a:gsLst>
              <a:gs pos="0">
                <a:srgbClr val="8FBC8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8FBC8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5500" y="21971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FBC8F">
              <a:alpha val="4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1068388" y="24130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252115" y="-7367"/>
                </a:moveTo>
                <a:cubicBezTo>
                  <a:pt x="260970" y="-967"/>
                  <a:pt x="264244" y="10641"/>
                  <a:pt x="260226" y="20762"/>
                </a:cubicBezTo>
                <a:lnTo>
                  <a:pt x="201885" y="166688"/>
                </a:lnTo>
                <a:lnTo>
                  <a:pt x="309563" y="166688"/>
                </a:lnTo>
                <a:cubicBezTo>
                  <a:pt x="319608" y="166688"/>
                  <a:pt x="328538" y="172938"/>
                  <a:pt x="331961" y="182389"/>
                </a:cubicBezTo>
                <a:cubicBezTo>
                  <a:pt x="335384" y="191839"/>
                  <a:pt x="332482" y="202406"/>
                  <a:pt x="324817" y="208806"/>
                </a:cubicBezTo>
                <a:lnTo>
                  <a:pt x="110505" y="387400"/>
                </a:lnTo>
                <a:cubicBezTo>
                  <a:pt x="102096" y="394395"/>
                  <a:pt x="90115" y="394767"/>
                  <a:pt x="81260" y="388367"/>
                </a:cubicBezTo>
                <a:cubicBezTo>
                  <a:pt x="72405" y="381967"/>
                  <a:pt x="69131" y="370359"/>
                  <a:pt x="73149" y="360238"/>
                </a:cubicBezTo>
                <a:lnTo>
                  <a:pt x="131490" y="214313"/>
                </a:lnTo>
                <a:lnTo>
                  <a:pt x="23812" y="214313"/>
                </a:lnTo>
                <a:cubicBezTo>
                  <a:pt x="13767" y="214313"/>
                  <a:pt x="4837" y="208062"/>
                  <a:pt x="1414" y="198611"/>
                </a:cubicBezTo>
                <a:cubicBezTo>
                  <a:pt x="-2009" y="189161"/>
                  <a:pt x="893" y="178594"/>
                  <a:pt x="8558" y="172194"/>
                </a:cubicBezTo>
                <a:lnTo>
                  <a:pt x="222870" y="-6400"/>
                </a:lnTo>
                <a:cubicBezTo>
                  <a:pt x="231279" y="-13395"/>
                  <a:pt x="243260" y="-13767"/>
                  <a:pt x="252115" y="-7367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8" name="Text 6"/>
          <p:cNvSpPr/>
          <p:nvPr/>
        </p:nvSpPr>
        <p:spPr>
          <a:xfrm>
            <a:off x="1841500" y="2273300"/>
            <a:ext cx="2771775" cy="5403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实时数据处理能力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5500" y="3263900"/>
            <a:ext cx="69342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AI模型一旦训练完成，就可以实现"分钟级"更新的全球预报。这种近乎实时的响应能力彻底改变了天气预报的时效性 paradigm。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2800" y="4318000"/>
            <a:ext cx="6819900" cy="876300"/>
          </a:xfrm>
          <a:custGeom>
            <a:avLst/>
            <a:gdLst/>
            <a:ahLst/>
            <a:cxnLst/>
            <a:rect l="l" t="t" r="r" b="b"/>
            <a:pathLst>
              <a:path w="6819900" h="876300">
                <a:moveTo>
                  <a:pt x="152397" y="0"/>
                </a:moveTo>
                <a:lnTo>
                  <a:pt x="6667503" y="0"/>
                </a:lnTo>
                <a:cubicBezTo>
                  <a:pt x="6751669" y="0"/>
                  <a:pt x="6819900" y="68231"/>
                  <a:pt x="6819900" y="152397"/>
                </a:cubicBezTo>
                <a:lnTo>
                  <a:pt x="6819900" y="723903"/>
                </a:lnTo>
                <a:cubicBezTo>
                  <a:pt x="6819900" y="808069"/>
                  <a:pt x="6751669" y="876300"/>
                  <a:pt x="6667503" y="876300"/>
                </a:cubicBezTo>
                <a:lnTo>
                  <a:pt x="152397" y="876300"/>
                </a:lnTo>
                <a:cubicBezTo>
                  <a:pt x="68231" y="876300"/>
                  <a:pt x="0" y="808069"/>
                  <a:pt x="0" y="7239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8FBC8F">
              <a:alpha val="10196"/>
            </a:srgbClr>
          </a:solidFill>
          <a:ln w="12700">
            <a:solidFill>
              <a:srgbClr val="8FBC8F">
                <a:alpha val="30196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1400" y="4419600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更新频率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87720" y="4343400"/>
            <a:ext cx="17449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FBC8F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分钟级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86750" y="1885950"/>
            <a:ext cx="7454900" cy="3441700"/>
          </a:xfrm>
          <a:custGeom>
            <a:avLst/>
            <a:gdLst/>
            <a:ahLst/>
            <a:cxnLst/>
            <a:rect l="l" t="t" r="r" b="b"/>
            <a:pathLst>
              <a:path w="7454900" h="3441700">
                <a:moveTo>
                  <a:pt x="203198" y="0"/>
                </a:moveTo>
                <a:lnTo>
                  <a:pt x="7251702" y="0"/>
                </a:lnTo>
                <a:cubicBezTo>
                  <a:pt x="7363925" y="0"/>
                  <a:pt x="7454900" y="90975"/>
                  <a:pt x="7454900" y="203198"/>
                </a:cubicBezTo>
                <a:lnTo>
                  <a:pt x="7454900" y="3238502"/>
                </a:lnTo>
                <a:cubicBezTo>
                  <a:pt x="7454900" y="3350725"/>
                  <a:pt x="7363925" y="3441700"/>
                  <a:pt x="7251702" y="3441700"/>
                </a:cubicBezTo>
                <a:lnTo>
                  <a:pt x="203198" y="3441700"/>
                </a:lnTo>
                <a:cubicBezTo>
                  <a:pt x="90975" y="3441700"/>
                  <a:pt x="0" y="3350725"/>
                  <a:pt x="0" y="3238502"/>
                </a:cubicBezTo>
                <a:lnTo>
                  <a:pt x="0" y="203198"/>
                </a:lnTo>
                <a:cubicBezTo>
                  <a:pt x="0" y="91050"/>
                  <a:pt x="91050" y="0"/>
                  <a:pt x="203198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C6E9E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7900" y="21971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C6E9E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8840788" y="24130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47625" y="23812"/>
                </a:moveTo>
                <a:cubicBezTo>
                  <a:pt x="21357" y="23812"/>
                  <a:pt x="0" y="45169"/>
                  <a:pt x="0" y="71438"/>
                </a:cubicBezTo>
                <a:lnTo>
                  <a:pt x="0" y="119063"/>
                </a:lnTo>
                <a:cubicBezTo>
                  <a:pt x="0" y="145331"/>
                  <a:pt x="21357" y="166688"/>
                  <a:pt x="47625" y="166688"/>
                </a:cubicBezTo>
                <a:lnTo>
                  <a:pt x="285750" y="166688"/>
                </a:lnTo>
                <a:cubicBezTo>
                  <a:pt x="312018" y="166688"/>
                  <a:pt x="333375" y="145331"/>
                  <a:pt x="333375" y="119063"/>
                </a:cubicBezTo>
                <a:lnTo>
                  <a:pt x="333375" y="71438"/>
                </a:lnTo>
                <a:cubicBezTo>
                  <a:pt x="333375" y="45169"/>
                  <a:pt x="312018" y="23812"/>
                  <a:pt x="285750" y="23812"/>
                </a:cubicBezTo>
                <a:lnTo>
                  <a:pt x="47625" y="23812"/>
                </a:lnTo>
                <a:close/>
                <a:moveTo>
                  <a:pt x="208359" y="77391"/>
                </a:moveTo>
                <a:cubicBezTo>
                  <a:pt x="218216" y="77391"/>
                  <a:pt x="226219" y="85393"/>
                  <a:pt x="226219" y="95250"/>
                </a:cubicBezTo>
                <a:cubicBezTo>
                  <a:pt x="226219" y="105107"/>
                  <a:pt x="218216" y="113109"/>
                  <a:pt x="208359" y="113109"/>
                </a:cubicBezTo>
                <a:cubicBezTo>
                  <a:pt x="198503" y="113109"/>
                  <a:pt x="190500" y="105107"/>
                  <a:pt x="190500" y="95250"/>
                </a:cubicBezTo>
                <a:cubicBezTo>
                  <a:pt x="190500" y="85393"/>
                  <a:pt x="198503" y="77391"/>
                  <a:pt x="208359" y="77391"/>
                </a:cubicBezTo>
                <a:close/>
                <a:moveTo>
                  <a:pt x="250031" y="95250"/>
                </a:moveTo>
                <a:cubicBezTo>
                  <a:pt x="250031" y="85393"/>
                  <a:pt x="258034" y="77391"/>
                  <a:pt x="267891" y="77391"/>
                </a:cubicBezTo>
                <a:cubicBezTo>
                  <a:pt x="277747" y="77391"/>
                  <a:pt x="285750" y="85393"/>
                  <a:pt x="285750" y="95250"/>
                </a:cubicBezTo>
                <a:cubicBezTo>
                  <a:pt x="285750" y="105107"/>
                  <a:pt x="277747" y="113109"/>
                  <a:pt x="267891" y="113109"/>
                </a:cubicBezTo>
                <a:cubicBezTo>
                  <a:pt x="258034" y="113109"/>
                  <a:pt x="250031" y="105107"/>
                  <a:pt x="250031" y="95250"/>
                </a:cubicBezTo>
                <a:close/>
                <a:moveTo>
                  <a:pt x="47625" y="214313"/>
                </a:moveTo>
                <a:cubicBezTo>
                  <a:pt x="21357" y="214313"/>
                  <a:pt x="0" y="235669"/>
                  <a:pt x="0" y="261938"/>
                </a:cubicBezTo>
                <a:lnTo>
                  <a:pt x="0" y="309563"/>
                </a:lnTo>
                <a:cubicBezTo>
                  <a:pt x="0" y="335831"/>
                  <a:pt x="21357" y="357188"/>
                  <a:pt x="47625" y="357188"/>
                </a:cubicBezTo>
                <a:lnTo>
                  <a:pt x="285750" y="357188"/>
                </a:lnTo>
                <a:cubicBezTo>
                  <a:pt x="312018" y="357188"/>
                  <a:pt x="333375" y="335831"/>
                  <a:pt x="333375" y="309563"/>
                </a:cubicBezTo>
                <a:lnTo>
                  <a:pt x="333375" y="261938"/>
                </a:lnTo>
                <a:cubicBezTo>
                  <a:pt x="333375" y="235669"/>
                  <a:pt x="312018" y="214313"/>
                  <a:pt x="285750" y="214313"/>
                </a:cubicBezTo>
                <a:lnTo>
                  <a:pt x="47625" y="214313"/>
                </a:lnTo>
                <a:close/>
                <a:moveTo>
                  <a:pt x="208359" y="267891"/>
                </a:moveTo>
                <a:cubicBezTo>
                  <a:pt x="218216" y="267891"/>
                  <a:pt x="226219" y="275893"/>
                  <a:pt x="226219" y="285750"/>
                </a:cubicBezTo>
                <a:cubicBezTo>
                  <a:pt x="226219" y="295607"/>
                  <a:pt x="218216" y="303609"/>
                  <a:pt x="208359" y="303609"/>
                </a:cubicBezTo>
                <a:cubicBezTo>
                  <a:pt x="198503" y="303609"/>
                  <a:pt x="190500" y="295607"/>
                  <a:pt x="190500" y="285750"/>
                </a:cubicBezTo>
                <a:cubicBezTo>
                  <a:pt x="190500" y="275893"/>
                  <a:pt x="198503" y="267891"/>
                  <a:pt x="208359" y="267891"/>
                </a:cubicBezTo>
                <a:close/>
                <a:moveTo>
                  <a:pt x="250031" y="285750"/>
                </a:moveTo>
                <a:cubicBezTo>
                  <a:pt x="250031" y="275893"/>
                  <a:pt x="258034" y="267891"/>
                  <a:pt x="267891" y="267891"/>
                </a:cubicBezTo>
                <a:cubicBezTo>
                  <a:pt x="277747" y="267891"/>
                  <a:pt x="285750" y="275893"/>
                  <a:pt x="285750" y="285750"/>
                </a:cubicBezTo>
                <a:cubicBezTo>
                  <a:pt x="285750" y="295607"/>
                  <a:pt x="277747" y="303609"/>
                  <a:pt x="267891" y="303609"/>
                </a:cubicBezTo>
                <a:cubicBezTo>
                  <a:pt x="258034" y="303609"/>
                  <a:pt x="250031" y="295607"/>
                  <a:pt x="250031" y="285750"/>
                </a:cubicBezTo>
                <a:close/>
              </a:path>
            </a:pathLst>
          </a:custGeom>
          <a:solidFill>
            <a:srgbClr val="E0E0E0"/>
          </a:solidFill>
        </p:spPr>
      </p:sp>
      <p:sp>
        <p:nvSpPr>
          <p:cNvPr id="17" name="Text 15"/>
          <p:cNvSpPr/>
          <p:nvPr/>
        </p:nvSpPr>
        <p:spPr>
          <a:xfrm>
            <a:off x="9613900" y="2273300"/>
            <a:ext cx="2520950" cy="6318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分布式计算架构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97900" y="3263900"/>
            <a:ext cx="69342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中国气象局AI预报系统采用分布式GPU集群，单小时可完成10万次模式运算，比超级计算机提速3倍以上。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587105" y="4272280"/>
            <a:ext cx="6819900" cy="876300"/>
          </a:xfrm>
          <a:custGeom>
            <a:avLst/>
            <a:gdLst/>
            <a:ahLst/>
            <a:cxnLst/>
            <a:rect l="l" t="t" r="r" b="b"/>
            <a:pathLst>
              <a:path w="6819900" h="876300">
                <a:moveTo>
                  <a:pt x="152397" y="0"/>
                </a:moveTo>
                <a:lnTo>
                  <a:pt x="6667503" y="0"/>
                </a:lnTo>
                <a:cubicBezTo>
                  <a:pt x="6751669" y="0"/>
                  <a:pt x="6819900" y="68231"/>
                  <a:pt x="6819900" y="152397"/>
                </a:cubicBezTo>
                <a:lnTo>
                  <a:pt x="6819900" y="723903"/>
                </a:lnTo>
                <a:cubicBezTo>
                  <a:pt x="6819900" y="808069"/>
                  <a:pt x="6751669" y="876300"/>
                  <a:pt x="6667503" y="876300"/>
                </a:cubicBezTo>
                <a:lnTo>
                  <a:pt x="152397" y="876300"/>
                </a:lnTo>
                <a:cubicBezTo>
                  <a:pt x="68231" y="876300"/>
                  <a:pt x="0" y="808069"/>
                  <a:pt x="0" y="7239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3C6E9E">
              <a:alpha val="10196"/>
            </a:srgbClr>
          </a:solidFill>
          <a:ln w="12700">
            <a:solidFill>
              <a:srgbClr val="3C6E9E">
                <a:alpha val="30196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13800" y="4419600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计算提速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721483" y="4343400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3C6E9E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3x+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4350" y="5645150"/>
            <a:ext cx="4902200" cy="1993900"/>
          </a:xfrm>
          <a:custGeom>
            <a:avLst/>
            <a:gdLst/>
            <a:ahLst/>
            <a:cxnLst/>
            <a:rect l="l" t="t" r="r" b="b"/>
            <a:pathLst>
              <a:path w="4902200" h="1993900">
                <a:moveTo>
                  <a:pt x="152394" y="0"/>
                </a:moveTo>
                <a:lnTo>
                  <a:pt x="4749806" y="0"/>
                </a:lnTo>
                <a:cubicBezTo>
                  <a:pt x="4833971" y="0"/>
                  <a:pt x="4902200" y="68229"/>
                  <a:pt x="4902200" y="152394"/>
                </a:cubicBezTo>
                <a:lnTo>
                  <a:pt x="4902200" y="1841506"/>
                </a:lnTo>
                <a:cubicBezTo>
                  <a:pt x="4902200" y="1925671"/>
                  <a:pt x="4833971" y="1993900"/>
                  <a:pt x="4749806" y="1993900"/>
                </a:cubicBezTo>
                <a:lnTo>
                  <a:pt x="152394" y="1993900"/>
                </a:lnTo>
                <a:cubicBezTo>
                  <a:pt x="68229" y="1993900"/>
                  <a:pt x="0" y="1925671"/>
                  <a:pt x="0" y="18415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gradFill flip="none" rotWithShape="1">
            <a:gsLst>
              <a:gs pos="0">
                <a:srgbClr val="8FBC8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8FBC8F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34667" y="590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ubicBezTo>
                  <a:pt x="0" y="102432"/>
                  <a:pt x="102432" y="0"/>
                  <a:pt x="228600" y="0"/>
                </a:cubicBezTo>
                <a:close/>
                <a:moveTo>
                  <a:pt x="207169" y="107156"/>
                </a:moveTo>
                <a:lnTo>
                  <a:pt x="207169" y="228600"/>
                </a:lnTo>
                <a:cubicBezTo>
                  <a:pt x="207169" y="235744"/>
                  <a:pt x="210741" y="242441"/>
                  <a:pt x="216724" y="246459"/>
                </a:cubicBezTo>
                <a:lnTo>
                  <a:pt x="302449" y="303609"/>
                </a:lnTo>
                <a:cubicBezTo>
                  <a:pt x="312271" y="310217"/>
                  <a:pt x="325576" y="307538"/>
                  <a:pt x="332184" y="297626"/>
                </a:cubicBezTo>
                <a:cubicBezTo>
                  <a:pt x="338792" y="287715"/>
                  <a:pt x="336113" y="274499"/>
                  <a:pt x="326201" y="267891"/>
                </a:cubicBezTo>
                <a:lnTo>
                  <a:pt x="250031" y="217170"/>
                </a:lnTo>
                <a:lnTo>
                  <a:pt x="250031" y="107156"/>
                </a:lnTo>
                <a:cubicBezTo>
                  <a:pt x="250031" y="95280"/>
                  <a:pt x="240476" y="85725"/>
                  <a:pt x="228600" y="85725"/>
                </a:cubicBezTo>
                <a:cubicBezTo>
                  <a:pt x="216724" y="85725"/>
                  <a:pt x="207169" y="95280"/>
                  <a:pt x="207169" y="107156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25" name="Text 23"/>
          <p:cNvSpPr/>
          <p:nvPr/>
        </p:nvSpPr>
        <p:spPr>
          <a:xfrm>
            <a:off x="679450" y="65151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1小时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3900" y="7073900"/>
            <a:ext cx="4483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10万次模式运算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678884" y="5645150"/>
            <a:ext cx="4902200" cy="1993900"/>
          </a:xfrm>
          <a:custGeom>
            <a:avLst/>
            <a:gdLst/>
            <a:ahLst/>
            <a:cxnLst/>
            <a:rect l="l" t="t" r="r" b="b"/>
            <a:pathLst>
              <a:path w="4902200" h="1993900">
                <a:moveTo>
                  <a:pt x="152394" y="0"/>
                </a:moveTo>
                <a:lnTo>
                  <a:pt x="4749806" y="0"/>
                </a:lnTo>
                <a:cubicBezTo>
                  <a:pt x="4833971" y="0"/>
                  <a:pt x="4902200" y="68229"/>
                  <a:pt x="4902200" y="152394"/>
                </a:cubicBezTo>
                <a:lnTo>
                  <a:pt x="4902200" y="1841506"/>
                </a:lnTo>
                <a:cubicBezTo>
                  <a:pt x="4902200" y="1925671"/>
                  <a:pt x="4833971" y="1993900"/>
                  <a:pt x="4749806" y="1993900"/>
                </a:cubicBezTo>
                <a:lnTo>
                  <a:pt x="152394" y="1993900"/>
                </a:lnTo>
                <a:cubicBezTo>
                  <a:pt x="68229" y="1993900"/>
                  <a:pt x="0" y="1925671"/>
                  <a:pt x="0" y="18415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C6E9E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99202" y="590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7163" y="21431"/>
                </a:moveTo>
                <a:cubicBezTo>
                  <a:pt x="157163" y="9555"/>
                  <a:pt x="147608" y="0"/>
                  <a:pt x="135731" y="0"/>
                </a:cubicBezTo>
                <a:cubicBezTo>
                  <a:pt x="123855" y="0"/>
                  <a:pt x="114300" y="9555"/>
                  <a:pt x="114300" y="21431"/>
                </a:cubicBezTo>
                <a:lnTo>
                  <a:pt x="114300" y="57150"/>
                </a:lnTo>
                <a:cubicBezTo>
                  <a:pt x="82778" y="57150"/>
                  <a:pt x="57150" y="82778"/>
                  <a:pt x="57150" y="114300"/>
                </a:cubicBezTo>
                <a:lnTo>
                  <a:pt x="21431" y="114300"/>
                </a:lnTo>
                <a:cubicBezTo>
                  <a:pt x="9555" y="114300"/>
                  <a:pt x="0" y="123855"/>
                  <a:pt x="0" y="135731"/>
                </a:cubicBezTo>
                <a:cubicBezTo>
                  <a:pt x="0" y="147608"/>
                  <a:pt x="9555" y="157163"/>
                  <a:pt x="21431" y="157163"/>
                </a:cubicBezTo>
                <a:lnTo>
                  <a:pt x="57150" y="157163"/>
                </a:lnTo>
                <a:lnTo>
                  <a:pt x="57150" y="207169"/>
                </a:lnTo>
                <a:lnTo>
                  <a:pt x="21431" y="207169"/>
                </a:lnTo>
                <a:cubicBezTo>
                  <a:pt x="9555" y="207169"/>
                  <a:pt x="0" y="216724"/>
                  <a:pt x="0" y="228600"/>
                </a:cubicBezTo>
                <a:cubicBezTo>
                  <a:pt x="0" y="240476"/>
                  <a:pt x="9555" y="250031"/>
                  <a:pt x="21431" y="250031"/>
                </a:cubicBezTo>
                <a:lnTo>
                  <a:pt x="57150" y="250031"/>
                </a:lnTo>
                <a:lnTo>
                  <a:pt x="57150" y="300038"/>
                </a:lnTo>
                <a:lnTo>
                  <a:pt x="21431" y="300038"/>
                </a:lnTo>
                <a:cubicBezTo>
                  <a:pt x="9555" y="300038"/>
                  <a:pt x="0" y="309592"/>
                  <a:pt x="0" y="321469"/>
                </a:cubicBezTo>
                <a:cubicBezTo>
                  <a:pt x="0" y="333345"/>
                  <a:pt x="9555" y="342900"/>
                  <a:pt x="21431" y="342900"/>
                </a:cubicBezTo>
                <a:lnTo>
                  <a:pt x="57150" y="342900"/>
                </a:lnTo>
                <a:cubicBezTo>
                  <a:pt x="57150" y="374422"/>
                  <a:pt x="82778" y="400050"/>
                  <a:pt x="114300" y="400050"/>
                </a:cubicBezTo>
                <a:lnTo>
                  <a:pt x="114300" y="435769"/>
                </a:lnTo>
                <a:cubicBezTo>
                  <a:pt x="114300" y="447645"/>
                  <a:pt x="123855" y="457200"/>
                  <a:pt x="135731" y="457200"/>
                </a:cubicBezTo>
                <a:cubicBezTo>
                  <a:pt x="147608" y="457200"/>
                  <a:pt x="157163" y="447645"/>
                  <a:pt x="157163" y="435769"/>
                </a:cubicBezTo>
                <a:lnTo>
                  <a:pt x="157163" y="400050"/>
                </a:lnTo>
                <a:lnTo>
                  <a:pt x="207169" y="400050"/>
                </a:lnTo>
                <a:lnTo>
                  <a:pt x="207169" y="435769"/>
                </a:lnTo>
                <a:cubicBezTo>
                  <a:pt x="207169" y="447645"/>
                  <a:pt x="216724" y="457200"/>
                  <a:pt x="228600" y="457200"/>
                </a:cubicBezTo>
                <a:cubicBezTo>
                  <a:pt x="240476" y="457200"/>
                  <a:pt x="250031" y="447645"/>
                  <a:pt x="250031" y="435769"/>
                </a:cubicBezTo>
                <a:lnTo>
                  <a:pt x="250031" y="400050"/>
                </a:lnTo>
                <a:lnTo>
                  <a:pt x="300038" y="400050"/>
                </a:lnTo>
                <a:lnTo>
                  <a:pt x="300038" y="435769"/>
                </a:lnTo>
                <a:cubicBezTo>
                  <a:pt x="300038" y="447645"/>
                  <a:pt x="309592" y="457200"/>
                  <a:pt x="321469" y="457200"/>
                </a:cubicBezTo>
                <a:cubicBezTo>
                  <a:pt x="333345" y="457200"/>
                  <a:pt x="342900" y="447645"/>
                  <a:pt x="342900" y="435769"/>
                </a:cubicBezTo>
                <a:lnTo>
                  <a:pt x="342900" y="400050"/>
                </a:lnTo>
                <a:cubicBezTo>
                  <a:pt x="374422" y="400050"/>
                  <a:pt x="400050" y="374422"/>
                  <a:pt x="400050" y="342900"/>
                </a:cubicBezTo>
                <a:lnTo>
                  <a:pt x="435769" y="342900"/>
                </a:lnTo>
                <a:cubicBezTo>
                  <a:pt x="447645" y="342900"/>
                  <a:pt x="457200" y="333345"/>
                  <a:pt x="457200" y="321469"/>
                </a:cubicBezTo>
                <a:cubicBezTo>
                  <a:pt x="457200" y="309592"/>
                  <a:pt x="447645" y="300038"/>
                  <a:pt x="435769" y="300038"/>
                </a:cubicBezTo>
                <a:lnTo>
                  <a:pt x="400050" y="300038"/>
                </a:lnTo>
                <a:lnTo>
                  <a:pt x="400050" y="250031"/>
                </a:lnTo>
                <a:lnTo>
                  <a:pt x="435769" y="250031"/>
                </a:lnTo>
                <a:cubicBezTo>
                  <a:pt x="447645" y="250031"/>
                  <a:pt x="457200" y="240476"/>
                  <a:pt x="457200" y="228600"/>
                </a:cubicBezTo>
                <a:cubicBezTo>
                  <a:pt x="457200" y="216724"/>
                  <a:pt x="447645" y="207169"/>
                  <a:pt x="435769" y="207169"/>
                </a:cubicBezTo>
                <a:lnTo>
                  <a:pt x="400050" y="207169"/>
                </a:lnTo>
                <a:lnTo>
                  <a:pt x="400050" y="157163"/>
                </a:lnTo>
                <a:lnTo>
                  <a:pt x="435769" y="157163"/>
                </a:lnTo>
                <a:cubicBezTo>
                  <a:pt x="447645" y="157163"/>
                  <a:pt x="457200" y="147608"/>
                  <a:pt x="457200" y="135731"/>
                </a:cubicBezTo>
                <a:cubicBezTo>
                  <a:pt x="457200" y="123855"/>
                  <a:pt x="447645" y="114300"/>
                  <a:pt x="435769" y="114300"/>
                </a:cubicBezTo>
                <a:lnTo>
                  <a:pt x="400050" y="114300"/>
                </a:lnTo>
                <a:cubicBezTo>
                  <a:pt x="400050" y="82778"/>
                  <a:pt x="374422" y="57150"/>
                  <a:pt x="342900" y="57150"/>
                </a:cubicBezTo>
                <a:lnTo>
                  <a:pt x="342900" y="21431"/>
                </a:lnTo>
                <a:cubicBezTo>
                  <a:pt x="342900" y="9555"/>
                  <a:pt x="333345" y="0"/>
                  <a:pt x="321469" y="0"/>
                </a:cubicBezTo>
                <a:cubicBezTo>
                  <a:pt x="309592" y="0"/>
                  <a:pt x="300038" y="9555"/>
                  <a:pt x="300038" y="21431"/>
                </a:cubicBezTo>
                <a:lnTo>
                  <a:pt x="300038" y="57150"/>
                </a:lnTo>
                <a:lnTo>
                  <a:pt x="250031" y="57150"/>
                </a:lnTo>
                <a:lnTo>
                  <a:pt x="250031" y="21431"/>
                </a:lnTo>
                <a:cubicBezTo>
                  <a:pt x="250031" y="9555"/>
                  <a:pt x="240476" y="0"/>
                  <a:pt x="228600" y="0"/>
                </a:cubicBezTo>
                <a:cubicBezTo>
                  <a:pt x="216724" y="0"/>
                  <a:pt x="207169" y="9555"/>
                  <a:pt x="207169" y="21431"/>
                </a:cubicBezTo>
                <a:lnTo>
                  <a:pt x="207169" y="57150"/>
                </a:lnTo>
                <a:lnTo>
                  <a:pt x="157163" y="57150"/>
                </a:lnTo>
                <a:lnTo>
                  <a:pt x="157163" y="21431"/>
                </a:lnTo>
                <a:close/>
                <a:moveTo>
                  <a:pt x="142875" y="114300"/>
                </a:moveTo>
                <a:lnTo>
                  <a:pt x="314325" y="114300"/>
                </a:lnTo>
                <a:cubicBezTo>
                  <a:pt x="330131" y="114300"/>
                  <a:pt x="342900" y="127069"/>
                  <a:pt x="342900" y="142875"/>
                </a:cubicBezTo>
                <a:lnTo>
                  <a:pt x="342900" y="314325"/>
                </a:lnTo>
                <a:cubicBezTo>
                  <a:pt x="342900" y="330131"/>
                  <a:pt x="330131" y="342900"/>
                  <a:pt x="314325" y="342900"/>
                </a:cubicBezTo>
                <a:lnTo>
                  <a:pt x="142875" y="342900"/>
                </a:lnTo>
                <a:cubicBezTo>
                  <a:pt x="127069" y="342900"/>
                  <a:pt x="114300" y="330131"/>
                  <a:pt x="114300" y="314325"/>
                </a:cubicBezTo>
                <a:lnTo>
                  <a:pt x="114300" y="142875"/>
                </a:lnTo>
                <a:cubicBezTo>
                  <a:pt x="114300" y="127069"/>
                  <a:pt x="127069" y="114300"/>
                  <a:pt x="142875" y="114300"/>
                </a:cubicBezTo>
                <a:close/>
                <a:moveTo>
                  <a:pt x="157163" y="157163"/>
                </a:moveTo>
                <a:lnTo>
                  <a:pt x="157163" y="300038"/>
                </a:lnTo>
                <a:lnTo>
                  <a:pt x="300038" y="300038"/>
                </a:lnTo>
                <a:lnTo>
                  <a:pt x="300038" y="157163"/>
                </a:lnTo>
                <a:lnTo>
                  <a:pt x="157163" y="157163"/>
                </a:lnTo>
                <a:close/>
              </a:path>
            </a:pathLst>
          </a:custGeom>
          <a:solidFill>
            <a:srgbClr val="3C6E9E"/>
          </a:solidFill>
        </p:spPr>
      </p:sp>
      <p:sp>
        <p:nvSpPr>
          <p:cNvPr id="29" name="Text 27"/>
          <p:cNvSpPr/>
          <p:nvPr/>
        </p:nvSpPr>
        <p:spPr>
          <a:xfrm>
            <a:off x="5843984" y="65151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GPU集群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888434" y="7073900"/>
            <a:ext cx="4483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分布式并行计算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843617" y="5645150"/>
            <a:ext cx="4902200" cy="1993900"/>
          </a:xfrm>
          <a:custGeom>
            <a:avLst/>
            <a:gdLst/>
            <a:ahLst/>
            <a:cxnLst/>
            <a:rect l="l" t="t" r="r" b="b"/>
            <a:pathLst>
              <a:path w="4902200" h="1993900">
                <a:moveTo>
                  <a:pt x="152394" y="0"/>
                </a:moveTo>
                <a:lnTo>
                  <a:pt x="4749806" y="0"/>
                </a:lnTo>
                <a:cubicBezTo>
                  <a:pt x="4833971" y="0"/>
                  <a:pt x="4902200" y="68229"/>
                  <a:pt x="4902200" y="152394"/>
                </a:cubicBezTo>
                <a:lnTo>
                  <a:pt x="4902200" y="1841506"/>
                </a:lnTo>
                <a:cubicBezTo>
                  <a:pt x="4902200" y="1925671"/>
                  <a:pt x="4833971" y="1993900"/>
                  <a:pt x="4749806" y="1993900"/>
                </a:cubicBezTo>
                <a:lnTo>
                  <a:pt x="152394" y="1993900"/>
                </a:lnTo>
                <a:cubicBezTo>
                  <a:pt x="68229" y="1993900"/>
                  <a:pt x="0" y="1925671"/>
                  <a:pt x="0" y="18415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CA3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5F8CA3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063934" y="590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5F8CA3"/>
          </a:solidFill>
        </p:spPr>
      </p:sp>
      <p:sp>
        <p:nvSpPr>
          <p:cNvPr id="33" name="Text 31"/>
          <p:cNvSpPr/>
          <p:nvPr/>
        </p:nvSpPr>
        <p:spPr>
          <a:xfrm>
            <a:off x="11008717" y="65151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指数级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053167" y="7073900"/>
            <a:ext cx="4483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效率提升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09600"/>
            <a:ext cx="609600" cy="50800"/>
          </a:xfrm>
          <a:custGeom>
            <a:avLst/>
            <a:gdLst/>
            <a:ahLst/>
            <a:cxnLst/>
            <a:rect l="l" t="t" r="r" b="b"/>
            <a:pathLst>
              <a:path w="609600" h="50800">
                <a:moveTo>
                  <a:pt x="0" y="0"/>
                </a:moveTo>
                <a:lnTo>
                  <a:pt x="609600" y="0"/>
                </a:lnTo>
                <a:lnTo>
                  <a:pt x="609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FBC8F"/>
              </a:gs>
              <a:gs pos="100000">
                <a:srgbClr val="3C6E9E"/>
              </a:gs>
            </a:gsLst>
            <a:lin ang="0" scaled="1"/>
          </a:gradFill>
        </p:spPr>
      </p:sp>
      <p:sp>
        <p:nvSpPr>
          <p:cNvPr id="3" name="Text 1"/>
          <p:cNvSpPr/>
          <p:nvPr/>
        </p:nvSpPr>
        <p:spPr>
          <a:xfrm>
            <a:off x="1320800" y="508000"/>
            <a:ext cx="1828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80" dirty="0">
                <a:solidFill>
                  <a:srgbClr val="8FBC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ADVANTAGE 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广泛的可及性与应用潜力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885950"/>
            <a:ext cx="4902200" cy="2197100"/>
          </a:xfrm>
          <a:custGeom>
            <a:avLst/>
            <a:gdLst/>
            <a:ahLst/>
            <a:cxnLst/>
            <a:rect l="l" t="t" r="r" b="b"/>
            <a:pathLst>
              <a:path w="4902200" h="2197100">
                <a:moveTo>
                  <a:pt x="203210" y="0"/>
                </a:moveTo>
                <a:lnTo>
                  <a:pt x="4698990" y="0"/>
                </a:lnTo>
                <a:cubicBezTo>
                  <a:pt x="4811220" y="0"/>
                  <a:pt x="4902200" y="90980"/>
                  <a:pt x="4902200" y="203210"/>
                </a:cubicBezTo>
                <a:lnTo>
                  <a:pt x="4902200" y="1993890"/>
                </a:lnTo>
                <a:cubicBezTo>
                  <a:pt x="4902200" y="2106120"/>
                  <a:pt x="4811220" y="2197100"/>
                  <a:pt x="4698990" y="2197100"/>
                </a:cubicBezTo>
                <a:lnTo>
                  <a:pt x="203210" y="2197100"/>
                </a:lnTo>
                <a:cubicBezTo>
                  <a:pt x="90980" y="2197100"/>
                  <a:pt x="0" y="2106120"/>
                  <a:pt x="0" y="1993890"/>
                </a:cubicBezTo>
                <a:lnTo>
                  <a:pt x="0" y="203210"/>
                </a:lnTo>
                <a:cubicBezTo>
                  <a:pt x="0" y="91055"/>
                  <a:pt x="91055" y="0"/>
                  <a:pt x="203210" y="0"/>
                </a:cubicBezTo>
                <a:close/>
              </a:path>
            </a:pathLst>
          </a:custGeom>
          <a:gradFill flip="none" rotWithShape="1">
            <a:gsLst>
              <a:gs pos="0">
                <a:srgbClr val="8FBC8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8FBC8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5500" y="21971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8FBC8F">
              <a:alpha val="4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1028700" y="2400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71450" y="19050"/>
                </a:moveTo>
                <a:cubicBezTo>
                  <a:pt x="171450" y="29587"/>
                  <a:pt x="179963" y="38100"/>
                  <a:pt x="190500" y="38100"/>
                </a:cubicBezTo>
                <a:lnTo>
                  <a:pt x="214313" y="38100"/>
                </a:lnTo>
                <a:cubicBezTo>
                  <a:pt x="222230" y="38100"/>
                  <a:pt x="228600" y="44470"/>
                  <a:pt x="228600" y="52388"/>
                </a:cubicBezTo>
                <a:cubicBezTo>
                  <a:pt x="228600" y="60305"/>
                  <a:pt x="222230" y="66675"/>
                  <a:pt x="214313" y="66675"/>
                </a:cubicBezTo>
                <a:lnTo>
                  <a:pt x="19050" y="66675"/>
                </a:lnTo>
                <a:cubicBezTo>
                  <a:pt x="8513" y="66675"/>
                  <a:pt x="0" y="75188"/>
                  <a:pt x="0" y="85725"/>
                </a:cubicBezTo>
                <a:cubicBezTo>
                  <a:pt x="0" y="96262"/>
                  <a:pt x="8513" y="104775"/>
                  <a:pt x="19050" y="104775"/>
                </a:cubicBezTo>
                <a:lnTo>
                  <a:pt x="214313" y="104775"/>
                </a:lnTo>
                <a:cubicBezTo>
                  <a:pt x="243245" y="104775"/>
                  <a:pt x="266700" y="81320"/>
                  <a:pt x="266700" y="52388"/>
                </a:cubicBezTo>
                <a:cubicBezTo>
                  <a:pt x="266700" y="23455"/>
                  <a:pt x="243245" y="0"/>
                  <a:pt x="214313" y="0"/>
                </a:cubicBezTo>
                <a:lnTo>
                  <a:pt x="190500" y="0"/>
                </a:lnTo>
                <a:cubicBezTo>
                  <a:pt x="179963" y="0"/>
                  <a:pt x="171450" y="8513"/>
                  <a:pt x="171450" y="19050"/>
                </a:cubicBezTo>
                <a:close/>
                <a:moveTo>
                  <a:pt x="209550" y="228600"/>
                </a:moveTo>
                <a:cubicBezTo>
                  <a:pt x="209550" y="239137"/>
                  <a:pt x="218063" y="247650"/>
                  <a:pt x="228600" y="247650"/>
                </a:cubicBezTo>
                <a:lnTo>
                  <a:pt x="247650" y="247650"/>
                </a:lnTo>
                <a:cubicBezTo>
                  <a:pt x="279202" y="247650"/>
                  <a:pt x="304800" y="222052"/>
                  <a:pt x="304800" y="190500"/>
                </a:cubicBezTo>
                <a:cubicBezTo>
                  <a:pt x="304800" y="158948"/>
                  <a:pt x="279202" y="133350"/>
                  <a:pt x="247650" y="133350"/>
                </a:cubicBez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47650" y="171450"/>
                </a:lnTo>
                <a:cubicBezTo>
                  <a:pt x="258187" y="171450"/>
                  <a:pt x="266700" y="179963"/>
                  <a:pt x="266700" y="190500"/>
                </a:cubicBezTo>
                <a:cubicBezTo>
                  <a:pt x="266700" y="201037"/>
                  <a:pt x="258187" y="209550"/>
                  <a:pt x="247650" y="209550"/>
                </a:cubicBezTo>
                <a:lnTo>
                  <a:pt x="228600" y="209550"/>
                </a:lnTo>
                <a:cubicBezTo>
                  <a:pt x="218063" y="209550"/>
                  <a:pt x="209550" y="218063"/>
                  <a:pt x="209550" y="228600"/>
                </a:cubicBezTo>
                <a:close/>
                <a:moveTo>
                  <a:pt x="76200" y="304800"/>
                </a:moveTo>
                <a:lnTo>
                  <a:pt x="100013" y="304800"/>
                </a:lnTo>
                <a:cubicBezTo>
                  <a:pt x="128945" y="304800"/>
                  <a:pt x="152400" y="281345"/>
                  <a:pt x="152400" y="252413"/>
                </a:cubicBezTo>
                <a:cubicBezTo>
                  <a:pt x="152400" y="223480"/>
                  <a:pt x="128945" y="200025"/>
                  <a:pt x="100013" y="200025"/>
                </a:cubicBezTo>
                <a:lnTo>
                  <a:pt x="19050" y="200025"/>
                </a:lnTo>
                <a:cubicBezTo>
                  <a:pt x="8513" y="200025"/>
                  <a:pt x="0" y="208538"/>
                  <a:pt x="0" y="219075"/>
                </a:cubicBezTo>
                <a:cubicBezTo>
                  <a:pt x="0" y="229612"/>
                  <a:pt x="8513" y="238125"/>
                  <a:pt x="19050" y="238125"/>
                </a:cubicBezTo>
                <a:lnTo>
                  <a:pt x="100013" y="238125"/>
                </a:lnTo>
                <a:cubicBezTo>
                  <a:pt x="107930" y="238125"/>
                  <a:pt x="114300" y="244495"/>
                  <a:pt x="114300" y="252413"/>
                </a:cubicBezTo>
                <a:cubicBezTo>
                  <a:pt x="114300" y="260330"/>
                  <a:pt x="107930" y="266700"/>
                  <a:pt x="100013" y="266700"/>
                </a:cubicBezTo>
                <a:lnTo>
                  <a:pt x="76200" y="266700"/>
                </a:lnTo>
                <a:cubicBezTo>
                  <a:pt x="65663" y="266700"/>
                  <a:pt x="57150" y="275213"/>
                  <a:pt x="57150" y="285750"/>
                </a:cubicBezTo>
                <a:cubicBezTo>
                  <a:pt x="57150" y="296287"/>
                  <a:pt x="65663" y="304800"/>
                  <a:pt x="76200" y="304800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8" name="Text 6"/>
          <p:cNvSpPr/>
          <p:nvPr/>
        </p:nvSpPr>
        <p:spPr>
          <a:xfrm>
            <a:off x="1689100" y="2374900"/>
            <a:ext cx="1460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风电预测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5500" y="3111500"/>
            <a:ext cx="43815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为风电场提供精准的发电量预测，优化电网调度，提高可再生能源利用率，降低能源浪费。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678884" y="1885950"/>
            <a:ext cx="4902200" cy="2197100"/>
          </a:xfrm>
          <a:custGeom>
            <a:avLst/>
            <a:gdLst/>
            <a:ahLst/>
            <a:cxnLst/>
            <a:rect l="l" t="t" r="r" b="b"/>
            <a:pathLst>
              <a:path w="4902200" h="2197100">
                <a:moveTo>
                  <a:pt x="203210" y="0"/>
                </a:moveTo>
                <a:lnTo>
                  <a:pt x="4698990" y="0"/>
                </a:lnTo>
                <a:cubicBezTo>
                  <a:pt x="4811220" y="0"/>
                  <a:pt x="4902200" y="90980"/>
                  <a:pt x="4902200" y="203210"/>
                </a:cubicBezTo>
                <a:lnTo>
                  <a:pt x="4902200" y="1993890"/>
                </a:lnTo>
                <a:cubicBezTo>
                  <a:pt x="4902200" y="2106120"/>
                  <a:pt x="4811220" y="2197100"/>
                  <a:pt x="4698990" y="2197100"/>
                </a:cubicBezTo>
                <a:lnTo>
                  <a:pt x="203210" y="2197100"/>
                </a:lnTo>
                <a:cubicBezTo>
                  <a:pt x="90980" y="2197100"/>
                  <a:pt x="0" y="2106120"/>
                  <a:pt x="0" y="1993890"/>
                </a:cubicBezTo>
                <a:lnTo>
                  <a:pt x="0" y="203210"/>
                </a:lnTo>
                <a:cubicBezTo>
                  <a:pt x="0" y="91055"/>
                  <a:pt x="91055" y="0"/>
                  <a:pt x="203210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C6E9E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90034" y="21971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C6E9E">
              <a:alpha val="40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6193234" y="2400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9050"/>
                </a:moveTo>
                <a:cubicBezTo>
                  <a:pt x="304800" y="83403"/>
                  <a:pt x="259199" y="137100"/>
                  <a:pt x="198596" y="149662"/>
                </a:cubicBezTo>
                <a:cubicBezTo>
                  <a:pt x="193893" y="115074"/>
                  <a:pt x="178356" y="83939"/>
                  <a:pt x="155436" y="59829"/>
                </a:cubicBezTo>
                <a:cubicBezTo>
                  <a:pt x="179308" y="23813"/>
                  <a:pt x="220206" y="0"/>
                  <a:pt x="266700" y="0"/>
                </a:cubicBezTo>
                <a:lnTo>
                  <a:pt x="285750" y="0"/>
                </a:lnTo>
                <a:cubicBezTo>
                  <a:pt x="296287" y="0"/>
                  <a:pt x="304800" y="8513"/>
                  <a:pt x="304800" y="19050"/>
                </a:cubicBezTo>
                <a:close/>
                <a:moveTo>
                  <a:pt x="0" y="57150"/>
                </a:moveTo>
                <a:cubicBezTo>
                  <a:pt x="0" y="46613"/>
                  <a:pt x="8513" y="38100"/>
                  <a:pt x="19050" y="38100"/>
                </a:cubicBezTo>
                <a:lnTo>
                  <a:pt x="38100" y="38100"/>
                </a:lnTo>
                <a:cubicBezTo>
                  <a:pt x="111740" y="38100"/>
                  <a:pt x="171450" y="97810"/>
                  <a:pt x="171450" y="171450"/>
                </a:cubicBezTo>
                <a:lnTo>
                  <a:pt x="171450" y="285750"/>
                </a:lnTo>
                <a:cubicBezTo>
                  <a:pt x="171450" y="296287"/>
                  <a:pt x="162937" y="304800"/>
                  <a:pt x="152400" y="304800"/>
                </a:cubicBezTo>
                <a:cubicBezTo>
                  <a:pt x="141863" y="304800"/>
                  <a:pt x="133350" y="296287"/>
                  <a:pt x="133350" y="285750"/>
                </a:cubicBezTo>
                <a:lnTo>
                  <a:pt x="133350" y="190500"/>
                </a:lnTo>
                <a:cubicBezTo>
                  <a:pt x="59710" y="190500"/>
                  <a:pt x="0" y="130790"/>
                  <a:pt x="0" y="57150"/>
                </a:cubicBezTo>
                <a:close/>
              </a:path>
            </a:pathLst>
          </a:custGeom>
          <a:solidFill>
            <a:srgbClr val="E0E0E0"/>
          </a:solidFill>
        </p:spPr>
      </p:sp>
      <p:sp>
        <p:nvSpPr>
          <p:cNvPr id="13" name="Text 11"/>
          <p:cNvSpPr/>
          <p:nvPr/>
        </p:nvSpPr>
        <p:spPr>
          <a:xfrm>
            <a:off x="6853555" y="2374900"/>
            <a:ext cx="1793875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农业预警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90034" y="3111500"/>
            <a:ext cx="43815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为农业生产提供灾害预警，包括霜冻、干旱、暴雨等极端天气，帮助农民提前采取防护措施。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0843617" y="1885950"/>
            <a:ext cx="4902200" cy="2197100"/>
          </a:xfrm>
          <a:custGeom>
            <a:avLst/>
            <a:gdLst/>
            <a:ahLst/>
            <a:cxnLst/>
            <a:rect l="l" t="t" r="r" b="b"/>
            <a:pathLst>
              <a:path w="4902200" h="2197100">
                <a:moveTo>
                  <a:pt x="203210" y="0"/>
                </a:moveTo>
                <a:lnTo>
                  <a:pt x="4698990" y="0"/>
                </a:lnTo>
                <a:cubicBezTo>
                  <a:pt x="4811220" y="0"/>
                  <a:pt x="4902200" y="90980"/>
                  <a:pt x="4902200" y="203210"/>
                </a:cubicBezTo>
                <a:lnTo>
                  <a:pt x="4902200" y="1993890"/>
                </a:lnTo>
                <a:cubicBezTo>
                  <a:pt x="4902200" y="2106120"/>
                  <a:pt x="4811220" y="2197100"/>
                  <a:pt x="4698990" y="2197100"/>
                </a:cubicBezTo>
                <a:lnTo>
                  <a:pt x="203210" y="2197100"/>
                </a:lnTo>
                <a:cubicBezTo>
                  <a:pt x="90980" y="2197100"/>
                  <a:pt x="0" y="2106120"/>
                  <a:pt x="0" y="1993890"/>
                </a:cubicBezTo>
                <a:lnTo>
                  <a:pt x="0" y="203210"/>
                </a:lnTo>
                <a:cubicBezTo>
                  <a:pt x="0" y="91055"/>
                  <a:pt x="91055" y="0"/>
                  <a:pt x="20321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CA3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5F8CA3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4767" y="21971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5F8CA3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11338917" y="24003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21456" y="85665"/>
                </a:moveTo>
                <a:lnTo>
                  <a:pt x="102810" y="23932"/>
                </a:lnTo>
                <a:cubicBezTo>
                  <a:pt x="98048" y="21491"/>
                  <a:pt x="92512" y="21074"/>
                  <a:pt x="87511" y="22920"/>
                </a:cubicBezTo>
                <a:lnTo>
                  <a:pt x="63044" y="31849"/>
                </a:lnTo>
                <a:cubicBezTo>
                  <a:pt x="56912" y="34052"/>
                  <a:pt x="54828" y="41612"/>
                  <a:pt x="58817" y="46732"/>
                </a:cubicBezTo>
                <a:lnTo>
                  <a:pt x="119241" y="122873"/>
                </a:lnTo>
                <a:lnTo>
                  <a:pt x="59591" y="144542"/>
                </a:lnTo>
                <a:lnTo>
                  <a:pt x="23813" y="122753"/>
                </a:lnTo>
                <a:cubicBezTo>
                  <a:pt x="20122" y="120491"/>
                  <a:pt x="15597" y="120075"/>
                  <a:pt x="11490" y="121503"/>
                </a:cubicBezTo>
                <a:lnTo>
                  <a:pt x="1786" y="125075"/>
                </a:lnTo>
                <a:cubicBezTo>
                  <a:pt x="-3810" y="127099"/>
                  <a:pt x="-6191" y="133707"/>
                  <a:pt x="-3155" y="138827"/>
                </a:cubicBezTo>
                <a:lnTo>
                  <a:pt x="28754" y="193477"/>
                </a:lnTo>
                <a:cubicBezTo>
                  <a:pt x="38040" y="209371"/>
                  <a:pt x="57388" y="216337"/>
                  <a:pt x="74652" y="210026"/>
                </a:cubicBezTo>
                <a:lnTo>
                  <a:pt x="82332" y="207228"/>
                </a:lnTo>
                <a:lnTo>
                  <a:pt x="82332" y="207228"/>
                </a:lnTo>
                <a:lnTo>
                  <a:pt x="319504" y="120908"/>
                </a:lnTo>
                <a:cubicBezTo>
                  <a:pt x="336828" y="114598"/>
                  <a:pt x="345698" y="95488"/>
                  <a:pt x="339447" y="78165"/>
                </a:cubicBezTo>
                <a:cubicBezTo>
                  <a:pt x="333196" y="60841"/>
                  <a:pt x="314027" y="51971"/>
                  <a:pt x="296704" y="58222"/>
                </a:cubicBezTo>
                <a:lnTo>
                  <a:pt x="221456" y="85665"/>
                </a:lnTo>
                <a:close/>
                <a:moveTo>
                  <a:pt x="19169" y="266700"/>
                </a:moveTo>
                <a:cubicBezTo>
                  <a:pt x="8632" y="266700"/>
                  <a:pt x="119" y="275213"/>
                  <a:pt x="119" y="285750"/>
                </a:cubicBezTo>
                <a:cubicBezTo>
                  <a:pt x="119" y="296287"/>
                  <a:pt x="8632" y="304800"/>
                  <a:pt x="19169" y="304800"/>
                </a:cubicBezTo>
                <a:lnTo>
                  <a:pt x="323969" y="304800"/>
                </a:lnTo>
                <a:cubicBezTo>
                  <a:pt x="334506" y="304800"/>
                  <a:pt x="343019" y="296287"/>
                  <a:pt x="343019" y="285750"/>
                </a:cubicBezTo>
                <a:cubicBezTo>
                  <a:pt x="343019" y="275213"/>
                  <a:pt x="334506" y="266700"/>
                  <a:pt x="323969" y="266700"/>
                </a:cubicBezTo>
                <a:lnTo>
                  <a:pt x="19169" y="266700"/>
                </a:lnTo>
                <a:close/>
              </a:path>
            </a:pathLst>
          </a:custGeom>
          <a:solidFill>
            <a:srgbClr val="E0E0E0"/>
          </a:solidFill>
        </p:spPr>
      </p:sp>
      <p:sp>
        <p:nvSpPr>
          <p:cNvPr id="18" name="Text 16"/>
          <p:cNvSpPr/>
          <p:nvPr/>
        </p:nvSpPr>
        <p:spPr>
          <a:xfrm>
            <a:off x="12018645" y="2374900"/>
            <a:ext cx="1617345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物流优化</a:t>
            </a:r>
            <a:endParaRPr lang="en-US" sz="2400" b="1" dirty="0">
              <a:solidFill>
                <a:srgbClr val="E0E0E0"/>
              </a:solidFill>
              <a:latin typeface="得意黑" pitchFamily="34" charset="-122"/>
              <a:ea typeface="得意黑" pitchFamily="34" charset="-122"/>
              <a:cs typeface="得意黑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154767" y="3111500"/>
            <a:ext cx="43815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为航空、航海、公路运输提供航线优化预报，降低延误风险，提高物流效率和安全性。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14350" y="4400550"/>
            <a:ext cx="7454900" cy="2603500"/>
          </a:xfrm>
          <a:custGeom>
            <a:avLst/>
            <a:gdLst/>
            <a:ahLst/>
            <a:cxnLst/>
            <a:rect l="l" t="t" r="r" b="b"/>
            <a:pathLst>
              <a:path w="7454900" h="2603500">
                <a:moveTo>
                  <a:pt x="203203" y="0"/>
                </a:moveTo>
                <a:lnTo>
                  <a:pt x="7251697" y="0"/>
                </a:lnTo>
                <a:cubicBezTo>
                  <a:pt x="7363923" y="0"/>
                  <a:pt x="7454900" y="90977"/>
                  <a:pt x="7454900" y="203203"/>
                </a:cubicBezTo>
                <a:lnTo>
                  <a:pt x="7454900" y="2400297"/>
                </a:lnTo>
                <a:cubicBezTo>
                  <a:pt x="7454900" y="2512523"/>
                  <a:pt x="7363923" y="2603500"/>
                  <a:pt x="7251697" y="2603500"/>
                </a:cubicBezTo>
                <a:lnTo>
                  <a:pt x="203203" y="2603500"/>
                </a:lnTo>
                <a:cubicBezTo>
                  <a:pt x="90977" y="2603500"/>
                  <a:pt x="0" y="2512523"/>
                  <a:pt x="0" y="24002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gradFill flip="none" rotWithShape="1">
            <a:gsLst>
              <a:gs pos="0">
                <a:srgbClr val="8FBC8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8FBC8F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0750" y="4762500"/>
            <a:ext cx="190500" cy="304800"/>
          </a:xfrm>
          <a:custGeom>
            <a:avLst/>
            <a:gdLst/>
            <a:ahLst/>
            <a:cxnLst/>
            <a:rect l="l" t="t" r="r" b="b"/>
            <a:pathLst>
              <a:path w="190500" h="304800">
                <a:moveTo>
                  <a:pt x="80962" y="14288"/>
                </a:moveTo>
                <a:cubicBezTo>
                  <a:pt x="80962" y="6370"/>
                  <a:pt x="87332" y="0"/>
                  <a:pt x="95250" y="0"/>
                </a:cubicBezTo>
                <a:cubicBezTo>
                  <a:pt x="103168" y="0"/>
                  <a:pt x="109537" y="6370"/>
                  <a:pt x="109537" y="14288"/>
                </a:cubicBezTo>
                <a:lnTo>
                  <a:pt x="109537" y="38100"/>
                </a:lnTo>
                <a:lnTo>
                  <a:pt x="142875" y="38100"/>
                </a:lnTo>
                <a:cubicBezTo>
                  <a:pt x="153412" y="38100"/>
                  <a:pt x="161925" y="46613"/>
                  <a:pt x="161925" y="57150"/>
                </a:cubicBezTo>
                <a:cubicBezTo>
                  <a:pt x="161925" y="67687"/>
                  <a:pt x="153412" y="76200"/>
                  <a:pt x="142875" y="76200"/>
                </a:cubicBezTo>
                <a:lnTo>
                  <a:pt x="74474" y="76200"/>
                </a:lnTo>
                <a:cubicBezTo>
                  <a:pt x="59650" y="76200"/>
                  <a:pt x="47625" y="88225"/>
                  <a:pt x="47625" y="103049"/>
                </a:cubicBezTo>
                <a:cubicBezTo>
                  <a:pt x="47625" y="116443"/>
                  <a:pt x="57448" y="127754"/>
                  <a:pt x="70664" y="129659"/>
                </a:cubicBezTo>
                <a:lnTo>
                  <a:pt x="125194" y="137458"/>
                </a:lnTo>
                <a:cubicBezTo>
                  <a:pt x="157222" y="142042"/>
                  <a:pt x="180975" y="169426"/>
                  <a:pt x="180975" y="201751"/>
                </a:cubicBezTo>
                <a:cubicBezTo>
                  <a:pt x="180975" y="237649"/>
                  <a:pt x="151864" y="266700"/>
                  <a:pt x="116026" y="266700"/>
                </a:cubicBezTo>
                <a:lnTo>
                  <a:pt x="109537" y="266700"/>
                </a:lnTo>
                <a:lnTo>
                  <a:pt x="109537" y="290513"/>
                </a:lnTo>
                <a:cubicBezTo>
                  <a:pt x="109537" y="298430"/>
                  <a:pt x="103168" y="304800"/>
                  <a:pt x="95250" y="304800"/>
                </a:cubicBezTo>
                <a:cubicBezTo>
                  <a:pt x="87332" y="304800"/>
                  <a:pt x="80962" y="298430"/>
                  <a:pt x="80962" y="290513"/>
                </a:cubicBezTo>
                <a:lnTo>
                  <a:pt x="80962" y="266700"/>
                </a:lnTo>
                <a:lnTo>
                  <a:pt x="38100" y="266700"/>
                </a:lnTo>
                <a:cubicBezTo>
                  <a:pt x="27563" y="266700"/>
                  <a:pt x="19050" y="258187"/>
                  <a:pt x="19050" y="247650"/>
                </a:cubicBezTo>
                <a:cubicBezTo>
                  <a:pt x="19050" y="237113"/>
                  <a:pt x="27563" y="228600"/>
                  <a:pt x="38100" y="228600"/>
                </a:cubicBezTo>
                <a:lnTo>
                  <a:pt x="116026" y="228600"/>
                </a:lnTo>
                <a:cubicBezTo>
                  <a:pt x="130850" y="228600"/>
                  <a:pt x="142875" y="216575"/>
                  <a:pt x="142875" y="201751"/>
                </a:cubicBezTo>
                <a:cubicBezTo>
                  <a:pt x="142875" y="188357"/>
                  <a:pt x="133052" y="177046"/>
                  <a:pt x="119836" y="175141"/>
                </a:cubicBezTo>
                <a:lnTo>
                  <a:pt x="65306" y="167342"/>
                </a:lnTo>
                <a:cubicBezTo>
                  <a:pt x="33278" y="162818"/>
                  <a:pt x="9525" y="135374"/>
                  <a:pt x="9525" y="103049"/>
                </a:cubicBezTo>
                <a:cubicBezTo>
                  <a:pt x="9525" y="67211"/>
                  <a:pt x="38636" y="38100"/>
                  <a:pt x="74474" y="38100"/>
                </a:cubicBezTo>
                <a:lnTo>
                  <a:pt x="80962" y="38100"/>
                </a:lnTo>
                <a:lnTo>
                  <a:pt x="80962" y="14288"/>
                </a:lnTo>
                <a:close/>
              </a:path>
            </a:pathLst>
          </a:custGeom>
          <a:solidFill>
            <a:srgbClr val="8FBC8F"/>
          </a:solidFill>
        </p:spPr>
      </p:sp>
      <p:sp>
        <p:nvSpPr>
          <p:cNvPr id="22" name="Text 20"/>
          <p:cNvSpPr/>
          <p:nvPr/>
        </p:nvSpPr>
        <p:spPr>
          <a:xfrm>
            <a:off x="1206500" y="4711700"/>
            <a:ext cx="6604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大幅度降低成本和消耗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5500" y="5321300"/>
            <a:ext cx="69469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AI天气预测系统相比传统超级计算机集群，在硬件投入、能耗和维护成本方面具有显著优势。GPU集群的能效比远超CPU超算，使得大规模预报服务的门槛大幅降低。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286750" y="4400550"/>
            <a:ext cx="7454900" cy="2603500"/>
          </a:xfrm>
          <a:custGeom>
            <a:avLst/>
            <a:gdLst/>
            <a:ahLst/>
            <a:cxnLst/>
            <a:rect l="l" t="t" r="r" b="b"/>
            <a:pathLst>
              <a:path w="7454900" h="2603500">
                <a:moveTo>
                  <a:pt x="203203" y="0"/>
                </a:moveTo>
                <a:lnTo>
                  <a:pt x="7251697" y="0"/>
                </a:lnTo>
                <a:cubicBezTo>
                  <a:pt x="7363923" y="0"/>
                  <a:pt x="7454900" y="90977"/>
                  <a:pt x="7454900" y="203203"/>
                </a:cubicBezTo>
                <a:lnTo>
                  <a:pt x="7454900" y="2400297"/>
                </a:lnTo>
                <a:cubicBezTo>
                  <a:pt x="7454900" y="2512523"/>
                  <a:pt x="7363923" y="2603500"/>
                  <a:pt x="7251697" y="2603500"/>
                </a:cubicBezTo>
                <a:lnTo>
                  <a:pt x="203203" y="2603500"/>
                </a:lnTo>
                <a:cubicBezTo>
                  <a:pt x="90977" y="2603500"/>
                  <a:pt x="0" y="2512523"/>
                  <a:pt x="0" y="2400297"/>
                </a:cubicBezTo>
                <a:lnTo>
                  <a:pt x="0" y="203203"/>
                </a:lnTo>
                <a:cubicBezTo>
                  <a:pt x="0" y="90977"/>
                  <a:pt x="90977" y="0"/>
                  <a:pt x="203203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C6E9E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36000" y="4762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190500"/>
                </a:moveTo>
                <a:lnTo>
                  <a:pt x="14585" y="190500"/>
                </a:lnTo>
                <a:cubicBezTo>
                  <a:pt x="-238" y="190500"/>
                  <a:pt x="-9346" y="174367"/>
                  <a:pt x="-1726" y="161627"/>
                </a:cubicBezTo>
                <a:lnTo>
                  <a:pt x="29766" y="109121"/>
                </a:lnTo>
                <a:cubicBezTo>
                  <a:pt x="34945" y="100489"/>
                  <a:pt x="44232" y="95250"/>
                  <a:pt x="54293" y="95250"/>
                </a:cubicBezTo>
                <a:lnTo>
                  <a:pt x="110847" y="95250"/>
                </a:lnTo>
                <a:cubicBezTo>
                  <a:pt x="156150" y="18514"/>
                  <a:pt x="223718" y="14645"/>
                  <a:pt x="268903" y="21253"/>
                </a:cubicBezTo>
                <a:cubicBezTo>
                  <a:pt x="276523" y="22384"/>
                  <a:pt x="282476" y="28337"/>
                  <a:pt x="283547" y="35897"/>
                </a:cubicBezTo>
                <a:cubicBezTo>
                  <a:pt x="290155" y="81082"/>
                  <a:pt x="286286" y="148650"/>
                  <a:pt x="209550" y="193953"/>
                </a:cubicBezTo>
                <a:lnTo>
                  <a:pt x="209550" y="250508"/>
                </a:lnTo>
                <a:cubicBezTo>
                  <a:pt x="209550" y="260568"/>
                  <a:pt x="204311" y="269855"/>
                  <a:pt x="195679" y="275034"/>
                </a:cubicBezTo>
                <a:lnTo>
                  <a:pt x="143173" y="306526"/>
                </a:lnTo>
                <a:cubicBezTo>
                  <a:pt x="130493" y="314146"/>
                  <a:pt x="114300" y="304979"/>
                  <a:pt x="114300" y="290215"/>
                </a:cubicBezTo>
                <a:lnTo>
                  <a:pt x="114300" y="228600"/>
                </a:lnTo>
                <a:cubicBezTo>
                  <a:pt x="114300" y="207585"/>
                  <a:pt x="97215" y="190500"/>
                  <a:pt x="76200" y="190500"/>
                </a:cubicBezTo>
                <a:lnTo>
                  <a:pt x="76140" y="190500"/>
                </a:lnTo>
                <a:close/>
                <a:moveTo>
                  <a:pt x="238125" y="95250"/>
                </a:moveTo>
                <a:cubicBezTo>
                  <a:pt x="238125" y="79479"/>
                  <a:pt x="225321" y="66675"/>
                  <a:pt x="209550" y="66675"/>
                </a:cubicBezTo>
                <a:cubicBezTo>
                  <a:pt x="193779" y="66675"/>
                  <a:pt x="180975" y="79479"/>
                  <a:pt x="180975" y="95250"/>
                </a:cubicBezTo>
                <a:cubicBezTo>
                  <a:pt x="180975" y="111021"/>
                  <a:pt x="193779" y="123825"/>
                  <a:pt x="209550" y="123825"/>
                </a:cubicBezTo>
                <a:cubicBezTo>
                  <a:pt x="225321" y="123825"/>
                  <a:pt x="238125" y="111021"/>
                  <a:pt x="238125" y="95250"/>
                </a:cubicBezTo>
                <a:close/>
              </a:path>
            </a:pathLst>
          </a:custGeom>
          <a:solidFill>
            <a:srgbClr val="3C6E9E"/>
          </a:solidFill>
        </p:spPr>
      </p:sp>
      <p:sp>
        <p:nvSpPr>
          <p:cNvPr id="26" name="Text 24"/>
          <p:cNvSpPr/>
          <p:nvPr/>
        </p:nvSpPr>
        <p:spPr>
          <a:xfrm>
            <a:off x="8978900" y="4711700"/>
            <a:ext cx="6604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加速科学发现与模式改进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97900" y="5321300"/>
            <a:ext cx="69469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AI模型的可解释性分析帮助科学家发现新的气象规律和物理过程，反过来促进气象科学的进步。这种良性循环加速了预测技术的迭代优化。</a:t>
            </a:r>
            <a:endParaRPr lang="en-US" sz="2000" dirty="0">
              <a:solidFill>
                <a:srgbClr val="E0E0E0">
                  <a:alpha val="85000"/>
                </a:srgb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09600"/>
            <a:ext cx="609600" cy="50800"/>
          </a:xfrm>
          <a:custGeom>
            <a:avLst/>
            <a:gdLst/>
            <a:ahLst/>
            <a:cxnLst/>
            <a:rect l="l" t="t" r="r" b="b"/>
            <a:pathLst>
              <a:path w="609600" h="50800">
                <a:moveTo>
                  <a:pt x="0" y="0"/>
                </a:moveTo>
                <a:lnTo>
                  <a:pt x="609600" y="0"/>
                </a:lnTo>
                <a:lnTo>
                  <a:pt x="609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FBC8F"/>
              </a:gs>
              <a:gs pos="100000">
                <a:srgbClr val="3C6E9E"/>
              </a:gs>
            </a:gsLst>
            <a:lin ang="0" scaled="1"/>
          </a:gradFill>
        </p:spPr>
      </p:sp>
      <p:sp>
        <p:nvSpPr>
          <p:cNvPr id="3" name="Text 1"/>
          <p:cNvSpPr/>
          <p:nvPr/>
        </p:nvSpPr>
        <p:spPr>
          <a:xfrm>
            <a:off x="1320800" y="508000"/>
            <a:ext cx="1511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80" dirty="0">
                <a:solidFill>
                  <a:srgbClr val="8FBC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CASE STUDY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美国AR可视化天气技术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885950"/>
            <a:ext cx="8318500" cy="2197100"/>
          </a:xfrm>
          <a:custGeom>
            <a:avLst/>
            <a:gdLst/>
            <a:ahLst/>
            <a:cxnLst/>
            <a:rect l="l" t="t" r="r" b="b"/>
            <a:pathLst>
              <a:path w="8318500" h="2197100">
                <a:moveTo>
                  <a:pt x="203210" y="0"/>
                </a:moveTo>
                <a:lnTo>
                  <a:pt x="8115290" y="0"/>
                </a:lnTo>
                <a:cubicBezTo>
                  <a:pt x="8227520" y="0"/>
                  <a:pt x="8318500" y="90980"/>
                  <a:pt x="8318500" y="203210"/>
                </a:cubicBezTo>
                <a:lnTo>
                  <a:pt x="8318500" y="1993890"/>
                </a:lnTo>
                <a:cubicBezTo>
                  <a:pt x="8318500" y="2106120"/>
                  <a:pt x="8227520" y="2197100"/>
                  <a:pt x="8115290" y="2197100"/>
                </a:cubicBezTo>
                <a:lnTo>
                  <a:pt x="203210" y="2197100"/>
                </a:lnTo>
                <a:cubicBezTo>
                  <a:pt x="90980" y="2197100"/>
                  <a:pt x="0" y="2106120"/>
                  <a:pt x="0" y="1993890"/>
                </a:cubicBezTo>
                <a:lnTo>
                  <a:pt x="0" y="203210"/>
                </a:lnTo>
                <a:cubicBezTo>
                  <a:pt x="0" y="91055"/>
                  <a:pt x="91055" y="0"/>
                  <a:pt x="203210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C6E9E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5500" y="21971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C6E9E">
              <a:alpha val="4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1009650" y="24003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04800" y="57150"/>
                </a:moveTo>
                <a:lnTo>
                  <a:pt x="38100" y="57150"/>
                </a:lnTo>
                <a:cubicBezTo>
                  <a:pt x="17085" y="57150"/>
                  <a:pt x="0" y="74235"/>
                  <a:pt x="0" y="95250"/>
                </a:cubicBezTo>
                <a:lnTo>
                  <a:pt x="0" y="209550"/>
                </a:lnTo>
                <a:cubicBezTo>
                  <a:pt x="0" y="230565"/>
                  <a:pt x="17085" y="247650"/>
                  <a:pt x="38100" y="247650"/>
                </a:cubicBezTo>
                <a:lnTo>
                  <a:pt x="108049" y="247650"/>
                </a:lnTo>
                <a:cubicBezTo>
                  <a:pt x="118170" y="247650"/>
                  <a:pt x="127873" y="243661"/>
                  <a:pt x="135017" y="236518"/>
                </a:cubicBezTo>
                <a:lnTo>
                  <a:pt x="155198" y="216337"/>
                </a:lnTo>
                <a:cubicBezTo>
                  <a:pt x="159484" y="212050"/>
                  <a:pt x="165378" y="209610"/>
                  <a:pt x="171450" y="209610"/>
                </a:cubicBezTo>
                <a:cubicBezTo>
                  <a:pt x="177522" y="209610"/>
                  <a:pt x="183416" y="212050"/>
                  <a:pt x="187702" y="216337"/>
                </a:cubicBezTo>
                <a:lnTo>
                  <a:pt x="207883" y="236518"/>
                </a:lnTo>
                <a:cubicBezTo>
                  <a:pt x="215027" y="243661"/>
                  <a:pt x="224730" y="247650"/>
                  <a:pt x="234851" y="247650"/>
                </a:cubicBezTo>
                <a:lnTo>
                  <a:pt x="304800" y="247650"/>
                </a:lnTo>
                <a:cubicBezTo>
                  <a:pt x="325815" y="247650"/>
                  <a:pt x="342900" y="230565"/>
                  <a:pt x="342900" y="209550"/>
                </a:cubicBezTo>
                <a:lnTo>
                  <a:pt x="342900" y="95250"/>
                </a:lnTo>
                <a:cubicBezTo>
                  <a:pt x="342900" y="74235"/>
                  <a:pt x="325815" y="57150"/>
                  <a:pt x="304800" y="57150"/>
                </a:cubicBezTo>
                <a:close/>
                <a:moveTo>
                  <a:pt x="47625" y="142875"/>
                </a:moveTo>
                <a:cubicBezTo>
                  <a:pt x="47625" y="121847"/>
                  <a:pt x="64697" y="104775"/>
                  <a:pt x="85725" y="104775"/>
                </a:cubicBezTo>
                <a:cubicBezTo>
                  <a:pt x="106753" y="104775"/>
                  <a:pt x="123825" y="121847"/>
                  <a:pt x="123825" y="142875"/>
                </a:cubicBezTo>
                <a:cubicBezTo>
                  <a:pt x="123825" y="163903"/>
                  <a:pt x="106753" y="180975"/>
                  <a:pt x="85725" y="180975"/>
                </a:cubicBezTo>
                <a:cubicBezTo>
                  <a:pt x="64697" y="180975"/>
                  <a:pt x="47625" y="163903"/>
                  <a:pt x="47625" y="142875"/>
                </a:cubicBezTo>
                <a:close/>
                <a:moveTo>
                  <a:pt x="257175" y="104775"/>
                </a:moveTo>
                <a:cubicBezTo>
                  <a:pt x="278203" y="104775"/>
                  <a:pt x="295275" y="121847"/>
                  <a:pt x="295275" y="142875"/>
                </a:cubicBezTo>
                <a:cubicBezTo>
                  <a:pt x="295275" y="163903"/>
                  <a:pt x="278203" y="180975"/>
                  <a:pt x="257175" y="180975"/>
                </a:cubicBezTo>
                <a:cubicBezTo>
                  <a:pt x="236147" y="180975"/>
                  <a:pt x="219075" y="163903"/>
                  <a:pt x="219075" y="142875"/>
                </a:cubicBezTo>
                <a:cubicBezTo>
                  <a:pt x="219075" y="121847"/>
                  <a:pt x="236147" y="104775"/>
                  <a:pt x="257175" y="104775"/>
                </a:cubicBezTo>
                <a:close/>
              </a:path>
            </a:pathLst>
          </a:custGeom>
          <a:solidFill>
            <a:srgbClr val="E0E0E0"/>
          </a:solidFill>
        </p:spPr>
      </p:sp>
      <p:sp>
        <p:nvSpPr>
          <p:cNvPr id="8" name="Text 6"/>
          <p:cNvSpPr/>
          <p:nvPr/>
        </p:nvSpPr>
        <p:spPr>
          <a:xfrm>
            <a:off x="1689100" y="2349500"/>
            <a:ext cx="271018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8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技术创新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5500" y="3002915"/>
            <a:ext cx="7797800" cy="977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增强现实（AR）技术将抽象的气象数据转化为直观、沉浸式的视觉体验。观众可以通过AR设备"看到"风暴的形成过程，感受极端天气的破坏力。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14350" y="4349750"/>
            <a:ext cx="8318500" cy="2197100"/>
          </a:xfrm>
          <a:custGeom>
            <a:avLst/>
            <a:gdLst/>
            <a:ahLst/>
            <a:cxnLst/>
            <a:rect l="l" t="t" r="r" b="b"/>
            <a:pathLst>
              <a:path w="8318500" h="2197100">
                <a:moveTo>
                  <a:pt x="203210" y="0"/>
                </a:moveTo>
                <a:lnTo>
                  <a:pt x="8115290" y="0"/>
                </a:lnTo>
                <a:cubicBezTo>
                  <a:pt x="8227520" y="0"/>
                  <a:pt x="8318500" y="90980"/>
                  <a:pt x="8318500" y="203210"/>
                </a:cubicBezTo>
                <a:lnTo>
                  <a:pt x="8318500" y="1993890"/>
                </a:lnTo>
                <a:cubicBezTo>
                  <a:pt x="8318500" y="2106120"/>
                  <a:pt x="8227520" y="2197100"/>
                  <a:pt x="8115290" y="2197100"/>
                </a:cubicBezTo>
                <a:lnTo>
                  <a:pt x="203210" y="2197100"/>
                </a:lnTo>
                <a:cubicBezTo>
                  <a:pt x="90980" y="2197100"/>
                  <a:pt x="0" y="2106120"/>
                  <a:pt x="0" y="1993890"/>
                </a:cubicBezTo>
                <a:lnTo>
                  <a:pt x="0" y="203210"/>
                </a:lnTo>
                <a:cubicBezTo>
                  <a:pt x="0" y="91055"/>
                  <a:pt x="91055" y="0"/>
                  <a:pt x="203210" y="0"/>
                </a:cubicBezTo>
                <a:close/>
              </a:path>
            </a:pathLst>
          </a:custGeom>
          <a:gradFill flip="none" rotWithShape="1">
            <a:gsLst>
              <a:gs pos="0">
                <a:srgbClr val="8FBC8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8FBC8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5500" y="46609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8FBC8F">
              <a:alpha val="40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990600" y="48641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90500" y="9525"/>
                </a:moveTo>
                <a:cubicBezTo>
                  <a:pt x="224670" y="9525"/>
                  <a:pt x="252413" y="37267"/>
                  <a:pt x="252413" y="71438"/>
                </a:cubicBezTo>
                <a:cubicBezTo>
                  <a:pt x="252413" y="105608"/>
                  <a:pt x="224670" y="133350"/>
                  <a:pt x="190500" y="133350"/>
                </a:cubicBezTo>
                <a:cubicBezTo>
                  <a:pt x="156330" y="133350"/>
                  <a:pt x="128588" y="105608"/>
                  <a:pt x="128588" y="71438"/>
                </a:cubicBezTo>
                <a:cubicBezTo>
                  <a:pt x="128588" y="37267"/>
                  <a:pt x="156330" y="9525"/>
                  <a:pt x="190500" y="9525"/>
                </a:cubicBezTo>
                <a:close/>
                <a:moveTo>
                  <a:pt x="57150" y="52388"/>
                </a:moveTo>
                <a:cubicBezTo>
                  <a:pt x="80806" y="52388"/>
                  <a:pt x="100013" y="71594"/>
                  <a:pt x="100013" y="95250"/>
                </a:cubicBezTo>
                <a:cubicBezTo>
                  <a:pt x="100013" y="118906"/>
                  <a:pt x="80806" y="138113"/>
                  <a:pt x="57150" y="138113"/>
                </a:cubicBezTo>
                <a:cubicBezTo>
                  <a:pt x="33494" y="138113"/>
                  <a:pt x="14288" y="118906"/>
                  <a:pt x="14288" y="95250"/>
                </a:cubicBezTo>
                <a:cubicBezTo>
                  <a:pt x="14288" y="71594"/>
                  <a:pt x="33494" y="52388"/>
                  <a:pt x="57150" y="52388"/>
                </a:cubicBezTo>
                <a:close/>
                <a:moveTo>
                  <a:pt x="0" y="247650"/>
                </a:moveTo>
                <a:cubicBezTo>
                  <a:pt x="0" y="205561"/>
                  <a:pt x="34111" y="171450"/>
                  <a:pt x="76200" y="171450"/>
                </a:cubicBezTo>
                <a:cubicBezTo>
                  <a:pt x="83820" y="171450"/>
                  <a:pt x="91202" y="172581"/>
                  <a:pt x="98167" y="174665"/>
                </a:cubicBezTo>
                <a:cubicBezTo>
                  <a:pt x="78581" y="196572"/>
                  <a:pt x="66675" y="225504"/>
                  <a:pt x="66675" y="257175"/>
                </a:cubicBezTo>
                <a:lnTo>
                  <a:pt x="66675" y="266700"/>
                </a:lnTo>
                <a:cubicBezTo>
                  <a:pt x="66675" y="273487"/>
                  <a:pt x="68104" y="279916"/>
                  <a:pt x="70664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47650"/>
                </a:lnTo>
                <a:close/>
                <a:moveTo>
                  <a:pt x="310336" y="285750"/>
                </a:moveTo>
                <a:cubicBezTo>
                  <a:pt x="312896" y="279916"/>
                  <a:pt x="314325" y="273487"/>
                  <a:pt x="314325" y="266700"/>
                </a:cubicBezTo>
                <a:lnTo>
                  <a:pt x="314325" y="257175"/>
                </a:lnTo>
                <a:cubicBezTo>
                  <a:pt x="314325" y="225504"/>
                  <a:pt x="302419" y="196572"/>
                  <a:pt x="282833" y="174665"/>
                </a:cubicBezTo>
                <a:cubicBezTo>
                  <a:pt x="289798" y="172581"/>
                  <a:pt x="297180" y="171450"/>
                  <a:pt x="304800" y="171450"/>
                </a:cubicBezTo>
                <a:cubicBezTo>
                  <a:pt x="346889" y="171450"/>
                  <a:pt x="381000" y="205561"/>
                  <a:pt x="381000" y="247650"/>
                </a:cubicBezTo>
                <a:lnTo>
                  <a:pt x="381000" y="266700"/>
                </a:lnTo>
                <a:cubicBezTo>
                  <a:pt x="381000" y="277237"/>
                  <a:pt x="372487" y="285750"/>
                  <a:pt x="361950" y="285750"/>
                </a:cubicBezTo>
                <a:lnTo>
                  <a:pt x="310336" y="285750"/>
                </a:lnTo>
                <a:close/>
                <a:moveTo>
                  <a:pt x="280987" y="95250"/>
                </a:moveTo>
                <a:cubicBezTo>
                  <a:pt x="280987" y="71594"/>
                  <a:pt x="300194" y="52388"/>
                  <a:pt x="323850" y="52388"/>
                </a:cubicBezTo>
                <a:cubicBezTo>
                  <a:pt x="347506" y="52388"/>
                  <a:pt x="366712" y="71594"/>
                  <a:pt x="366712" y="95250"/>
                </a:cubicBezTo>
                <a:cubicBezTo>
                  <a:pt x="366712" y="118906"/>
                  <a:pt x="347506" y="138113"/>
                  <a:pt x="323850" y="138113"/>
                </a:cubicBezTo>
                <a:cubicBezTo>
                  <a:pt x="300194" y="138113"/>
                  <a:pt x="280987" y="118906"/>
                  <a:pt x="280987" y="95250"/>
                </a:cubicBezTo>
                <a:close/>
                <a:moveTo>
                  <a:pt x="95250" y="257175"/>
                </a:moveTo>
                <a:cubicBezTo>
                  <a:pt x="95250" y="204549"/>
                  <a:pt x="137874" y="161925"/>
                  <a:pt x="190500" y="161925"/>
                </a:cubicBezTo>
                <a:cubicBezTo>
                  <a:pt x="243126" y="161925"/>
                  <a:pt x="285750" y="204549"/>
                  <a:pt x="285750" y="257175"/>
                </a:cubicBezTo>
                <a:lnTo>
                  <a:pt x="285750" y="266700"/>
                </a:lnTo>
                <a:cubicBezTo>
                  <a:pt x="285750" y="277237"/>
                  <a:pt x="277237" y="285750"/>
                  <a:pt x="266700" y="285750"/>
                </a:cubicBezTo>
                <a:lnTo>
                  <a:pt x="114300" y="285750"/>
                </a:lnTo>
                <a:cubicBezTo>
                  <a:pt x="103763" y="285750"/>
                  <a:pt x="95250" y="277237"/>
                  <a:pt x="95250" y="266700"/>
                </a:cubicBezTo>
                <a:lnTo>
                  <a:pt x="95250" y="257175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13" name="Text 11"/>
          <p:cNvSpPr/>
          <p:nvPr/>
        </p:nvSpPr>
        <p:spPr>
          <a:xfrm>
            <a:off x="1689100" y="4813300"/>
            <a:ext cx="188595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8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应用价值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25500" y="5575300"/>
            <a:ext cx="77978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大幅降低理解门槛，提升公众的防灾意识和应对能力</a:t>
            </a:r>
            <a:r>
              <a:rPr lang="en-US" sz="16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50350" y="1885950"/>
            <a:ext cx="6591300" cy="5702300"/>
          </a:xfrm>
          <a:custGeom>
            <a:avLst/>
            <a:gdLst/>
            <a:ahLst/>
            <a:cxnLst/>
            <a:rect l="l" t="t" r="r" b="b"/>
            <a:pathLst>
              <a:path w="6591300" h="5702300">
                <a:moveTo>
                  <a:pt x="304788" y="0"/>
                </a:moveTo>
                <a:lnTo>
                  <a:pt x="6286512" y="0"/>
                </a:lnTo>
                <a:cubicBezTo>
                  <a:pt x="6454842" y="0"/>
                  <a:pt x="6591300" y="136458"/>
                  <a:pt x="6591300" y="304788"/>
                </a:cubicBezTo>
                <a:lnTo>
                  <a:pt x="6591300" y="5397512"/>
                </a:lnTo>
                <a:cubicBezTo>
                  <a:pt x="6591300" y="5565842"/>
                  <a:pt x="6454842" y="5702300"/>
                  <a:pt x="6286512" y="5702300"/>
                </a:cubicBezTo>
                <a:lnTo>
                  <a:pt x="304788" y="5702300"/>
                </a:lnTo>
                <a:cubicBezTo>
                  <a:pt x="136458" y="5702300"/>
                  <a:pt x="0" y="5565842"/>
                  <a:pt x="0" y="5397512"/>
                </a:cubicBezTo>
                <a:lnTo>
                  <a:pt x="0" y="304788"/>
                </a:lnTo>
                <a:cubicBezTo>
                  <a:pt x="0" y="136571"/>
                  <a:pt x="136571" y="0"/>
                  <a:pt x="304788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CA3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5F8CA3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4350" y="7905750"/>
            <a:ext cx="15227300" cy="723900"/>
          </a:xfrm>
          <a:custGeom>
            <a:avLst/>
            <a:gdLst/>
            <a:ahLst/>
            <a:cxnLst/>
            <a:rect l="l" t="t" r="r" b="b"/>
            <a:pathLst>
              <a:path w="15227300" h="723900">
                <a:moveTo>
                  <a:pt x="152403" y="0"/>
                </a:moveTo>
                <a:lnTo>
                  <a:pt x="15074897" y="0"/>
                </a:lnTo>
                <a:cubicBezTo>
                  <a:pt x="15159067" y="0"/>
                  <a:pt x="15227300" y="68233"/>
                  <a:pt x="15227300" y="152403"/>
                </a:cubicBezTo>
                <a:lnTo>
                  <a:pt x="15227300" y="571497"/>
                </a:lnTo>
                <a:cubicBezTo>
                  <a:pt x="15227300" y="655667"/>
                  <a:pt x="15159067" y="723900"/>
                  <a:pt x="15074897" y="723900"/>
                </a:cubicBezTo>
                <a:lnTo>
                  <a:pt x="152403" y="723900"/>
                </a:lnTo>
                <a:cubicBezTo>
                  <a:pt x="68233" y="723900"/>
                  <a:pt x="0" y="655667"/>
                  <a:pt x="0" y="5714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8FBC8F">
              <a:alpha val="10196"/>
            </a:srgbClr>
          </a:solidFill>
          <a:ln w="12700">
            <a:solidFill>
              <a:srgbClr val="8FBC8F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4550" y="81407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28" name="Text 26"/>
          <p:cNvSpPr/>
          <p:nvPr/>
        </p:nvSpPr>
        <p:spPr>
          <a:xfrm>
            <a:off x="3790950" y="8115300"/>
            <a:ext cx="9245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目的：</a:t>
            </a:r>
            <a:r>
              <a:rPr lang="en-US" sz="16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解决传统天气预报播报的乏味性，使之生动有趣，将抽象的预报数据转化为身临其境的视觉体验</a:t>
            </a:r>
            <a:endParaRPr lang="en-US" sz="1600" dirty="0"/>
          </a:p>
        </p:txBody>
      </p:sp>
      <p:pic>
        <p:nvPicPr>
          <p:cNvPr id="29" name="QQ视频20251220161136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173210" y="2197100"/>
            <a:ext cx="6568440" cy="4997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ippl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287e8a42052d04327ece663fb415ab70b023f392.jpg"/>
          <p:cNvPicPr>
            <a:picLocks noChangeAspect="1"/>
          </p:cNvPicPr>
          <p:nvPr/>
        </p:nvPicPr>
        <p:blipFill>
          <a:blip r:embed="rId1">
            <a:alphaModFix amt="20000"/>
          </a:blip>
          <a:srcRect t="6" b="6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3C6E9E">
                  <a:alpha val="15000"/>
                </a:srgbClr>
              </a:gs>
              <a:gs pos="100000">
                <a:srgbClr val="1A1D21">
                  <a:alpha val="90000"/>
                </a:srgbClr>
              </a:gs>
            </a:gsLst>
            <a:lin ang="0" scaled="1"/>
          </a:gradFill>
        </p:spPr>
        <p:txBody>
          <a:bodyPr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08000" y="2755900"/>
            <a:ext cx="1422400" cy="1422400"/>
          </a:xfrm>
          <a:custGeom>
            <a:avLst/>
            <a:gdLst/>
            <a:ahLst/>
            <a:cxnLst/>
            <a:rect l="l" t="t" r="r" b="b"/>
            <a:pathLst>
              <a:path w="1422400" h="1422400">
                <a:moveTo>
                  <a:pt x="304806" y="0"/>
                </a:moveTo>
                <a:lnTo>
                  <a:pt x="1117594" y="0"/>
                </a:lnTo>
                <a:cubicBezTo>
                  <a:pt x="1285821" y="0"/>
                  <a:pt x="1422400" y="136579"/>
                  <a:pt x="1422400" y="304806"/>
                </a:cubicBezTo>
                <a:lnTo>
                  <a:pt x="1422400" y="1117594"/>
                </a:lnTo>
                <a:cubicBezTo>
                  <a:pt x="1422400" y="1285821"/>
                  <a:pt x="1285821" y="1422400"/>
                  <a:pt x="1117594" y="1422400"/>
                </a:cubicBezTo>
                <a:lnTo>
                  <a:pt x="304806" y="1422400"/>
                </a:lnTo>
                <a:cubicBezTo>
                  <a:pt x="136579" y="1422400"/>
                  <a:pt x="0" y="1285821"/>
                  <a:pt x="0" y="1117594"/>
                </a:cubicBezTo>
                <a:lnTo>
                  <a:pt x="0" y="304806"/>
                </a:lnTo>
                <a:cubicBezTo>
                  <a:pt x="0" y="136579"/>
                  <a:pt x="136579" y="0"/>
                  <a:pt x="304806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/>
              </a:gs>
              <a:gs pos="100000">
                <a:srgbClr val="8FBC8F"/>
              </a:gs>
            </a:gsLst>
            <a:lin ang="2700000" scaled="1"/>
          </a:gradFill>
          <a:effectLst>
            <a:outerShdw blurRad="635000" dist="317500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63203" y="3086100"/>
            <a:ext cx="10922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235200" y="2959100"/>
            <a:ext cx="76200" cy="1016000"/>
          </a:xfrm>
          <a:custGeom>
            <a:avLst/>
            <a:gdLst/>
            <a:ahLst/>
            <a:cxnLst/>
            <a:rect l="l" t="t" r="r" b="b"/>
            <a:pathLst>
              <a:path w="76200" h="1016000">
                <a:moveTo>
                  <a:pt x="0" y="0"/>
                </a:moveTo>
                <a:lnTo>
                  <a:pt x="76200" y="0"/>
                </a:lnTo>
                <a:lnTo>
                  <a:pt x="762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C6E9E"/>
              </a:gs>
              <a:gs pos="0">
                <a:srgbClr val="FFFFFF"/>
              </a:gs>
              <a:gs pos="100000">
                <a:srgbClr val="8FBC8F"/>
              </a:gs>
            </a:gsLst>
            <a:lin ang="5400000" scaled="1"/>
          </a:gradFill>
        </p:spPr>
      </p:sp>
      <p:sp>
        <p:nvSpPr>
          <p:cNvPr id="8" name="Text 5"/>
          <p:cNvSpPr/>
          <p:nvPr/>
        </p:nvSpPr>
        <p:spPr>
          <a:xfrm>
            <a:off x="2616200" y="3073400"/>
            <a:ext cx="504571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展望与结语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336800" y="4724400"/>
            <a:ext cx="56007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从超本地精细化到全智能感知，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AI天气预测正在开启气象服务的新纪元。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336800" y="6121400"/>
            <a:ext cx="2946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5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探索未来发展趋势与技术的温度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09600"/>
            <a:ext cx="609600" cy="50800"/>
          </a:xfrm>
          <a:custGeom>
            <a:avLst/>
            <a:gdLst/>
            <a:ahLst/>
            <a:cxnLst/>
            <a:rect l="l" t="t" r="r" b="b"/>
            <a:pathLst>
              <a:path w="609600" h="50800">
                <a:moveTo>
                  <a:pt x="0" y="0"/>
                </a:moveTo>
                <a:lnTo>
                  <a:pt x="609600" y="0"/>
                </a:lnTo>
                <a:lnTo>
                  <a:pt x="609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C6E9E"/>
              </a:gs>
              <a:gs pos="100000">
                <a:srgbClr val="8FBC8F"/>
              </a:gs>
            </a:gsLst>
            <a:lin ang="0" scaled="1"/>
          </a:gradFill>
        </p:spPr>
      </p:sp>
      <p:sp>
        <p:nvSpPr>
          <p:cNvPr id="3" name="Text 1"/>
          <p:cNvSpPr/>
          <p:nvPr/>
        </p:nvSpPr>
        <p:spPr>
          <a:xfrm>
            <a:off x="1320800" y="508000"/>
            <a:ext cx="1943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280" dirty="0">
                <a:solidFill>
                  <a:srgbClr val="8FBC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FUTURE TRENDS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未来发展趋势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885950"/>
            <a:ext cx="4902200" cy="3543300"/>
          </a:xfrm>
          <a:custGeom>
            <a:avLst/>
            <a:gdLst/>
            <a:ahLst/>
            <a:cxnLst/>
            <a:rect l="l" t="t" r="r" b="b"/>
            <a:pathLst>
              <a:path w="4902200" h="3543300">
                <a:moveTo>
                  <a:pt x="203208" y="0"/>
                </a:moveTo>
                <a:lnTo>
                  <a:pt x="4698992" y="0"/>
                </a:lnTo>
                <a:cubicBezTo>
                  <a:pt x="4811221" y="0"/>
                  <a:pt x="4902200" y="90979"/>
                  <a:pt x="4902200" y="203208"/>
                </a:cubicBezTo>
                <a:lnTo>
                  <a:pt x="4902200" y="3340092"/>
                </a:lnTo>
                <a:cubicBezTo>
                  <a:pt x="4902200" y="3452321"/>
                  <a:pt x="4811221" y="3543300"/>
                  <a:pt x="4698992" y="3543300"/>
                </a:cubicBezTo>
                <a:lnTo>
                  <a:pt x="203208" y="3543300"/>
                </a:lnTo>
                <a:cubicBezTo>
                  <a:pt x="90979" y="3543300"/>
                  <a:pt x="0" y="3452321"/>
                  <a:pt x="0" y="3340092"/>
                </a:cubicBezTo>
                <a:lnTo>
                  <a:pt x="0" y="203208"/>
                </a:lnTo>
                <a:cubicBezTo>
                  <a:pt x="0" y="91055"/>
                  <a:pt x="91055" y="0"/>
                  <a:pt x="203208" y="0"/>
                </a:cubicBezTo>
                <a:close/>
              </a:path>
            </a:pathLst>
          </a:custGeom>
          <a:gradFill flip="none" rotWithShape="1">
            <a:gsLst>
              <a:gs pos="0">
                <a:srgbClr val="8FBC8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8FBC8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5500" y="21971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FBC8F">
              <a:alpha val="4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1041400" y="24511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342900" y="28575"/>
                </a:moveTo>
                <a:cubicBezTo>
                  <a:pt x="342900" y="21967"/>
                  <a:pt x="339507" y="15835"/>
                  <a:pt x="333851" y="12383"/>
                </a:cubicBezTo>
                <a:cubicBezTo>
                  <a:pt x="328196" y="8930"/>
                  <a:pt x="321231" y="8573"/>
                  <a:pt x="315337" y="11549"/>
                </a:cubicBezTo>
                <a:lnTo>
                  <a:pt x="246162" y="46137"/>
                </a:lnTo>
                <a:lnTo>
                  <a:pt x="139363" y="10478"/>
                </a:lnTo>
                <a:cubicBezTo>
                  <a:pt x="134541" y="8870"/>
                  <a:pt x="129361" y="9227"/>
                  <a:pt x="124837" y="11490"/>
                </a:cubicBezTo>
                <a:lnTo>
                  <a:pt x="48637" y="49590"/>
                </a:lnTo>
                <a:cubicBezTo>
                  <a:pt x="42148" y="52864"/>
                  <a:pt x="38100" y="59472"/>
                  <a:pt x="38100" y="66675"/>
                </a:cubicBezTo>
                <a:lnTo>
                  <a:pt x="38100" y="276225"/>
                </a:lnTo>
                <a:cubicBezTo>
                  <a:pt x="38100" y="282833"/>
                  <a:pt x="41493" y="288965"/>
                  <a:pt x="47149" y="292418"/>
                </a:cubicBezTo>
                <a:cubicBezTo>
                  <a:pt x="52804" y="295870"/>
                  <a:pt x="59769" y="296227"/>
                  <a:pt x="65663" y="293251"/>
                </a:cubicBezTo>
                <a:lnTo>
                  <a:pt x="134779" y="258663"/>
                </a:lnTo>
                <a:lnTo>
                  <a:pt x="237946" y="293072"/>
                </a:lnTo>
                <a:cubicBezTo>
                  <a:pt x="235387" y="289262"/>
                  <a:pt x="232886" y="285274"/>
                  <a:pt x="230445" y="281226"/>
                </a:cubicBezTo>
                <a:cubicBezTo>
                  <a:pt x="223897" y="270331"/>
                  <a:pt x="217408" y="257830"/>
                  <a:pt x="212586" y="244435"/>
                </a:cubicBezTo>
                <a:lnTo>
                  <a:pt x="152340" y="224373"/>
                </a:lnTo>
                <a:lnTo>
                  <a:pt x="152340" y="55007"/>
                </a:lnTo>
                <a:lnTo>
                  <a:pt x="228540" y="80427"/>
                </a:lnTo>
                <a:lnTo>
                  <a:pt x="228540" y="139541"/>
                </a:lnTo>
                <a:cubicBezTo>
                  <a:pt x="246995" y="118229"/>
                  <a:pt x="274380" y="104775"/>
                  <a:pt x="304740" y="104775"/>
                </a:cubicBezTo>
                <a:cubicBezTo>
                  <a:pt x="318195" y="104775"/>
                  <a:pt x="331053" y="107394"/>
                  <a:pt x="342840" y="112216"/>
                </a:cubicBezTo>
                <a:lnTo>
                  <a:pt x="342900" y="28575"/>
                </a:lnTo>
                <a:close/>
                <a:moveTo>
                  <a:pt x="304800" y="133350"/>
                </a:moveTo>
                <a:cubicBezTo>
                  <a:pt x="265331" y="133350"/>
                  <a:pt x="233363" y="164783"/>
                  <a:pt x="233363" y="203537"/>
                </a:cubicBezTo>
                <a:cubicBezTo>
                  <a:pt x="233363" y="244554"/>
                  <a:pt x="271522" y="293072"/>
                  <a:pt x="292060" y="316230"/>
                </a:cubicBezTo>
                <a:cubicBezTo>
                  <a:pt x="298966" y="323969"/>
                  <a:pt x="310694" y="323969"/>
                  <a:pt x="317599" y="316230"/>
                </a:cubicBezTo>
                <a:cubicBezTo>
                  <a:pt x="338138" y="293072"/>
                  <a:pt x="376297" y="244554"/>
                  <a:pt x="376297" y="203537"/>
                </a:cubicBezTo>
                <a:cubicBezTo>
                  <a:pt x="376297" y="164783"/>
                  <a:pt x="344329" y="133350"/>
                  <a:pt x="304860" y="133350"/>
                </a:cubicBezTo>
                <a:close/>
                <a:moveTo>
                  <a:pt x="280987" y="204787"/>
                </a:moveTo>
                <a:cubicBezTo>
                  <a:pt x="280987" y="191645"/>
                  <a:pt x="291658" y="180975"/>
                  <a:pt x="304800" y="180975"/>
                </a:cubicBezTo>
                <a:cubicBezTo>
                  <a:pt x="317942" y="180975"/>
                  <a:pt x="328613" y="191645"/>
                  <a:pt x="328613" y="204787"/>
                </a:cubicBezTo>
                <a:cubicBezTo>
                  <a:pt x="328613" y="217930"/>
                  <a:pt x="317942" y="228600"/>
                  <a:pt x="304800" y="228600"/>
                </a:cubicBezTo>
                <a:cubicBezTo>
                  <a:pt x="291658" y="228600"/>
                  <a:pt x="280987" y="217930"/>
                  <a:pt x="280987" y="204787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8" name="Text 6"/>
          <p:cNvSpPr/>
          <p:nvPr/>
        </p:nvSpPr>
        <p:spPr>
          <a:xfrm>
            <a:off x="1841500" y="2298700"/>
            <a:ext cx="1867535" cy="638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超本地精细化</a:t>
            </a:r>
            <a:endParaRPr lang="en-US" sz="2400" b="1" dirty="0">
              <a:solidFill>
                <a:srgbClr val="E0E0E0"/>
              </a:solidFill>
              <a:latin typeface="得意黑" pitchFamily="34" charset="-122"/>
              <a:ea typeface="得意黑" pitchFamily="34" charset="-122"/>
              <a:cs typeface="得意黑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5500" y="3213100"/>
            <a:ext cx="43815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如日本Weathernews公司，利用AI分析1平方公里内数据，可提前10分钟预警突发性暴雨，精度达90%以上。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25500" y="4356100"/>
            <a:ext cx="2082800" cy="762000"/>
          </a:xfrm>
          <a:custGeom>
            <a:avLst/>
            <a:gdLst/>
            <a:ahLst/>
            <a:cxnLst/>
            <a:rect l="l" t="t" r="r" b="b"/>
            <a:pathLst>
              <a:path w="2082800" h="762000">
                <a:moveTo>
                  <a:pt x="101597" y="0"/>
                </a:moveTo>
                <a:lnTo>
                  <a:pt x="1981203" y="0"/>
                </a:lnTo>
                <a:cubicBezTo>
                  <a:pt x="2037313" y="0"/>
                  <a:pt x="2082800" y="45487"/>
                  <a:pt x="2082800" y="101597"/>
                </a:cubicBezTo>
                <a:lnTo>
                  <a:pt x="2082800" y="660403"/>
                </a:lnTo>
                <a:cubicBezTo>
                  <a:pt x="2082800" y="716513"/>
                  <a:pt x="2037313" y="762000"/>
                  <a:pt x="19812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8FBC8F">
              <a:alpha val="2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869950" y="4457700"/>
            <a:ext cx="1993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8FBC8F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1km²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" y="4813300"/>
            <a:ext cx="19558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精度范围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14067" y="4356100"/>
            <a:ext cx="2082800" cy="762000"/>
          </a:xfrm>
          <a:custGeom>
            <a:avLst/>
            <a:gdLst/>
            <a:ahLst/>
            <a:cxnLst/>
            <a:rect l="l" t="t" r="r" b="b"/>
            <a:pathLst>
              <a:path w="2082800" h="762000">
                <a:moveTo>
                  <a:pt x="101597" y="0"/>
                </a:moveTo>
                <a:lnTo>
                  <a:pt x="1981203" y="0"/>
                </a:lnTo>
                <a:cubicBezTo>
                  <a:pt x="2037313" y="0"/>
                  <a:pt x="2082800" y="45487"/>
                  <a:pt x="2082800" y="101597"/>
                </a:cubicBezTo>
                <a:lnTo>
                  <a:pt x="2082800" y="660403"/>
                </a:lnTo>
                <a:cubicBezTo>
                  <a:pt x="2082800" y="716513"/>
                  <a:pt x="2037313" y="762000"/>
                  <a:pt x="19812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8FBC8F">
              <a:alpha val="2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3058517" y="4457700"/>
            <a:ext cx="1993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8FBC8F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10min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77567" y="4813300"/>
            <a:ext cx="19558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提前预警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78884" y="1885950"/>
            <a:ext cx="4902200" cy="3543300"/>
          </a:xfrm>
          <a:custGeom>
            <a:avLst/>
            <a:gdLst/>
            <a:ahLst/>
            <a:cxnLst/>
            <a:rect l="l" t="t" r="r" b="b"/>
            <a:pathLst>
              <a:path w="4902200" h="3543300">
                <a:moveTo>
                  <a:pt x="203208" y="0"/>
                </a:moveTo>
                <a:lnTo>
                  <a:pt x="4698992" y="0"/>
                </a:lnTo>
                <a:cubicBezTo>
                  <a:pt x="4811221" y="0"/>
                  <a:pt x="4902200" y="90979"/>
                  <a:pt x="4902200" y="203208"/>
                </a:cubicBezTo>
                <a:lnTo>
                  <a:pt x="4902200" y="3340092"/>
                </a:lnTo>
                <a:cubicBezTo>
                  <a:pt x="4902200" y="3452321"/>
                  <a:pt x="4811221" y="3543300"/>
                  <a:pt x="4698992" y="3543300"/>
                </a:cubicBezTo>
                <a:lnTo>
                  <a:pt x="203208" y="3543300"/>
                </a:lnTo>
                <a:cubicBezTo>
                  <a:pt x="90979" y="3543300"/>
                  <a:pt x="0" y="3452321"/>
                  <a:pt x="0" y="3340092"/>
                </a:cubicBezTo>
                <a:lnTo>
                  <a:pt x="0" y="203208"/>
                </a:lnTo>
                <a:cubicBezTo>
                  <a:pt x="0" y="91055"/>
                  <a:pt x="91055" y="0"/>
                  <a:pt x="203208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C6E9E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90034" y="21971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C6E9E">
              <a:alpha val="4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6244034" y="2451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8513" y="19050"/>
                  <a:pt x="0" y="27563"/>
                  <a:pt x="0" y="38100"/>
                </a:cubicBezTo>
                <a:lnTo>
                  <a:pt x="0" y="257175"/>
                </a:lnTo>
                <a:cubicBezTo>
                  <a:pt x="0" y="272951"/>
                  <a:pt x="12799" y="285750"/>
                  <a:pt x="28575" y="285750"/>
                </a:cubicBezTo>
                <a:lnTo>
                  <a:pt x="276225" y="285750"/>
                </a:lnTo>
                <a:cubicBezTo>
                  <a:pt x="292001" y="285750"/>
                  <a:pt x="304800" y="272951"/>
                  <a:pt x="304800" y="257175"/>
                </a:cubicBezTo>
                <a:lnTo>
                  <a:pt x="304800" y="90607"/>
                </a:lnTo>
                <a:cubicBezTo>
                  <a:pt x="304800" y="79772"/>
                  <a:pt x="293251" y="72926"/>
                  <a:pt x="283726" y="78045"/>
                </a:cubicBezTo>
                <a:lnTo>
                  <a:pt x="190500" y="128230"/>
                </a:lnTo>
                <a:lnTo>
                  <a:pt x="190500" y="90607"/>
                </a:lnTo>
                <a:cubicBezTo>
                  <a:pt x="190500" y="79772"/>
                  <a:pt x="178951" y="72926"/>
                  <a:pt x="169426" y="78045"/>
                </a:cubicBezTo>
                <a:lnTo>
                  <a:pt x="76200" y="128230"/>
                </a:lnTo>
                <a:lnTo>
                  <a:pt x="76200" y="38100"/>
                </a:lnTo>
                <a:cubicBezTo>
                  <a:pt x="76200" y="27563"/>
                  <a:pt x="67687" y="19050"/>
                  <a:pt x="57150" y="19050"/>
                </a:cubicBezTo>
                <a:lnTo>
                  <a:pt x="19050" y="19050"/>
                </a:lnTo>
                <a:close/>
              </a:path>
            </a:pathLst>
          </a:custGeom>
          <a:solidFill>
            <a:srgbClr val="E0E0E0"/>
          </a:solidFill>
        </p:spPr>
      </p:sp>
      <p:sp>
        <p:nvSpPr>
          <p:cNvPr id="20" name="Text 18"/>
          <p:cNvSpPr/>
          <p:nvPr/>
        </p:nvSpPr>
        <p:spPr>
          <a:xfrm>
            <a:off x="6955155" y="2298700"/>
            <a:ext cx="178943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行业定制</a:t>
            </a:r>
            <a:endParaRPr lang="en-US" sz="2400" b="1" dirty="0">
              <a:solidFill>
                <a:srgbClr val="E0E0E0"/>
              </a:solidFill>
              <a:latin typeface="得意黑" pitchFamily="34" charset="-122"/>
              <a:ea typeface="得意黑" pitchFamily="34" charset="-122"/>
              <a:cs typeface="得意黑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990034" y="3213100"/>
            <a:ext cx="43815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农业、交通、能源等领域的专门AI气象模型将大规模应用，为不同行业提供个性化、专业化的气象服务。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990034" y="4356100"/>
            <a:ext cx="1358900" cy="762000"/>
          </a:xfrm>
          <a:custGeom>
            <a:avLst/>
            <a:gdLst/>
            <a:ahLst/>
            <a:cxnLst/>
            <a:rect l="l" t="t" r="r" b="b"/>
            <a:pathLst>
              <a:path w="1358900" h="762000">
                <a:moveTo>
                  <a:pt x="101597" y="0"/>
                </a:moveTo>
                <a:lnTo>
                  <a:pt x="1257303" y="0"/>
                </a:lnTo>
                <a:cubicBezTo>
                  <a:pt x="1313413" y="0"/>
                  <a:pt x="1358900" y="45487"/>
                  <a:pt x="1358900" y="101597"/>
                </a:cubicBezTo>
                <a:lnTo>
                  <a:pt x="1358900" y="660403"/>
                </a:lnTo>
                <a:cubicBezTo>
                  <a:pt x="1358900" y="716513"/>
                  <a:pt x="1313413" y="762000"/>
                  <a:pt x="12573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6554391" y="44958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63500" y="38100"/>
                </a:moveTo>
                <a:lnTo>
                  <a:pt x="63500" y="76200"/>
                </a:lnTo>
                <a:lnTo>
                  <a:pt x="116443" y="76200"/>
                </a:lnTo>
                <a:lnTo>
                  <a:pt x="93583" y="38100"/>
                </a:lnTo>
                <a:lnTo>
                  <a:pt x="63500" y="38100"/>
                </a:lnTo>
                <a:close/>
                <a:moveTo>
                  <a:pt x="38100" y="88503"/>
                </a:moveTo>
                <a:lnTo>
                  <a:pt x="38100" y="25400"/>
                </a:lnTo>
                <a:cubicBezTo>
                  <a:pt x="38100" y="18375"/>
                  <a:pt x="43775" y="12700"/>
                  <a:pt x="50800" y="12700"/>
                </a:cubicBezTo>
                <a:lnTo>
                  <a:pt x="93583" y="12700"/>
                </a:lnTo>
                <a:cubicBezTo>
                  <a:pt x="102513" y="12700"/>
                  <a:pt x="110768" y="17383"/>
                  <a:pt x="115372" y="25043"/>
                </a:cubicBezTo>
                <a:lnTo>
                  <a:pt x="146090" y="76200"/>
                </a:lnTo>
                <a:lnTo>
                  <a:pt x="171490" y="76200"/>
                </a:lnTo>
                <a:lnTo>
                  <a:pt x="171490" y="47625"/>
                </a:lnTo>
                <a:cubicBezTo>
                  <a:pt x="171490" y="42347"/>
                  <a:pt x="175736" y="38100"/>
                  <a:pt x="181015" y="38100"/>
                </a:cubicBezTo>
                <a:cubicBezTo>
                  <a:pt x="186293" y="38100"/>
                  <a:pt x="190540" y="42347"/>
                  <a:pt x="190540" y="47625"/>
                </a:cubicBezTo>
                <a:lnTo>
                  <a:pt x="190540" y="76200"/>
                </a:lnTo>
                <a:lnTo>
                  <a:pt x="209590" y="76200"/>
                </a:lnTo>
                <a:cubicBezTo>
                  <a:pt x="220107" y="76200"/>
                  <a:pt x="228640" y="84733"/>
                  <a:pt x="228640" y="95250"/>
                </a:cubicBezTo>
                <a:lnTo>
                  <a:pt x="228640" y="111720"/>
                </a:lnTo>
                <a:cubicBezTo>
                  <a:pt x="228640" y="117356"/>
                  <a:pt x="226139" y="122753"/>
                  <a:pt x="221774" y="126365"/>
                </a:cubicBezTo>
                <a:lnTo>
                  <a:pt x="207883" y="137954"/>
                </a:lnTo>
                <a:cubicBezTo>
                  <a:pt x="218400" y="143986"/>
                  <a:pt x="225465" y="155297"/>
                  <a:pt x="225465" y="168275"/>
                </a:cubicBezTo>
                <a:cubicBezTo>
                  <a:pt x="225465" y="187563"/>
                  <a:pt x="209828" y="203200"/>
                  <a:pt x="190540" y="203200"/>
                </a:cubicBezTo>
                <a:cubicBezTo>
                  <a:pt x="171252" y="203200"/>
                  <a:pt x="155615" y="187563"/>
                  <a:pt x="155615" y="168275"/>
                </a:cubicBezTo>
                <a:cubicBezTo>
                  <a:pt x="155615" y="162560"/>
                  <a:pt x="157004" y="157163"/>
                  <a:pt x="159425" y="152400"/>
                </a:cubicBezTo>
                <a:lnTo>
                  <a:pt x="119261" y="152400"/>
                </a:lnTo>
                <a:cubicBezTo>
                  <a:pt x="118070" y="157718"/>
                  <a:pt x="116126" y="162719"/>
                  <a:pt x="113546" y="167362"/>
                </a:cubicBezTo>
                <a:cubicBezTo>
                  <a:pt x="116602" y="171093"/>
                  <a:pt x="116403" y="176649"/>
                  <a:pt x="112911" y="180142"/>
                </a:cubicBezTo>
                <a:lnTo>
                  <a:pt x="103942" y="189111"/>
                </a:lnTo>
                <a:cubicBezTo>
                  <a:pt x="100449" y="192603"/>
                  <a:pt x="94933" y="192802"/>
                  <a:pt x="91162" y="189746"/>
                </a:cubicBezTo>
                <a:cubicBezTo>
                  <a:pt x="87471" y="191810"/>
                  <a:pt x="83503" y="193437"/>
                  <a:pt x="79335" y="194628"/>
                </a:cubicBezTo>
                <a:cubicBezTo>
                  <a:pt x="78859" y="199430"/>
                  <a:pt x="74811" y="203200"/>
                  <a:pt x="69850" y="203200"/>
                </a:cubicBezTo>
                <a:lnTo>
                  <a:pt x="57150" y="203200"/>
                </a:lnTo>
                <a:cubicBezTo>
                  <a:pt x="52229" y="203200"/>
                  <a:pt x="48141" y="199430"/>
                  <a:pt x="47665" y="194628"/>
                </a:cubicBezTo>
                <a:cubicBezTo>
                  <a:pt x="43498" y="193437"/>
                  <a:pt x="39568" y="191770"/>
                  <a:pt x="35838" y="189746"/>
                </a:cubicBezTo>
                <a:cubicBezTo>
                  <a:pt x="32107" y="192802"/>
                  <a:pt x="26551" y="192603"/>
                  <a:pt x="23058" y="189111"/>
                </a:cubicBezTo>
                <a:lnTo>
                  <a:pt x="14089" y="180102"/>
                </a:lnTo>
                <a:cubicBezTo>
                  <a:pt x="10597" y="176609"/>
                  <a:pt x="10398" y="171093"/>
                  <a:pt x="13454" y="167323"/>
                </a:cubicBezTo>
                <a:cubicBezTo>
                  <a:pt x="11390" y="163632"/>
                  <a:pt x="9763" y="159663"/>
                  <a:pt x="8573" y="155496"/>
                </a:cubicBezTo>
                <a:cubicBezTo>
                  <a:pt x="3770" y="155019"/>
                  <a:pt x="0" y="150971"/>
                  <a:pt x="0" y="146010"/>
                </a:cubicBezTo>
                <a:lnTo>
                  <a:pt x="0" y="133310"/>
                </a:lnTo>
                <a:cubicBezTo>
                  <a:pt x="0" y="128389"/>
                  <a:pt x="3770" y="124301"/>
                  <a:pt x="8573" y="123825"/>
                </a:cubicBezTo>
                <a:cubicBezTo>
                  <a:pt x="9763" y="119658"/>
                  <a:pt x="11430" y="115729"/>
                  <a:pt x="13454" y="111998"/>
                </a:cubicBezTo>
                <a:cubicBezTo>
                  <a:pt x="10398" y="108268"/>
                  <a:pt x="10597" y="102711"/>
                  <a:pt x="14089" y="99219"/>
                </a:cubicBezTo>
                <a:lnTo>
                  <a:pt x="23058" y="90249"/>
                </a:lnTo>
                <a:cubicBezTo>
                  <a:pt x="26551" y="86757"/>
                  <a:pt x="32068" y="86558"/>
                  <a:pt x="35838" y="89614"/>
                </a:cubicBezTo>
                <a:cubicBezTo>
                  <a:pt x="36592" y="89218"/>
                  <a:pt x="37306" y="88821"/>
                  <a:pt x="38100" y="88424"/>
                </a:cubicBezTo>
                <a:close/>
                <a:moveTo>
                  <a:pt x="63500" y="114300"/>
                </a:moveTo>
                <a:cubicBezTo>
                  <a:pt x="49481" y="114300"/>
                  <a:pt x="38100" y="125681"/>
                  <a:pt x="38100" y="139700"/>
                </a:cubicBezTo>
                <a:cubicBezTo>
                  <a:pt x="38100" y="153719"/>
                  <a:pt x="49481" y="165100"/>
                  <a:pt x="63500" y="165100"/>
                </a:cubicBezTo>
                <a:cubicBezTo>
                  <a:pt x="77519" y="165100"/>
                  <a:pt x="88900" y="153719"/>
                  <a:pt x="88900" y="139700"/>
                </a:cubicBezTo>
                <a:cubicBezTo>
                  <a:pt x="88900" y="125681"/>
                  <a:pt x="77519" y="114300"/>
                  <a:pt x="63500" y="114300"/>
                </a:cubicBezTo>
                <a:close/>
                <a:moveTo>
                  <a:pt x="174625" y="168275"/>
                </a:moveTo>
                <a:cubicBezTo>
                  <a:pt x="174625" y="177037"/>
                  <a:pt x="181738" y="184150"/>
                  <a:pt x="190500" y="184150"/>
                </a:cubicBezTo>
                <a:cubicBezTo>
                  <a:pt x="199262" y="184150"/>
                  <a:pt x="206375" y="177037"/>
                  <a:pt x="206375" y="168275"/>
                </a:cubicBezTo>
                <a:cubicBezTo>
                  <a:pt x="206375" y="159513"/>
                  <a:pt x="199262" y="152400"/>
                  <a:pt x="190500" y="152400"/>
                </a:cubicBezTo>
                <a:cubicBezTo>
                  <a:pt x="181738" y="152400"/>
                  <a:pt x="174625" y="159513"/>
                  <a:pt x="174625" y="168275"/>
                </a:cubicBezTo>
                <a:close/>
              </a:path>
            </a:pathLst>
          </a:custGeom>
          <a:solidFill>
            <a:srgbClr val="E0E0E0"/>
          </a:solidFill>
        </p:spPr>
      </p:sp>
      <p:sp>
        <p:nvSpPr>
          <p:cNvPr id="25" name="Text 23"/>
          <p:cNvSpPr/>
          <p:nvPr/>
        </p:nvSpPr>
        <p:spPr>
          <a:xfrm>
            <a:off x="6053534" y="4813300"/>
            <a:ext cx="12319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农业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49145" y="4356100"/>
            <a:ext cx="1358900" cy="762000"/>
          </a:xfrm>
          <a:custGeom>
            <a:avLst/>
            <a:gdLst/>
            <a:ahLst/>
            <a:cxnLst/>
            <a:rect l="l" t="t" r="r" b="b"/>
            <a:pathLst>
              <a:path w="1358900" h="762000">
                <a:moveTo>
                  <a:pt x="101597" y="0"/>
                </a:moveTo>
                <a:lnTo>
                  <a:pt x="1257303" y="0"/>
                </a:lnTo>
                <a:cubicBezTo>
                  <a:pt x="1313413" y="0"/>
                  <a:pt x="1358900" y="45487"/>
                  <a:pt x="1358900" y="101597"/>
                </a:cubicBezTo>
                <a:lnTo>
                  <a:pt x="1358900" y="660403"/>
                </a:lnTo>
                <a:cubicBezTo>
                  <a:pt x="1358900" y="716513"/>
                  <a:pt x="1313413" y="762000"/>
                  <a:pt x="12573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8026202" y="4495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53657" y="46593"/>
                </a:moveTo>
                <a:lnTo>
                  <a:pt x="43299" y="76200"/>
                </a:lnTo>
                <a:lnTo>
                  <a:pt x="159901" y="76200"/>
                </a:lnTo>
                <a:lnTo>
                  <a:pt x="149542" y="46593"/>
                </a:lnTo>
                <a:cubicBezTo>
                  <a:pt x="147757" y="41513"/>
                  <a:pt x="142954" y="38100"/>
                  <a:pt x="137557" y="38100"/>
                </a:cubicBezTo>
                <a:lnTo>
                  <a:pt x="65643" y="38100"/>
                </a:lnTo>
                <a:cubicBezTo>
                  <a:pt x="60246" y="38100"/>
                  <a:pt x="55443" y="41513"/>
                  <a:pt x="53658" y="46593"/>
                </a:cubicBezTo>
                <a:close/>
                <a:moveTo>
                  <a:pt x="15716" y="78105"/>
                </a:moveTo>
                <a:lnTo>
                  <a:pt x="29686" y="38219"/>
                </a:lnTo>
                <a:cubicBezTo>
                  <a:pt x="35044" y="22939"/>
                  <a:pt x="49451" y="12700"/>
                  <a:pt x="65643" y="12700"/>
                </a:cubicBezTo>
                <a:lnTo>
                  <a:pt x="137557" y="12700"/>
                </a:lnTo>
                <a:cubicBezTo>
                  <a:pt x="153749" y="12700"/>
                  <a:pt x="168156" y="22939"/>
                  <a:pt x="173514" y="38219"/>
                </a:cubicBezTo>
                <a:lnTo>
                  <a:pt x="187484" y="78105"/>
                </a:lnTo>
                <a:cubicBezTo>
                  <a:pt x="196691" y="81915"/>
                  <a:pt x="203200" y="91003"/>
                  <a:pt x="203200" y="101600"/>
                </a:cubicBezTo>
                <a:lnTo>
                  <a:pt x="203200" y="177800"/>
                </a:lnTo>
                <a:cubicBezTo>
                  <a:pt x="203200" y="184825"/>
                  <a:pt x="197525" y="190500"/>
                  <a:pt x="190500" y="190500"/>
                </a:cubicBezTo>
                <a:lnTo>
                  <a:pt x="177800" y="190500"/>
                </a:lnTo>
                <a:cubicBezTo>
                  <a:pt x="170775" y="190500"/>
                  <a:pt x="165100" y="184825"/>
                  <a:pt x="165100" y="177800"/>
                </a:cubicBezTo>
                <a:lnTo>
                  <a:pt x="165100" y="165100"/>
                </a:lnTo>
                <a:lnTo>
                  <a:pt x="38100" y="165100"/>
                </a:lnTo>
                <a:lnTo>
                  <a:pt x="38100" y="177800"/>
                </a:lnTo>
                <a:cubicBezTo>
                  <a:pt x="38100" y="184825"/>
                  <a:pt x="32425" y="190500"/>
                  <a:pt x="25400" y="190500"/>
                </a:cubicBezTo>
                <a:lnTo>
                  <a:pt x="12700" y="190500"/>
                </a:lnTo>
                <a:cubicBezTo>
                  <a:pt x="5675" y="190500"/>
                  <a:pt x="0" y="184825"/>
                  <a:pt x="0" y="177800"/>
                </a:cubicBezTo>
                <a:lnTo>
                  <a:pt x="0" y="101600"/>
                </a:lnTo>
                <a:cubicBezTo>
                  <a:pt x="0" y="91003"/>
                  <a:pt x="6509" y="81915"/>
                  <a:pt x="15716" y="78105"/>
                </a:cubicBezTo>
                <a:close/>
                <a:moveTo>
                  <a:pt x="50800" y="120650"/>
                </a:moveTo>
                <a:cubicBezTo>
                  <a:pt x="50800" y="113641"/>
                  <a:pt x="45109" y="107950"/>
                  <a:pt x="38100" y="107950"/>
                </a:cubicBezTo>
                <a:cubicBezTo>
                  <a:pt x="31091" y="107950"/>
                  <a:pt x="25400" y="113641"/>
                  <a:pt x="25400" y="120650"/>
                </a:cubicBezTo>
                <a:cubicBezTo>
                  <a:pt x="25400" y="127659"/>
                  <a:pt x="31091" y="133350"/>
                  <a:pt x="38100" y="133350"/>
                </a:cubicBezTo>
                <a:cubicBezTo>
                  <a:pt x="45109" y="133350"/>
                  <a:pt x="50800" y="127659"/>
                  <a:pt x="50800" y="120650"/>
                </a:cubicBezTo>
                <a:close/>
                <a:moveTo>
                  <a:pt x="165100" y="133350"/>
                </a:moveTo>
                <a:cubicBezTo>
                  <a:pt x="172109" y="133350"/>
                  <a:pt x="177800" y="127659"/>
                  <a:pt x="177800" y="120650"/>
                </a:cubicBezTo>
                <a:cubicBezTo>
                  <a:pt x="177800" y="113641"/>
                  <a:pt x="172109" y="107950"/>
                  <a:pt x="165100" y="107950"/>
                </a:cubicBezTo>
                <a:cubicBezTo>
                  <a:pt x="158091" y="107950"/>
                  <a:pt x="152400" y="113641"/>
                  <a:pt x="152400" y="120650"/>
                </a:cubicBezTo>
                <a:cubicBezTo>
                  <a:pt x="152400" y="127659"/>
                  <a:pt x="158091" y="133350"/>
                  <a:pt x="165100" y="133350"/>
                </a:cubicBezTo>
                <a:close/>
              </a:path>
            </a:pathLst>
          </a:custGeom>
          <a:solidFill>
            <a:srgbClr val="E0E0E0"/>
          </a:solidFill>
        </p:spPr>
      </p:sp>
      <p:sp>
        <p:nvSpPr>
          <p:cNvPr id="28" name="Text 26"/>
          <p:cNvSpPr/>
          <p:nvPr/>
        </p:nvSpPr>
        <p:spPr>
          <a:xfrm>
            <a:off x="7512645" y="4813300"/>
            <a:ext cx="12319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交通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08256" y="4356100"/>
            <a:ext cx="1358900" cy="762000"/>
          </a:xfrm>
          <a:custGeom>
            <a:avLst/>
            <a:gdLst/>
            <a:ahLst/>
            <a:cxnLst/>
            <a:rect l="l" t="t" r="r" b="b"/>
            <a:pathLst>
              <a:path w="1358900" h="762000">
                <a:moveTo>
                  <a:pt x="101597" y="0"/>
                </a:moveTo>
                <a:lnTo>
                  <a:pt x="1257303" y="0"/>
                </a:lnTo>
                <a:cubicBezTo>
                  <a:pt x="1313413" y="0"/>
                  <a:pt x="1358900" y="45487"/>
                  <a:pt x="1358900" y="101597"/>
                </a:cubicBezTo>
                <a:lnTo>
                  <a:pt x="1358900" y="660403"/>
                </a:lnTo>
                <a:cubicBezTo>
                  <a:pt x="1358900" y="716513"/>
                  <a:pt x="1313413" y="762000"/>
                  <a:pt x="12573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3C6E9E">
              <a:alpha val="2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9498013" y="44958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34461" y="-3929"/>
                </a:moveTo>
                <a:cubicBezTo>
                  <a:pt x="139184" y="-516"/>
                  <a:pt x="140930" y="5675"/>
                  <a:pt x="138787" y="11073"/>
                </a:cubicBezTo>
                <a:lnTo>
                  <a:pt x="107672" y="88900"/>
                </a:lnTo>
                <a:lnTo>
                  <a:pt x="165100" y="88900"/>
                </a:lnTo>
                <a:cubicBezTo>
                  <a:pt x="170458" y="88900"/>
                  <a:pt x="175220" y="92234"/>
                  <a:pt x="177046" y="97274"/>
                </a:cubicBezTo>
                <a:cubicBezTo>
                  <a:pt x="178872" y="102314"/>
                  <a:pt x="177324" y="107950"/>
                  <a:pt x="173236" y="111363"/>
                </a:cubicBezTo>
                <a:lnTo>
                  <a:pt x="58936" y="206613"/>
                </a:lnTo>
                <a:cubicBezTo>
                  <a:pt x="54451" y="210344"/>
                  <a:pt x="48062" y="210542"/>
                  <a:pt x="43339" y="207129"/>
                </a:cubicBezTo>
                <a:cubicBezTo>
                  <a:pt x="38616" y="203716"/>
                  <a:pt x="36870" y="197525"/>
                  <a:pt x="39013" y="192127"/>
                </a:cubicBezTo>
                <a:lnTo>
                  <a:pt x="70128" y="114300"/>
                </a:lnTo>
                <a:lnTo>
                  <a:pt x="12700" y="114300"/>
                </a:lnTo>
                <a:cubicBezTo>
                  <a:pt x="7342" y="114300"/>
                  <a:pt x="2580" y="110966"/>
                  <a:pt x="754" y="105926"/>
                </a:cubicBezTo>
                <a:cubicBezTo>
                  <a:pt x="-1072" y="100886"/>
                  <a:pt x="476" y="95250"/>
                  <a:pt x="4564" y="91837"/>
                </a:cubicBezTo>
                <a:lnTo>
                  <a:pt x="118864" y="-3413"/>
                </a:lnTo>
                <a:cubicBezTo>
                  <a:pt x="123349" y="-7144"/>
                  <a:pt x="129738" y="-7342"/>
                  <a:pt x="134461" y="-3929"/>
                </a:cubicBezTo>
                <a:close/>
              </a:path>
            </a:pathLst>
          </a:custGeom>
          <a:solidFill>
            <a:srgbClr val="E0E0E0"/>
          </a:solidFill>
        </p:spPr>
      </p:sp>
      <p:sp>
        <p:nvSpPr>
          <p:cNvPr id="31" name="Text 29"/>
          <p:cNvSpPr/>
          <p:nvPr/>
        </p:nvSpPr>
        <p:spPr>
          <a:xfrm>
            <a:off x="8971756" y="4813300"/>
            <a:ext cx="12319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能源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843617" y="1885950"/>
            <a:ext cx="4902200" cy="3543300"/>
          </a:xfrm>
          <a:custGeom>
            <a:avLst/>
            <a:gdLst/>
            <a:ahLst/>
            <a:cxnLst/>
            <a:rect l="l" t="t" r="r" b="b"/>
            <a:pathLst>
              <a:path w="4902200" h="3543300">
                <a:moveTo>
                  <a:pt x="203208" y="0"/>
                </a:moveTo>
                <a:lnTo>
                  <a:pt x="4698992" y="0"/>
                </a:lnTo>
                <a:cubicBezTo>
                  <a:pt x="4811221" y="0"/>
                  <a:pt x="4902200" y="90979"/>
                  <a:pt x="4902200" y="203208"/>
                </a:cubicBezTo>
                <a:lnTo>
                  <a:pt x="4902200" y="3340092"/>
                </a:lnTo>
                <a:cubicBezTo>
                  <a:pt x="4902200" y="3452321"/>
                  <a:pt x="4811221" y="3543300"/>
                  <a:pt x="4698992" y="3543300"/>
                </a:cubicBezTo>
                <a:lnTo>
                  <a:pt x="203208" y="3543300"/>
                </a:lnTo>
                <a:cubicBezTo>
                  <a:pt x="90979" y="3543300"/>
                  <a:pt x="0" y="3452321"/>
                  <a:pt x="0" y="3340092"/>
                </a:cubicBezTo>
                <a:lnTo>
                  <a:pt x="0" y="203208"/>
                </a:lnTo>
                <a:cubicBezTo>
                  <a:pt x="0" y="91055"/>
                  <a:pt x="91055" y="0"/>
                  <a:pt x="203208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CA3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5F8CA3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154767" y="21971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F8CA3">
              <a:alpha val="40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11408767" y="2451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9490" y="166688"/>
                </a:moveTo>
                <a:lnTo>
                  <a:pt x="95845" y="166688"/>
                </a:lnTo>
                <a:cubicBezTo>
                  <a:pt x="97572" y="205085"/>
                  <a:pt x="106085" y="240447"/>
                  <a:pt x="118170" y="266343"/>
                </a:cubicBezTo>
                <a:cubicBezTo>
                  <a:pt x="124956" y="280928"/>
                  <a:pt x="132278" y="291227"/>
                  <a:pt x="139065" y="297537"/>
                </a:cubicBezTo>
                <a:cubicBezTo>
                  <a:pt x="145733" y="303788"/>
                  <a:pt x="150316" y="304800"/>
                  <a:pt x="152698" y="304800"/>
                </a:cubicBezTo>
                <a:cubicBezTo>
                  <a:pt x="155079" y="304800"/>
                  <a:pt x="159663" y="303788"/>
                  <a:pt x="166330" y="297537"/>
                </a:cubicBezTo>
                <a:cubicBezTo>
                  <a:pt x="173117" y="291227"/>
                  <a:pt x="180439" y="280868"/>
                  <a:pt x="187226" y="266343"/>
                </a:cubicBezTo>
                <a:cubicBezTo>
                  <a:pt x="199311" y="240447"/>
                  <a:pt x="207824" y="205085"/>
                  <a:pt x="209550" y="166688"/>
                </a:cubicBezTo>
                <a:close/>
                <a:moveTo>
                  <a:pt x="95786" y="138113"/>
                </a:moveTo>
                <a:lnTo>
                  <a:pt x="209431" y="138113"/>
                </a:lnTo>
                <a:cubicBezTo>
                  <a:pt x="207764" y="99715"/>
                  <a:pt x="199251" y="64353"/>
                  <a:pt x="187166" y="38457"/>
                </a:cubicBezTo>
                <a:cubicBezTo>
                  <a:pt x="180380" y="23932"/>
                  <a:pt x="173057" y="13573"/>
                  <a:pt x="166271" y="7263"/>
                </a:cubicBezTo>
                <a:cubicBezTo>
                  <a:pt x="159603" y="1012"/>
                  <a:pt x="155019" y="0"/>
                  <a:pt x="152638" y="0"/>
                </a:cubicBezTo>
                <a:cubicBezTo>
                  <a:pt x="150257" y="0"/>
                  <a:pt x="145673" y="1012"/>
                  <a:pt x="139005" y="7263"/>
                </a:cubicBezTo>
                <a:cubicBezTo>
                  <a:pt x="132219" y="13573"/>
                  <a:pt x="124897" y="23932"/>
                  <a:pt x="118110" y="38457"/>
                </a:cubicBezTo>
                <a:cubicBezTo>
                  <a:pt x="106025" y="64353"/>
                  <a:pt x="97512" y="99715"/>
                  <a:pt x="95786" y="138113"/>
                </a:cubicBezTo>
                <a:close/>
                <a:moveTo>
                  <a:pt x="67211" y="138113"/>
                </a:moveTo>
                <a:cubicBezTo>
                  <a:pt x="69294" y="87154"/>
                  <a:pt x="82451" y="39826"/>
                  <a:pt x="101679" y="8751"/>
                </a:cubicBezTo>
                <a:cubicBezTo>
                  <a:pt x="46851" y="28158"/>
                  <a:pt x="6489" y="78105"/>
                  <a:pt x="893" y="138113"/>
                </a:cubicBezTo>
                <a:lnTo>
                  <a:pt x="67211" y="138113"/>
                </a:lnTo>
                <a:close/>
                <a:moveTo>
                  <a:pt x="893" y="166688"/>
                </a:moveTo>
                <a:cubicBezTo>
                  <a:pt x="6489" y="226695"/>
                  <a:pt x="46851" y="276642"/>
                  <a:pt x="101679" y="296049"/>
                </a:cubicBezTo>
                <a:cubicBezTo>
                  <a:pt x="82451" y="264974"/>
                  <a:pt x="69294" y="217646"/>
                  <a:pt x="67211" y="166688"/>
                </a:cubicBezTo>
                <a:lnTo>
                  <a:pt x="893" y="166688"/>
                </a:lnTo>
                <a:close/>
                <a:moveTo>
                  <a:pt x="238065" y="166688"/>
                </a:moveTo>
                <a:cubicBezTo>
                  <a:pt x="235982" y="217646"/>
                  <a:pt x="222825" y="264974"/>
                  <a:pt x="203597" y="296049"/>
                </a:cubicBezTo>
                <a:cubicBezTo>
                  <a:pt x="258425" y="276582"/>
                  <a:pt x="298787" y="226695"/>
                  <a:pt x="304383" y="166688"/>
                </a:cubicBezTo>
                <a:lnTo>
                  <a:pt x="238065" y="166688"/>
                </a:lnTo>
                <a:close/>
                <a:moveTo>
                  <a:pt x="304383" y="138113"/>
                </a:moveTo>
                <a:cubicBezTo>
                  <a:pt x="298787" y="78105"/>
                  <a:pt x="258425" y="28158"/>
                  <a:pt x="203597" y="8751"/>
                </a:cubicBezTo>
                <a:cubicBezTo>
                  <a:pt x="222825" y="39826"/>
                  <a:pt x="235982" y="87154"/>
                  <a:pt x="238065" y="138113"/>
                </a:cubicBezTo>
                <a:lnTo>
                  <a:pt x="304383" y="138113"/>
                </a:lnTo>
                <a:close/>
              </a:path>
            </a:pathLst>
          </a:custGeom>
          <a:solidFill>
            <a:srgbClr val="E0E0E0"/>
          </a:solidFill>
        </p:spPr>
      </p:sp>
      <p:sp>
        <p:nvSpPr>
          <p:cNvPr id="35" name="Text 33"/>
          <p:cNvSpPr/>
          <p:nvPr/>
        </p:nvSpPr>
        <p:spPr>
          <a:xfrm>
            <a:off x="12120245" y="2298700"/>
            <a:ext cx="185166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全智能感知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1154767" y="3213100"/>
            <a:ext cx="43815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数十亿物联网设备构成的天基-空基-地基一体化感知网，实现大气状态的秒级更新。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1154767" y="4356100"/>
            <a:ext cx="1358900" cy="762000"/>
          </a:xfrm>
          <a:custGeom>
            <a:avLst/>
            <a:gdLst/>
            <a:ahLst/>
            <a:cxnLst/>
            <a:rect l="l" t="t" r="r" b="b"/>
            <a:pathLst>
              <a:path w="1358900" h="762000">
                <a:moveTo>
                  <a:pt x="101597" y="0"/>
                </a:moveTo>
                <a:lnTo>
                  <a:pt x="1257303" y="0"/>
                </a:lnTo>
                <a:cubicBezTo>
                  <a:pt x="1313413" y="0"/>
                  <a:pt x="1358900" y="45487"/>
                  <a:pt x="1358900" y="101597"/>
                </a:cubicBezTo>
                <a:lnTo>
                  <a:pt x="1358900" y="660403"/>
                </a:lnTo>
                <a:cubicBezTo>
                  <a:pt x="1358900" y="716513"/>
                  <a:pt x="1313413" y="762000"/>
                  <a:pt x="12573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5F8CA3">
              <a:alpha val="2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11731823" y="4495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78978" y="2778"/>
                </a:moveTo>
                <a:cubicBezTo>
                  <a:pt x="82709" y="-953"/>
                  <a:pt x="88741" y="-953"/>
                  <a:pt x="92432" y="2778"/>
                </a:cubicBezTo>
                <a:lnTo>
                  <a:pt x="127913" y="38259"/>
                </a:lnTo>
                <a:lnTo>
                  <a:pt x="149741" y="16431"/>
                </a:lnTo>
                <a:cubicBezTo>
                  <a:pt x="154702" y="11470"/>
                  <a:pt x="162758" y="11470"/>
                  <a:pt x="167719" y="16431"/>
                </a:cubicBezTo>
                <a:lnTo>
                  <a:pt x="186769" y="35481"/>
                </a:lnTo>
                <a:cubicBezTo>
                  <a:pt x="191730" y="40442"/>
                  <a:pt x="191730" y="48498"/>
                  <a:pt x="186769" y="53459"/>
                </a:cubicBezTo>
                <a:lnTo>
                  <a:pt x="164941" y="75287"/>
                </a:lnTo>
                <a:lnTo>
                  <a:pt x="200422" y="110768"/>
                </a:lnTo>
                <a:cubicBezTo>
                  <a:pt x="204152" y="114498"/>
                  <a:pt x="204152" y="120531"/>
                  <a:pt x="200422" y="124222"/>
                </a:cubicBezTo>
                <a:lnTo>
                  <a:pt x="162322" y="162322"/>
                </a:lnTo>
                <a:cubicBezTo>
                  <a:pt x="158591" y="166053"/>
                  <a:pt x="152559" y="166053"/>
                  <a:pt x="148868" y="162322"/>
                </a:cubicBezTo>
                <a:lnTo>
                  <a:pt x="113387" y="126841"/>
                </a:lnTo>
                <a:lnTo>
                  <a:pt x="107236" y="132993"/>
                </a:lnTo>
                <a:cubicBezTo>
                  <a:pt x="111760" y="142756"/>
                  <a:pt x="114300" y="153630"/>
                  <a:pt x="114300" y="165100"/>
                </a:cubicBezTo>
                <a:cubicBezTo>
                  <a:pt x="114300" y="177681"/>
                  <a:pt x="111244" y="189508"/>
                  <a:pt x="105886" y="199946"/>
                </a:cubicBezTo>
                <a:cubicBezTo>
                  <a:pt x="104021" y="203518"/>
                  <a:pt x="99258" y="204033"/>
                  <a:pt x="96441" y="201176"/>
                </a:cubicBezTo>
                <a:lnTo>
                  <a:pt x="58222" y="162957"/>
                </a:lnTo>
                <a:lnTo>
                  <a:pt x="34409" y="186769"/>
                </a:lnTo>
                <a:cubicBezTo>
                  <a:pt x="29448" y="191730"/>
                  <a:pt x="21392" y="191730"/>
                  <a:pt x="16431" y="186769"/>
                </a:cubicBezTo>
                <a:cubicBezTo>
                  <a:pt x="11470" y="181808"/>
                  <a:pt x="11470" y="173752"/>
                  <a:pt x="16431" y="168791"/>
                </a:cubicBezTo>
                <a:lnTo>
                  <a:pt x="40243" y="144978"/>
                </a:lnTo>
                <a:lnTo>
                  <a:pt x="2024" y="106759"/>
                </a:lnTo>
                <a:cubicBezTo>
                  <a:pt x="-833" y="103902"/>
                  <a:pt x="-317" y="99139"/>
                  <a:pt x="3254" y="97314"/>
                </a:cubicBezTo>
                <a:cubicBezTo>
                  <a:pt x="13692" y="91916"/>
                  <a:pt x="25559" y="88900"/>
                  <a:pt x="38100" y="88900"/>
                </a:cubicBezTo>
                <a:cubicBezTo>
                  <a:pt x="49570" y="88900"/>
                  <a:pt x="60444" y="91440"/>
                  <a:pt x="70207" y="95964"/>
                </a:cubicBezTo>
                <a:lnTo>
                  <a:pt x="76359" y="89813"/>
                </a:lnTo>
                <a:lnTo>
                  <a:pt x="40878" y="54372"/>
                </a:lnTo>
                <a:cubicBezTo>
                  <a:pt x="37147" y="50641"/>
                  <a:pt x="37147" y="44609"/>
                  <a:pt x="40878" y="40918"/>
                </a:cubicBezTo>
                <a:lnTo>
                  <a:pt x="78978" y="2778"/>
                </a:lnTo>
                <a:close/>
                <a:moveTo>
                  <a:pt x="85725" y="22979"/>
                </a:moveTo>
                <a:lnTo>
                  <a:pt x="61079" y="47625"/>
                </a:lnTo>
                <a:lnTo>
                  <a:pt x="89813" y="76359"/>
                </a:lnTo>
                <a:lnTo>
                  <a:pt x="114459" y="51713"/>
                </a:lnTo>
                <a:lnTo>
                  <a:pt x="85725" y="22979"/>
                </a:lnTo>
                <a:close/>
                <a:moveTo>
                  <a:pt x="155575" y="142121"/>
                </a:moveTo>
                <a:lnTo>
                  <a:pt x="180221" y="117475"/>
                </a:lnTo>
                <a:lnTo>
                  <a:pt x="151487" y="88741"/>
                </a:lnTo>
                <a:lnTo>
                  <a:pt x="126841" y="113387"/>
                </a:lnTo>
                <a:lnTo>
                  <a:pt x="155575" y="142121"/>
                </a:lnTo>
                <a:close/>
              </a:path>
            </a:pathLst>
          </a:custGeom>
          <a:solidFill>
            <a:srgbClr val="E0E0E0"/>
          </a:solidFill>
        </p:spPr>
      </p:sp>
      <p:sp>
        <p:nvSpPr>
          <p:cNvPr id="40" name="Text 38"/>
          <p:cNvSpPr/>
          <p:nvPr/>
        </p:nvSpPr>
        <p:spPr>
          <a:xfrm>
            <a:off x="11218267" y="4813300"/>
            <a:ext cx="12319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天基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2613878" y="4356100"/>
            <a:ext cx="1358900" cy="762000"/>
          </a:xfrm>
          <a:custGeom>
            <a:avLst/>
            <a:gdLst/>
            <a:ahLst/>
            <a:cxnLst/>
            <a:rect l="l" t="t" r="r" b="b"/>
            <a:pathLst>
              <a:path w="1358900" h="762000">
                <a:moveTo>
                  <a:pt x="101597" y="0"/>
                </a:moveTo>
                <a:lnTo>
                  <a:pt x="1257303" y="0"/>
                </a:lnTo>
                <a:cubicBezTo>
                  <a:pt x="1313413" y="0"/>
                  <a:pt x="1358900" y="45487"/>
                  <a:pt x="1358900" y="101597"/>
                </a:cubicBezTo>
                <a:lnTo>
                  <a:pt x="1358900" y="660403"/>
                </a:lnTo>
                <a:cubicBezTo>
                  <a:pt x="1358900" y="716513"/>
                  <a:pt x="1313413" y="762000"/>
                  <a:pt x="12573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5F8CA3">
              <a:alpha val="20000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13178234" y="44958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206375" y="79375"/>
                </a:moveTo>
                <a:cubicBezTo>
                  <a:pt x="218638" y="79375"/>
                  <a:pt x="228600" y="89337"/>
                  <a:pt x="228600" y="101600"/>
                </a:cubicBezTo>
                <a:cubicBezTo>
                  <a:pt x="228600" y="113863"/>
                  <a:pt x="218638" y="123825"/>
                  <a:pt x="206375" y="123825"/>
                </a:cubicBezTo>
                <a:lnTo>
                  <a:pt x="155853" y="123825"/>
                </a:lnTo>
                <a:lnTo>
                  <a:pt x="92670" y="192723"/>
                </a:lnTo>
                <a:cubicBezTo>
                  <a:pt x="90249" y="195342"/>
                  <a:pt x="86876" y="196850"/>
                  <a:pt x="83304" y="196850"/>
                </a:cubicBezTo>
                <a:lnTo>
                  <a:pt x="65961" y="196850"/>
                </a:lnTo>
                <a:cubicBezTo>
                  <a:pt x="61635" y="196850"/>
                  <a:pt x="58579" y="192603"/>
                  <a:pt x="59928" y="188476"/>
                </a:cubicBezTo>
                <a:lnTo>
                  <a:pt x="81478" y="123825"/>
                </a:lnTo>
                <a:lnTo>
                  <a:pt x="41910" y="123825"/>
                </a:lnTo>
                <a:lnTo>
                  <a:pt x="20955" y="150019"/>
                </a:lnTo>
                <a:cubicBezTo>
                  <a:pt x="19764" y="151527"/>
                  <a:pt x="17939" y="152400"/>
                  <a:pt x="15994" y="152400"/>
                </a:cubicBezTo>
                <a:lnTo>
                  <a:pt x="8136" y="152400"/>
                </a:lnTo>
                <a:cubicBezTo>
                  <a:pt x="4008" y="152400"/>
                  <a:pt x="992" y="148511"/>
                  <a:pt x="1984" y="144502"/>
                </a:cubicBezTo>
                <a:lnTo>
                  <a:pt x="12700" y="101600"/>
                </a:lnTo>
                <a:lnTo>
                  <a:pt x="1984" y="58698"/>
                </a:lnTo>
                <a:cubicBezTo>
                  <a:pt x="953" y="54689"/>
                  <a:pt x="4008" y="50800"/>
                  <a:pt x="8136" y="50800"/>
                </a:cubicBezTo>
                <a:lnTo>
                  <a:pt x="15994" y="50800"/>
                </a:lnTo>
                <a:cubicBezTo>
                  <a:pt x="17939" y="50800"/>
                  <a:pt x="19764" y="51673"/>
                  <a:pt x="20955" y="53181"/>
                </a:cubicBezTo>
                <a:lnTo>
                  <a:pt x="41910" y="79375"/>
                </a:lnTo>
                <a:lnTo>
                  <a:pt x="81478" y="79375"/>
                </a:lnTo>
                <a:lnTo>
                  <a:pt x="59928" y="14724"/>
                </a:lnTo>
                <a:cubicBezTo>
                  <a:pt x="58579" y="10597"/>
                  <a:pt x="61635" y="6350"/>
                  <a:pt x="65961" y="6350"/>
                </a:cubicBezTo>
                <a:lnTo>
                  <a:pt x="83304" y="6350"/>
                </a:lnTo>
                <a:cubicBezTo>
                  <a:pt x="86876" y="6350"/>
                  <a:pt x="90249" y="7858"/>
                  <a:pt x="92670" y="10478"/>
                </a:cubicBezTo>
                <a:lnTo>
                  <a:pt x="155853" y="79375"/>
                </a:lnTo>
                <a:lnTo>
                  <a:pt x="206375" y="79375"/>
                </a:lnTo>
                <a:close/>
              </a:path>
            </a:pathLst>
          </a:custGeom>
          <a:solidFill>
            <a:srgbClr val="E0E0E0"/>
          </a:solidFill>
        </p:spPr>
      </p:sp>
      <p:sp>
        <p:nvSpPr>
          <p:cNvPr id="43" name="Text 41"/>
          <p:cNvSpPr/>
          <p:nvPr/>
        </p:nvSpPr>
        <p:spPr>
          <a:xfrm>
            <a:off x="12677378" y="4813300"/>
            <a:ext cx="12319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空基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4072989" y="4356100"/>
            <a:ext cx="1358900" cy="762000"/>
          </a:xfrm>
          <a:custGeom>
            <a:avLst/>
            <a:gdLst/>
            <a:ahLst/>
            <a:cxnLst/>
            <a:rect l="l" t="t" r="r" b="b"/>
            <a:pathLst>
              <a:path w="1358900" h="762000">
                <a:moveTo>
                  <a:pt x="101597" y="0"/>
                </a:moveTo>
                <a:lnTo>
                  <a:pt x="1257303" y="0"/>
                </a:lnTo>
                <a:cubicBezTo>
                  <a:pt x="1313413" y="0"/>
                  <a:pt x="1358900" y="45487"/>
                  <a:pt x="1358900" y="101597"/>
                </a:cubicBezTo>
                <a:lnTo>
                  <a:pt x="1358900" y="660403"/>
                </a:lnTo>
                <a:cubicBezTo>
                  <a:pt x="1358900" y="716513"/>
                  <a:pt x="1313413" y="762000"/>
                  <a:pt x="12573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5F8CA3">
              <a:alpha val="20000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14637345" y="44958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34885" y="4564"/>
                </a:moveTo>
                <a:cubicBezTo>
                  <a:pt x="30401" y="1826"/>
                  <a:pt x="24527" y="3294"/>
                  <a:pt x="21788" y="7779"/>
                </a:cubicBezTo>
                <a:cubicBezTo>
                  <a:pt x="11946" y="24051"/>
                  <a:pt x="6310" y="43140"/>
                  <a:pt x="6310" y="63500"/>
                </a:cubicBezTo>
                <a:cubicBezTo>
                  <a:pt x="6310" y="83860"/>
                  <a:pt x="11946" y="102949"/>
                  <a:pt x="21788" y="119221"/>
                </a:cubicBezTo>
                <a:cubicBezTo>
                  <a:pt x="24527" y="123706"/>
                  <a:pt x="30361" y="125174"/>
                  <a:pt x="34885" y="122436"/>
                </a:cubicBezTo>
                <a:cubicBezTo>
                  <a:pt x="39410" y="119698"/>
                  <a:pt x="40838" y="113863"/>
                  <a:pt x="38100" y="109339"/>
                </a:cubicBezTo>
                <a:cubicBezTo>
                  <a:pt x="30043" y="96004"/>
                  <a:pt x="25400" y="80288"/>
                  <a:pt x="25400" y="63500"/>
                </a:cubicBezTo>
                <a:cubicBezTo>
                  <a:pt x="25400" y="46712"/>
                  <a:pt x="30043" y="30996"/>
                  <a:pt x="38140" y="17621"/>
                </a:cubicBezTo>
                <a:cubicBezTo>
                  <a:pt x="40878" y="13137"/>
                  <a:pt x="39410" y="7263"/>
                  <a:pt x="34925" y="4524"/>
                </a:cubicBezTo>
                <a:close/>
                <a:moveTo>
                  <a:pt x="193675" y="4564"/>
                </a:moveTo>
                <a:cubicBezTo>
                  <a:pt x="189190" y="7302"/>
                  <a:pt x="187722" y="13137"/>
                  <a:pt x="190460" y="17661"/>
                </a:cubicBezTo>
                <a:cubicBezTo>
                  <a:pt x="198557" y="31036"/>
                  <a:pt x="203200" y="46752"/>
                  <a:pt x="203200" y="63540"/>
                </a:cubicBezTo>
                <a:cubicBezTo>
                  <a:pt x="203200" y="80328"/>
                  <a:pt x="198557" y="96044"/>
                  <a:pt x="190460" y="109418"/>
                </a:cubicBezTo>
                <a:cubicBezTo>
                  <a:pt x="187722" y="113903"/>
                  <a:pt x="189190" y="119777"/>
                  <a:pt x="193675" y="122515"/>
                </a:cubicBezTo>
                <a:cubicBezTo>
                  <a:pt x="198160" y="125254"/>
                  <a:pt x="204033" y="123785"/>
                  <a:pt x="206772" y="119301"/>
                </a:cubicBezTo>
                <a:cubicBezTo>
                  <a:pt x="216614" y="103029"/>
                  <a:pt x="222250" y="83939"/>
                  <a:pt x="222250" y="63579"/>
                </a:cubicBezTo>
                <a:cubicBezTo>
                  <a:pt x="222250" y="43220"/>
                  <a:pt x="216614" y="24051"/>
                  <a:pt x="206772" y="7779"/>
                </a:cubicBezTo>
                <a:cubicBezTo>
                  <a:pt x="204033" y="3294"/>
                  <a:pt x="198199" y="1826"/>
                  <a:pt x="193675" y="4564"/>
                </a:cubicBezTo>
                <a:close/>
                <a:moveTo>
                  <a:pt x="127000" y="85487"/>
                </a:moveTo>
                <a:cubicBezTo>
                  <a:pt x="134580" y="81082"/>
                  <a:pt x="139700" y="72906"/>
                  <a:pt x="139700" y="63500"/>
                </a:cubicBezTo>
                <a:cubicBezTo>
                  <a:pt x="139700" y="49490"/>
                  <a:pt x="128310" y="38100"/>
                  <a:pt x="114300" y="38100"/>
                </a:cubicBezTo>
                <a:cubicBezTo>
                  <a:pt x="100290" y="38100"/>
                  <a:pt x="88900" y="49490"/>
                  <a:pt x="88900" y="63500"/>
                </a:cubicBezTo>
                <a:cubicBezTo>
                  <a:pt x="88900" y="72906"/>
                  <a:pt x="94020" y="81121"/>
                  <a:pt x="101600" y="85487"/>
                </a:cubicBezTo>
                <a:lnTo>
                  <a:pt x="101600" y="190500"/>
                </a:lnTo>
                <a:cubicBezTo>
                  <a:pt x="101600" y="197525"/>
                  <a:pt x="107275" y="203200"/>
                  <a:pt x="114300" y="203200"/>
                </a:cubicBezTo>
                <a:cubicBezTo>
                  <a:pt x="121325" y="203200"/>
                  <a:pt x="127000" y="197525"/>
                  <a:pt x="127000" y="190500"/>
                </a:cubicBezTo>
                <a:lnTo>
                  <a:pt x="127000" y="85487"/>
                </a:lnTo>
                <a:close/>
                <a:moveTo>
                  <a:pt x="71517" y="36116"/>
                </a:moveTo>
                <a:cubicBezTo>
                  <a:pt x="74374" y="31671"/>
                  <a:pt x="73065" y="25797"/>
                  <a:pt x="68659" y="22939"/>
                </a:cubicBezTo>
                <a:cubicBezTo>
                  <a:pt x="64254" y="20082"/>
                  <a:pt x="58341" y="21392"/>
                  <a:pt x="55483" y="25797"/>
                </a:cubicBezTo>
                <a:cubicBezTo>
                  <a:pt x="48498" y="36671"/>
                  <a:pt x="44450" y="49609"/>
                  <a:pt x="44450" y="63500"/>
                </a:cubicBezTo>
                <a:cubicBezTo>
                  <a:pt x="44450" y="77391"/>
                  <a:pt x="48498" y="90329"/>
                  <a:pt x="55483" y="101203"/>
                </a:cubicBezTo>
                <a:cubicBezTo>
                  <a:pt x="58341" y="105648"/>
                  <a:pt x="64214" y="106918"/>
                  <a:pt x="68659" y="104061"/>
                </a:cubicBezTo>
                <a:cubicBezTo>
                  <a:pt x="73104" y="101203"/>
                  <a:pt x="74374" y="95329"/>
                  <a:pt x="71517" y="90884"/>
                </a:cubicBezTo>
                <a:cubicBezTo>
                  <a:pt x="66437" y="82987"/>
                  <a:pt x="63500" y="73581"/>
                  <a:pt x="63500" y="63500"/>
                </a:cubicBezTo>
                <a:cubicBezTo>
                  <a:pt x="63500" y="53419"/>
                  <a:pt x="66437" y="44013"/>
                  <a:pt x="71517" y="36116"/>
                </a:cubicBezTo>
                <a:close/>
                <a:moveTo>
                  <a:pt x="173117" y="25797"/>
                </a:moveTo>
                <a:cubicBezTo>
                  <a:pt x="170259" y="21352"/>
                  <a:pt x="164386" y="20082"/>
                  <a:pt x="159941" y="22939"/>
                </a:cubicBezTo>
                <a:cubicBezTo>
                  <a:pt x="155496" y="25797"/>
                  <a:pt x="154226" y="31671"/>
                  <a:pt x="157083" y="36116"/>
                </a:cubicBezTo>
                <a:cubicBezTo>
                  <a:pt x="162163" y="44013"/>
                  <a:pt x="165100" y="53419"/>
                  <a:pt x="165100" y="63500"/>
                </a:cubicBezTo>
                <a:cubicBezTo>
                  <a:pt x="165100" y="73581"/>
                  <a:pt x="162163" y="82987"/>
                  <a:pt x="157083" y="90884"/>
                </a:cubicBezTo>
                <a:cubicBezTo>
                  <a:pt x="154226" y="95329"/>
                  <a:pt x="155535" y="101203"/>
                  <a:pt x="159941" y="104061"/>
                </a:cubicBezTo>
                <a:cubicBezTo>
                  <a:pt x="164346" y="106918"/>
                  <a:pt x="170259" y="105608"/>
                  <a:pt x="173117" y="101203"/>
                </a:cubicBezTo>
                <a:cubicBezTo>
                  <a:pt x="180102" y="90329"/>
                  <a:pt x="184150" y="77391"/>
                  <a:pt x="184150" y="63500"/>
                </a:cubicBezTo>
                <a:cubicBezTo>
                  <a:pt x="184150" y="49609"/>
                  <a:pt x="180102" y="36671"/>
                  <a:pt x="173117" y="25797"/>
                </a:cubicBezTo>
                <a:close/>
              </a:path>
            </a:pathLst>
          </a:custGeom>
          <a:solidFill>
            <a:srgbClr val="E0E0E0"/>
          </a:solidFill>
        </p:spPr>
      </p:sp>
      <p:sp>
        <p:nvSpPr>
          <p:cNvPr id="46" name="Text 44"/>
          <p:cNvSpPr/>
          <p:nvPr/>
        </p:nvSpPr>
        <p:spPr>
          <a:xfrm>
            <a:off x="14136489" y="4813300"/>
            <a:ext cx="12319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地基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14350" y="5746750"/>
            <a:ext cx="15227300" cy="1879600"/>
          </a:xfrm>
          <a:custGeom>
            <a:avLst/>
            <a:gdLst/>
            <a:ahLst/>
            <a:cxnLst/>
            <a:rect l="l" t="t" r="r" b="b"/>
            <a:pathLst>
              <a:path w="15227300" h="1879600">
                <a:moveTo>
                  <a:pt x="203204" y="0"/>
                </a:moveTo>
                <a:lnTo>
                  <a:pt x="15024096" y="0"/>
                </a:lnTo>
                <a:cubicBezTo>
                  <a:pt x="15136323" y="0"/>
                  <a:pt x="15227300" y="90977"/>
                  <a:pt x="15227300" y="203204"/>
                </a:cubicBezTo>
                <a:lnTo>
                  <a:pt x="15227300" y="1676396"/>
                </a:lnTo>
                <a:cubicBezTo>
                  <a:pt x="15227300" y="1788623"/>
                  <a:pt x="15136323" y="1879600"/>
                  <a:pt x="15024096" y="1879600"/>
                </a:cubicBezTo>
                <a:lnTo>
                  <a:pt x="203204" y="1879600"/>
                </a:lnTo>
                <a:cubicBezTo>
                  <a:pt x="90977" y="1879600"/>
                  <a:pt x="0" y="1788623"/>
                  <a:pt x="0" y="1676396"/>
                </a:cubicBezTo>
                <a:lnTo>
                  <a:pt x="0" y="203204"/>
                </a:lnTo>
                <a:cubicBezTo>
                  <a:pt x="0" y="91052"/>
                  <a:pt x="91052" y="0"/>
                  <a:pt x="203204" y="0"/>
                </a:cubicBezTo>
                <a:close/>
              </a:path>
            </a:pathLst>
          </a:custGeom>
          <a:gradFill flip="none" rotWithShape="1">
            <a:gsLst>
              <a:gs pos="0">
                <a:srgbClr val="3C6E9E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C6E9E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5500" y="6276975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FBC8F">
              <a:alpha val="30196"/>
            </a:srgbClr>
          </a:solidFill>
        </p:spPr>
      </p:sp>
      <p:sp>
        <p:nvSpPr>
          <p:cNvPr id="49" name="Shape 47"/>
          <p:cNvSpPr/>
          <p:nvPr/>
        </p:nvSpPr>
        <p:spPr>
          <a:xfrm>
            <a:off x="1020763" y="6492875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85750" y="119063"/>
                </a:moveTo>
                <a:cubicBezTo>
                  <a:pt x="272579" y="119063"/>
                  <a:pt x="261938" y="108421"/>
                  <a:pt x="261938" y="95250"/>
                </a:cubicBezTo>
                <a:cubicBezTo>
                  <a:pt x="261938" y="82079"/>
                  <a:pt x="272579" y="71438"/>
                  <a:pt x="285750" y="71438"/>
                </a:cubicBezTo>
                <a:lnTo>
                  <a:pt x="404813" y="71438"/>
                </a:lnTo>
                <a:cubicBezTo>
                  <a:pt x="417984" y="71438"/>
                  <a:pt x="428625" y="82079"/>
                  <a:pt x="428625" y="95250"/>
                </a:cubicBezTo>
                <a:lnTo>
                  <a:pt x="428625" y="214313"/>
                </a:lnTo>
                <a:cubicBezTo>
                  <a:pt x="428625" y="227484"/>
                  <a:pt x="417984" y="238125"/>
                  <a:pt x="404813" y="238125"/>
                </a:cubicBezTo>
                <a:cubicBezTo>
                  <a:pt x="391641" y="238125"/>
                  <a:pt x="381000" y="227484"/>
                  <a:pt x="381000" y="214313"/>
                </a:cubicBezTo>
                <a:lnTo>
                  <a:pt x="381000" y="152772"/>
                </a:lnTo>
                <a:lnTo>
                  <a:pt x="254943" y="278829"/>
                </a:lnTo>
                <a:cubicBezTo>
                  <a:pt x="245641" y="288131"/>
                  <a:pt x="230535" y="288131"/>
                  <a:pt x="221233" y="278829"/>
                </a:cubicBezTo>
                <a:lnTo>
                  <a:pt x="142875" y="200397"/>
                </a:lnTo>
                <a:lnTo>
                  <a:pt x="40630" y="302568"/>
                </a:lnTo>
                <a:cubicBezTo>
                  <a:pt x="31328" y="311869"/>
                  <a:pt x="16222" y="311869"/>
                  <a:pt x="6921" y="302568"/>
                </a:cubicBezTo>
                <a:cubicBezTo>
                  <a:pt x="-2381" y="293266"/>
                  <a:pt x="-2381" y="278160"/>
                  <a:pt x="6921" y="268858"/>
                </a:cubicBezTo>
                <a:lnTo>
                  <a:pt x="125983" y="149796"/>
                </a:lnTo>
                <a:cubicBezTo>
                  <a:pt x="135285" y="140494"/>
                  <a:pt x="150391" y="140494"/>
                  <a:pt x="159693" y="149796"/>
                </a:cubicBezTo>
                <a:lnTo>
                  <a:pt x="238125" y="228228"/>
                </a:lnTo>
                <a:lnTo>
                  <a:pt x="347290" y="119063"/>
                </a:lnTo>
                <a:lnTo>
                  <a:pt x="285750" y="119063"/>
                </a:lnTo>
                <a:close/>
              </a:path>
            </a:pathLst>
          </a:custGeom>
          <a:solidFill>
            <a:srgbClr val="8FBC8F"/>
          </a:solidFill>
        </p:spPr>
      </p:sp>
      <p:sp>
        <p:nvSpPr>
          <p:cNvPr id="50" name="Text 48"/>
          <p:cNvSpPr/>
          <p:nvPr/>
        </p:nvSpPr>
        <p:spPr>
          <a:xfrm>
            <a:off x="1841500" y="6057900"/>
            <a:ext cx="13741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技术融合与生态构建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841500" y="6565900"/>
            <a:ext cx="13703300" cy="749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0E0E0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未来AI天气预测将与5G、物联网、边缘计算等前沿技术深度融合，构建全方位、全时空、全智能的气象服务新生态，为人类社会带来更加精准、便捷、个性化的气象服务体验。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</p:transition>
    </mc:Choice>
    <mc:Fallback>
      <p:transition spd="slow">
        <p:wheel spokes="8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6950" y="850900"/>
            <a:ext cx="1562100" cy="1397000"/>
          </a:xfrm>
          <a:custGeom>
            <a:avLst/>
            <a:gdLst/>
            <a:ahLst/>
            <a:cxnLst/>
            <a:rect l="l" t="t" r="r" b="b"/>
            <a:pathLst>
              <a:path w="1562100" h="1397000">
                <a:moveTo>
                  <a:pt x="203194" y="0"/>
                </a:moveTo>
                <a:lnTo>
                  <a:pt x="1358906" y="0"/>
                </a:lnTo>
                <a:cubicBezTo>
                  <a:pt x="1471052" y="0"/>
                  <a:pt x="1562100" y="91048"/>
                  <a:pt x="1562100" y="203194"/>
                </a:cubicBezTo>
                <a:lnTo>
                  <a:pt x="1562100" y="1193806"/>
                </a:lnTo>
                <a:cubicBezTo>
                  <a:pt x="1562100" y="1306027"/>
                  <a:pt x="1471127" y="1397000"/>
                  <a:pt x="1358906" y="1397000"/>
                </a:cubicBezTo>
                <a:lnTo>
                  <a:pt x="203194" y="1397000"/>
                </a:lnTo>
                <a:cubicBezTo>
                  <a:pt x="91048" y="1397000"/>
                  <a:pt x="0" y="1305952"/>
                  <a:pt x="0" y="1193806"/>
                </a:cubicBezTo>
                <a:lnTo>
                  <a:pt x="0" y="203194"/>
                </a:lnTo>
                <a:cubicBezTo>
                  <a:pt x="0" y="90973"/>
                  <a:pt x="90973" y="0"/>
                  <a:pt x="203194" y="0"/>
                </a:cubicBezTo>
                <a:close/>
              </a:path>
            </a:pathLst>
          </a:custGeom>
          <a:solidFill>
            <a:srgbClr val="8FBC8F">
              <a:alpha val="2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747000" y="11557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58676" y="129629"/>
                </a:moveTo>
                <a:lnTo>
                  <a:pt x="381000" y="160437"/>
                </a:lnTo>
                <a:lnTo>
                  <a:pt x="403324" y="129629"/>
                </a:lnTo>
                <a:cubicBezTo>
                  <a:pt x="440531" y="78135"/>
                  <a:pt x="500360" y="47625"/>
                  <a:pt x="563910" y="47625"/>
                </a:cubicBezTo>
                <a:cubicBezTo>
                  <a:pt x="673298" y="47625"/>
                  <a:pt x="762000" y="136327"/>
                  <a:pt x="762000" y="245715"/>
                </a:cubicBezTo>
                <a:lnTo>
                  <a:pt x="762000" y="249585"/>
                </a:lnTo>
                <a:cubicBezTo>
                  <a:pt x="762000" y="416570"/>
                  <a:pt x="553789" y="610493"/>
                  <a:pt x="445145" y="693390"/>
                </a:cubicBezTo>
                <a:cubicBezTo>
                  <a:pt x="426690" y="707380"/>
                  <a:pt x="404068" y="714375"/>
                  <a:pt x="381000" y="714375"/>
                </a:cubicBezTo>
                <a:cubicBezTo>
                  <a:pt x="357932" y="714375"/>
                  <a:pt x="335161" y="707529"/>
                  <a:pt x="316855" y="693390"/>
                </a:cubicBezTo>
                <a:cubicBezTo>
                  <a:pt x="208211" y="610493"/>
                  <a:pt x="0" y="416570"/>
                  <a:pt x="0" y="249585"/>
                </a:cubicBezTo>
                <a:lnTo>
                  <a:pt x="0" y="245715"/>
                </a:lnTo>
                <a:cubicBezTo>
                  <a:pt x="0" y="136327"/>
                  <a:pt x="88702" y="47625"/>
                  <a:pt x="198090" y="47625"/>
                </a:cubicBezTo>
                <a:cubicBezTo>
                  <a:pt x="261640" y="47625"/>
                  <a:pt x="321469" y="78135"/>
                  <a:pt x="358676" y="129629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4" name="Text 2"/>
          <p:cNvSpPr/>
          <p:nvPr/>
        </p:nvSpPr>
        <p:spPr>
          <a:xfrm>
            <a:off x="5041900" y="2654300"/>
            <a:ext cx="61722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结语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12000" y="3568700"/>
            <a:ext cx="2032000" cy="76200"/>
          </a:xfrm>
          <a:custGeom>
            <a:avLst/>
            <a:gdLst/>
            <a:ahLst/>
            <a:cxnLst/>
            <a:rect l="l" t="t" r="r" b="b"/>
            <a:pathLst>
              <a:path w="2032000" h="76200">
                <a:moveTo>
                  <a:pt x="0" y="0"/>
                </a:moveTo>
                <a:lnTo>
                  <a:pt x="2032000" y="0"/>
                </a:lnTo>
                <a:lnTo>
                  <a:pt x="2032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C6E9E"/>
              </a:gs>
              <a:gs pos="50000">
                <a:srgbClr val="5F8CA3"/>
              </a:gs>
              <a:gs pos="100000">
                <a:srgbClr val="8FBC8F"/>
              </a:gs>
            </a:gsLst>
            <a:lin ang="0" scaled="1"/>
          </a:gradFill>
        </p:spPr>
      </p:sp>
      <p:sp>
        <p:nvSpPr>
          <p:cNvPr id="6" name="Shape 4"/>
          <p:cNvSpPr/>
          <p:nvPr/>
        </p:nvSpPr>
        <p:spPr>
          <a:xfrm>
            <a:off x="4707890" y="3741420"/>
            <a:ext cx="6869430" cy="3783330"/>
          </a:xfrm>
          <a:custGeom>
            <a:avLst/>
            <a:gdLst/>
            <a:ahLst/>
            <a:cxnLst/>
            <a:rect l="l" t="t" r="r" b="b"/>
            <a:pathLst>
              <a:path w="5854700" h="3467100">
                <a:moveTo>
                  <a:pt x="304793" y="0"/>
                </a:moveTo>
                <a:lnTo>
                  <a:pt x="5549907" y="0"/>
                </a:lnTo>
                <a:cubicBezTo>
                  <a:pt x="5718240" y="0"/>
                  <a:pt x="5854700" y="136460"/>
                  <a:pt x="5854700" y="304793"/>
                </a:cubicBezTo>
                <a:lnTo>
                  <a:pt x="5854700" y="3162307"/>
                </a:lnTo>
                <a:cubicBezTo>
                  <a:pt x="5854700" y="3330640"/>
                  <a:pt x="5718240" y="3467100"/>
                  <a:pt x="5549907" y="3467100"/>
                </a:cubicBezTo>
                <a:lnTo>
                  <a:pt x="304793" y="3467100"/>
                </a:lnTo>
                <a:cubicBezTo>
                  <a:pt x="136573" y="3467100"/>
                  <a:pt x="0" y="3330527"/>
                  <a:pt x="0" y="3162307"/>
                </a:cubicBezTo>
                <a:lnTo>
                  <a:pt x="0" y="304793"/>
                </a:lnTo>
                <a:cubicBezTo>
                  <a:pt x="0" y="136460"/>
                  <a:pt x="136460" y="0"/>
                  <a:pt x="304793" y="0"/>
                </a:cubicBezTo>
                <a:close/>
              </a:path>
            </a:pathLst>
          </a:custGeom>
          <a:gradFill flip="none" rotWithShape="1">
            <a:gsLst>
              <a:gs pos="0">
                <a:srgbClr val="8FBC8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8FBC8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1900" y="3993515"/>
            <a:ext cx="6113780" cy="15690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just">
              <a:lnSpc>
                <a:spcPct val="140000"/>
              </a:lnSpc>
            </a:pPr>
            <a:r>
              <a:rPr lang="en-US" sz="3200" dirty="0">
                <a:solidFill>
                  <a:srgbClr val="E0E0E0"/>
                </a:solidFill>
                <a:latin typeface="标准粗黑" panose="02000503000000000000" charset="-122"/>
                <a:ea typeface="标准粗黑" panose="02000503000000000000" charset="-122"/>
                <a:cs typeface="得意黑" pitchFamily="34" charset="-120"/>
              </a:rPr>
              <a:t>     天气预测的目的不在于展示技术，</a:t>
            </a:r>
            <a:endParaRPr lang="en-US" sz="3200" dirty="0">
              <a:latin typeface="标准粗黑" panose="02000503000000000000" charset="-122"/>
              <a:ea typeface="标准粗黑" panose="02000503000000000000" charset="-122"/>
            </a:endParaRPr>
          </a:p>
          <a:p>
            <a:pPr algn="just">
              <a:lnSpc>
                <a:spcPct val="140000"/>
              </a:lnSpc>
            </a:pPr>
            <a:r>
              <a:rPr lang="en-US" sz="3200" dirty="0">
                <a:solidFill>
                  <a:srgbClr val="E0E0E0"/>
                </a:solidFill>
                <a:latin typeface="标准粗黑" panose="02000503000000000000" charset="-122"/>
                <a:ea typeface="标准粗黑" panose="02000503000000000000" charset="-122"/>
                <a:cs typeface="得意黑" pitchFamily="34" charset="-120"/>
              </a:rPr>
              <a:t>  而是</a:t>
            </a:r>
            <a:r>
              <a:rPr lang="en-US" sz="3200" b="1" dirty="0">
                <a:solidFill>
                  <a:srgbClr val="8FBC8F"/>
                </a:solidFill>
                <a:latin typeface="标准粗黑" panose="02000503000000000000" charset="-122"/>
                <a:ea typeface="标准粗黑" panose="02000503000000000000" charset="-122"/>
                <a:cs typeface="得意黑" pitchFamily="34" charset="-120"/>
              </a:rPr>
              <a:t>守护生命、赋能发展</a:t>
            </a:r>
            <a:r>
              <a:rPr lang="en-US" sz="3200" dirty="0">
                <a:solidFill>
                  <a:srgbClr val="E0E0E0"/>
                </a:solidFill>
                <a:latin typeface="标准粗黑" panose="02000503000000000000" charset="-122"/>
                <a:ea typeface="标准粗黑" panose="02000503000000000000" charset="-122"/>
                <a:cs typeface="得意黑" pitchFamily="34" charset="-120"/>
              </a:rPr>
              <a:t>。</a:t>
            </a:r>
            <a:endParaRPr lang="en-US" sz="3200" dirty="0">
              <a:latin typeface="标准粗黑" panose="02000503000000000000" charset="-122"/>
              <a:ea typeface="标准粗黑" panose="02000503000000000000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518400" y="5867400"/>
            <a:ext cx="1219200" cy="12700"/>
          </a:xfrm>
          <a:custGeom>
            <a:avLst/>
            <a:gdLst/>
            <a:ahLst/>
            <a:cxnLst/>
            <a:rect l="l" t="t" r="r" b="b"/>
            <a:pathLst>
              <a:path w="1219200" h="12700">
                <a:moveTo>
                  <a:pt x="0" y="0"/>
                </a:moveTo>
                <a:lnTo>
                  <a:pt x="1219200" y="0"/>
                </a:lnTo>
                <a:lnTo>
                  <a:pt x="12192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8FBC8F">
              <a:alpha val="4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5014595" y="5562600"/>
            <a:ext cx="6098540" cy="144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3200" dirty="0">
                <a:solidFill>
                  <a:srgbClr val="E0E0E0">
                    <a:alpha val="90000"/>
                  </a:srgbClr>
                </a:solidFill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</a:rPr>
              <a:t>     将冰冷的数据转变成融入日常的智慧伴侣，</a:t>
            </a:r>
            <a:endParaRPr lang="en-US" sz="3200" dirty="0">
              <a:latin typeface="标准粗黑" panose="02000503000000000000" charset="-122"/>
              <a:ea typeface="标准粗黑" panose="02000503000000000000" charset="-122"/>
              <a:cs typeface="标准粗黑" panose="02000503000000000000" charset="-122"/>
            </a:endParaRPr>
          </a:p>
          <a:p>
            <a:pPr algn="ctr">
              <a:lnSpc>
                <a:spcPct val="140000"/>
              </a:lnSpc>
            </a:pPr>
            <a:r>
              <a:rPr lang="en-US" sz="3200" dirty="0">
                <a:solidFill>
                  <a:srgbClr val="E0E0E0">
                    <a:alpha val="90000"/>
                  </a:srgbClr>
                </a:solidFill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</a:rPr>
              <a:t> 这才是AI技术</a:t>
            </a:r>
            <a:r>
              <a:rPr lang="en-US" sz="3200" b="1" dirty="0">
                <a:solidFill>
                  <a:srgbClr val="8FBC8F"/>
                </a:solidFill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</a:rPr>
              <a:t>富有温度</a:t>
            </a:r>
            <a:r>
              <a:rPr lang="en-US" sz="3200" dirty="0">
                <a:solidFill>
                  <a:srgbClr val="E0E0E0">
                    <a:alpha val="90000"/>
                  </a:srgbClr>
                </a:solidFill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</a:rPr>
              <a:t>的切实体现。</a:t>
            </a:r>
            <a:endParaRPr lang="en-US" sz="3200" dirty="0">
              <a:latin typeface="标准粗黑" panose="02000503000000000000" charset="-122"/>
              <a:ea typeface="标准粗黑" panose="02000503000000000000" charset="-122"/>
              <a:cs typeface="标准粗黑" panose="02000503000000000000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829300" y="80645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11" name="Text 9"/>
          <p:cNvSpPr/>
          <p:nvPr/>
        </p:nvSpPr>
        <p:spPr>
          <a:xfrm>
            <a:off x="5975350" y="7937500"/>
            <a:ext cx="1028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E0E0E0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科技向善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51700" y="7962900"/>
            <a:ext cx="12700" cy="304800"/>
          </a:xfrm>
          <a:custGeom>
            <a:avLst/>
            <a:gdLst/>
            <a:ahLst/>
            <a:cxnLst/>
            <a:rect l="l" t="t" r="r" b="b"/>
            <a:pathLst>
              <a:path w="12700" h="304800">
                <a:moveTo>
                  <a:pt x="0" y="0"/>
                </a:moveTo>
                <a:lnTo>
                  <a:pt x="12700" y="0"/>
                </a:lnTo>
                <a:lnTo>
                  <a:pt x="127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E0E0E0">
              <a:alpha val="2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7569200" y="80645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14" name="Text 12"/>
          <p:cNvSpPr/>
          <p:nvPr/>
        </p:nvSpPr>
        <p:spPr>
          <a:xfrm>
            <a:off x="7715250" y="7937500"/>
            <a:ext cx="1028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E0E0E0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以人为本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991600" y="7962900"/>
            <a:ext cx="12700" cy="304800"/>
          </a:xfrm>
          <a:custGeom>
            <a:avLst/>
            <a:gdLst/>
            <a:ahLst/>
            <a:cxnLst/>
            <a:rect l="l" t="t" r="r" b="b"/>
            <a:pathLst>
              <a:path w="12700" h="304800">
                <a:moveTo>
                  <a:pt x="0" y="0"/>
                </a:moveTo>
                <a:lnTo>
                  <a:pt x="12700" y="0"/>
                </a:lnTo>
                <a:lnTo>
                  <a:pt x="127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E0E0E0">
              <a:alpha val="2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9309100" y="80645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FBC8F"/>
          </a:solidFill>
        </p:spPr>
      </p:sp>
      <p:sp>
        <p:nvSpPr>
          <p:cNvPr id="17" name="Text 15"/>
          <p:cNvSpPr/>
          <p:nvPr/>
        </p:nvSpPr>
        <p:spPr>
          <a:xfrm>
            <a:off x="9455150" y="7937500"/>
            <a:ext cx="1028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E0E0E0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服务社会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ia.org/51bd44834e9a0c96ab011179a88557bb7c9932d8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8908" b="8908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4" name="Text 1"/>
          <p:cNvSpPr/>
          <p:nvPr/>
        </p:nvSpPr>
        <p:spPr>
          <a:xfrm>
            <a:off x="5951538" y="2755900"/>
            <a:ext cx="43561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96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THE END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908602" y="4178300"/>
            <a:ext cx="2438400" cy="76200"/>
          </a:xfrm>
          <a:custGeom>
            <a:avLst/>
            <a:gdLst/>
            <a:ahLst/>
            <a:cxnLst/>
            <a:rect l="l" t="t" r="r" b="b"/>
            <a:pathLst>
              <a:path w="2438400" h="76200">
                <a:moveTo>
                  <a:pt x="0" y="0"/>
                </a:moveTo>
                <a:lnTo>
                  <a:pt x="2438400" y="0"/>
                </a:lnTo>
                <a:lnTo>
                  <a:pt x="2438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C6E9E"/>
              </a:gs>
              <a:gs pos="50000">
                <a:srgbClr val="5F8CA3"/>
              </a:gs>
              <a:gs pos="100000">
                <a:srgbClr val="8FBC8F"/>
              </a:gs>
            </a:gsLst>
            <a:lin ang="0" scaled="1"/>
          </a:gradFill>
        </p:spPr>
      </p:sp>
      <p:sp>
        <p:nvSpPr>
          <p:cNvPr id="6" name="Text 3"/>
          <p:cNvSpPr/>
          <p:nvPr/>
        </p:nvSpPr>
        <p:spPr>
          <a:xfrm>
            <a:off x="6065838" y="4559300"/>
            <a:ext cx="41275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000" b="1" dirty="0">
                <a:solidFill>
                  <a:srgbClr val="E0E0E0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谢谢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192838" y="5727700"/>
            <a:ext cx="3873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E0E0E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Thank You for Your Attention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80758" y="7950200"/>
            <a:ext cx="12700" cy="254000"/>
          </a:xfrm>
          <a:custGeom>
            <a:avLst/>
            <a:gdLst/>
            <a:ahLst/>
            <a:cxnLst/>
            <a:rect l="l" t="t" r="r" b="b"/>
            <a:pathLst>
              <a:path w="12700" h="254000">
                <a:moveTo>
                  <a:pt x="0" y="0"/>
                </a:moveTo>
                <a:lnTo>
                  <a:pt x="12700" y="0"/>
                </a:lnTo>
                <a:lnTo>
                  <a:pt x="127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E0E0E0">
              <a:alpha val="20000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8033941" y="7950200"/>
            <a:ext cx="12700" cy="254000"/>
          </a:xfrm>
          <a:custGeom>
            <a:avLst/>
            <a:gdLst/>
            <a:ahLst/>
            <a:cxnLst/>
            <a:rect l="l" t="t" r="r" b="b"/>
            <a:pathLst>
              <a:path w="12700" h="254000">
                <a:moveTo>
                  <a:pt x="0" y="0"/>
                </a:moveTo>
                <a:lnTo>
                  <a:pt x="12700" y="0"/>
                </a:lnTo>
                <a:lnTo>
                  <a:pt x="127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E0E0E0">
              <a:alpha val="20000"/>
            </a:srgbClr>
          </a:solidFill>
        </p:spPr>
      </p:sp>
      <p:sp>
        <p:nvSpPr>
          <p:cNvPr id="14" name="Shape 11"/>
          <p:cNvSpPr/>
          <p:nvPr/>
        </p:nvSpPr>
        <p:spPr>
          <a:xfrm>
            <a:off x="10378281" y="8051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25400" y="0"/>
                </a:lnTo>
                <a:cubicBezTo>
                  <a:pt x="39419" y="0"/>
                  <a:pt x="50800" y="11381"/>
                  <a:pt x="50800" y="25400"/>
                </a:cubicBezTo>
                <a:lnTo>
                  <a:pt x="50800" y="25400"/>
                </a:lnTo>
                <a:cubicBezTo>
                  <a:pt x="50800" y="39419"/>
                  <a:pt x="39419" y="50800"/>
                  <a:pt x="25400" y="50800"/>
                </a:cubicBezTo>
                <a:lnTo>
                  <a:pt x="25400" y="50800"/>
                </a:lnTo>
                <a:cubicBezTo>
                  <a:pt x="11381" y="50800"/>
                  <a:pt x="0" y="39419"/>
                  <a:pt x="0" y="25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E0E0E0">
              <a:alpha val="40000"/>
            </a:srgbClr>
          </a:solid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3f3e192eb4f3f0a4d4cb4ddc107c0e015b5d623"/>
  <p:tag name="KSO_WM_NEWLAYOUT_ID" val="31"/>
</p:tagLst>
</file>

<file path=ppt/tags/tag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.xml><?xml version="1.0" encoding="utf-8"?>
<p:tagLst xmlns:p="http://schemas.openxmlformats.org/presentationml/2006/main">
  <p:tag name="KSO_WM_DIAGRAM_VIRTUALLY_FRAME" val="{&quot;height&quot;:511.85,&quot;left&quot;:677.35,&quot;top&quot;:148.5,&quot;width&quot;:562.15}"/>
</p:tagLst>
</file>

<file path=ppt/tags/tag9.xml><?xml version="1.0" encoding="utf-8"?>
<p:tagLst xmlns:p="http://schemas.openxmlformats.org/presentationml/2006/main">
  <p:tag name="KSO_WM_DIAGRAM_VIRTUALLY_FRAME" val="{&quot;height&quot;:511.85,&quot;left&quot;:677.35,&quot;top&quot;:148.5,&quot;width&quot;:562.15}"/>
</p:tagLst>
</file>

<file path=ppt/tags/tag10.xml><?xml version="1.0" encoding="utf-8"?>
<p:tagLst xmlns:p="http://schemas.openxmlformats.org/presentationml/2006/main">
  <p:tag name="KSO_WM_DIAGRAM_VIRTUALLY_FRAME" val="{&quot;height&quot;:511.85,&quot;left&quot;:677.35,&quot;top&quot;:148.5,&quot;width&quot;:562.15}"/>
</p:tagLst>
</file>

<file path=ppt/tags/tag11.xml><?xml version="1.0" encoding="utf-8"?>
<p:tagLst xmlns:p="http://schemas.openxmlformats.org/presentationml/2006/main">
  <p:tag name="KSO_WM_DIAGRAM_VIRTUALLY_FRAME" val="{&quot;height&quot;:511.85,&quot;left&quot;:677.35,&quot;top&quot;:148.5,&quot;width&quot;:562.15}"/>
</p:tagLst>
</file>

<file path=ppt/tags/tag12.xml><?xml version="1.0" encoding="utf-8"?>
<p:tagLst xmlns:p="http://schemas.openxmlformats.org/presentationml/2006/main">
  <p:tag name="KSO_WM_DIAGRAM_VIRTUALLY_FRAME" val="{&quot;height&quot;:511.85,&quot;left&quot;:677.35,&quot;top&quot;:148.5,&quot;width&quot;:562.15}"/>
</p:tagLst>
</file>

<file path=ppt/tags/tag13.xml><?xml version="1.0" encoding="utf-8"?>
<p:tagLst xmlns:p="http://schemas.openxmlformats.org/presentationml/2006/main">
  <p:tag name="KSO_WM_DIAGRAM_VIRTUALLY_FRAME" val="{&quot;height&quot;:511.85,&quot;left&quot;:677.35,&quot;top&quot;:148.5,&quot;width&quot;:562.15}"/>
</p:tagLst>
</file>

<file path=ppt/tags/tag14.xml><?xml version="1.0" encoding="utf-8"?>
<p:tagLst xmlns:p="http://schemas.openxmlformats.org/presentationml/2006/main">
  <p:tag name="KSO_WM_DIAGRAM_VIRTUALLY_FRAME" val="{&quot;height&quot;:511.85,&quot;left&quot;:677.35,&quot;top&quot;:148.5,&quot;width&quot;:562.15}"/>
</p:tagLst>
</file>

<file path=ppt/tags/tag15.xml><?xml version="1.0" encoding="utf-8"?>
<p:tagLst xmlns:p="http://schemas.openxmlformats.org/presentationml/2006/main">
  <p:tag name="KSO_WM_DIAGRAM_VIRTUALLY_FRAME" val="{&quot;height&quot;:511.85,&quot;left&quot;:677.35,&quot;top&quot;:148.5,&quot;width&quot;:562.15}"/>
</p:tagLst>
</file>

<file path=ppt/tags/tag16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2551</Words>
  <Application>WPS 演示</Application>
  <PresentationFormat>On-screen Show (16:9)</PresentationFormat>
  <Paragraphs>349</Paragraphs>
  <Slides>20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9" baseType="lpstr">
      <vt:lpstr>Arial</vt:lpstr>
      <vt:lpstr>宋体</vt:lpstr>
      <vt:lpstr>Wingdings</vt:lpstr>
      <vt:lpstr>Liter</vt:lpstr>
      <vt:lpstr>Liter</vt:lpstr>
      <vt:lpstr>Liter</vt:lpstr>
      <vt:lpstr>MiSans</vt:lpstr>
      <vt:lpstr>MiSans</vt:lpstr>
      <vt:lpstr>得意黑</vt:lpstr>
      <vt:lpstr>得意黑</vt:lpstr>
      <vt:lpstr>黑体</vt:lpstr>
      <vt:lpstr>Calibri</vt:lpstr>
      <vt:lpstr>微软雅黑</vt:lpstr>
      <vt:lpstr>Arial Unicode MS</vt:lpstr>
      <vt:lpstr>等线</vt:lpstr>
      <vt:lpstr>标准粗黑</vt:lpstr>
      <vt:lpstr>Calibri Light</vt:lpstr>
      <vt:lpstr>等线 Light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AI天气预测</dc:title>
  <dc:creator>Kimi</dc:creator>
  <dc:subject>AI天气预测</dc:subject>
  <cp:lastModifiedBy>邢雨碟</cp:lastModifiedBy>
  <cp:revision>13</cp:revision>
  <dcterms:created xsi:type="dcterms:W3CDTF">2025-12-20T07:31:00Z</dcterms:created>
  <dcterms:modified xsi:type="dcterms:W3CDTF">2025-12-20T08:26:21Z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{"Label":"AI天气预测","ContentProducer":"001191110108MACG2KBH8F10000","ProduceID":"19b3789b-5cf2-8995-8000-0000f51ce519","ReservedCode1":"","ContentPropagator":"001191110108MACG2KBH8F20000","PropagateID":"19b3789b-5cf2-8995-8000-0000f51ce519","ReservedCode2":""}</vt:lpwstr>
  </property>
  <property fmtid="{D5CDD505-2E9C-101B-9397-08002B2CF9AE}" pid="3" name="ICV">
    <vt:lpwstr>6BEBCEAECCB84D11A7F49E92EAF05EA3_13</vt:lpwstr>
  </property>
  <property fmtid="{D5CDD505-2E9C-101B-9397-08002B2CF9AE}" pid="4" name="KSOProductBuildVer">
    <vt:lpwstr>2052-12.1.0.23542</vt:lpwstr>
  </property>
</Properties>
</file>